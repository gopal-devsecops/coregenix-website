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7" r:id="rId11"/>
    <p:sldId id="268" r:id="rId12"/>
    <p:sldId id="269" r:id="rId13"/>
    <p:sldId id="270" r:id="rId14"/>
    <p:sldId id="271" r:id="rId15"/>
    <p:sldId id="27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D18A951-CC47-6962-281B-BFCC5F443102}" name="Monika Goyal" initials="MG" userId="9be201b2d7fcdc4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727" autoAdjust="0"/>
  </p:normalViewPr>
  <p:slideViewPr>
    <p:cSldViewPr snapToGrid="0" snapToObjects="1">
      <p:cViewPr varScale="1">
        <p:scale>
          <a:sx n="68" d="100"/>
          <a:sy n="68" d="100"/>
        </p:scale>
        <p:origin x="5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ka Goyal" userId="9be201b2d7fcdc42" providerId="LiveId" clId="{0C11DE2C-CAF3-442A-BE07-C8B7258C8DAA}"/>
    <pc:docChg chg="delSld modSld">
      <pc:chgData name="Monika Goyal" userId="9be201b2d7fcdc42" providerId="LiveId" clId="{0C11DE2C-CAF3-442A-BE07-C8B7258C8DAA}" dt="2026-09-21T05:16:15.361" v="19" actId="47"/>
      <pc:docMkLst>
        <pc:docMk/>
      </pc:docMkLst>
      <pc:sldChg chg="del">
        <pc:chgData name="Monika Goyal" userId="9be201b2d7fcdc42" providerId="LiveId" clId="{0C11DE2C-CAF3-442A-BE07-C8B7258C8DAA}" dt="2026-09-21T05:16:15.361" v="19" actId="47"/>
        <pc:sldMkLst>
          <pc:docMk/>
          <pc:sldMk cId="0" sldId="265"/>
        </pc:sldMkLst>
      </pc:sldChg>
      <pc:sldChg chg="del">
        <pc:chgData name="Monika Goyal" userId="9be201b2d7fcdc42" providerId="LiveId" clId="{0C11DE2C-CAF3-442A-BE07-C8B7258C8DAA}" dt="2026-09-21T05:16:15.361" v="19" actId="47"/>
        <pc:sldMkLst>
          <pc:docMk/>
          <pc:sldMk cId="0" sldId="266"/>
        </pc:sldMkLst>
      </pc:sldChg>
      <pc:sldChg chg="modSp mod">
        <pc:chgData name="Monika Goyal" userId="9be201b2d7fcdc42" providerId="LiveId" clId="{0C11DE2C-CAF3-442A-BE07-C8B7258C8DAA}" dt="2026-09-18T10:13:41.290" v="18" actId="20577"/>
        <pc:sldMkLst>
          <pc:docMk/>
          <pc:sldMk cId="0" sldId="269"/>
        </pc:sldMkLst>
        <pc:spChg chg="mod">
          <ac:chgData name="Monika Goyal" userId="9be201b2d7fcdc42" providerId="LiveId" clId="{0C11DE2C-CAF3-442A-BE07-C8B7258C8DAA}" dt="2026-09-18T10:13:41.290" v="18" actId="20577"/>
          <ac:spMkLst>
            <pc:docMk/>
            <pc:sldMk cId="0" sldId="269"/>
            <ac:spMk id="2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253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b="1" dirty="0"/>
              <a:t>ROPA</a:t>
            </a:r>
            <a:r>
              <a:rPr lang="en-IN" dirty="0"/>
              <a:t> — Record of Processing Activities. A structured inventory of what personal data an organization processes: what data, why (purpose), where it's stored, who it's shared with, and how long it's retained. It's the foundational "map" regulators expect you to maintain.</a:t>
            </a:r>
          </a:p>
          <a:p>
            <a:pPr lvl="0"/>
            <a:endParaRPr lang="en-IN" dirty="0"/>
          </a:p>
          <a:p>
            <a:pPr lvl="0"/>
            <a:r>
              <a:rPr lang="en-IN" b="1" dirty="0"/>
              <a:t>PIA</a:t>
            </a:r>
            <a:r>
              <a:rPr lang="en-IN" dirty="0"/>
              <a:t> — Privacy Impact Assessment (sometimes DPIA, Data Protection Impact Assessment). A structured risk assessment done before or during a high-risk processing activity — e.g. launching a new product that handles sensitive data — to identify privacy risks and how they're mitigated.</a:t>
            </a:r>
          </a:p>
          <a:p>
            <a:pPr lvl="0"/>
            <a:endParaRPr lang="en-IN" dirty="0"/>
          </a:p>
          <a:p>
            <a:pPr lvl="0"/>
            <a:r>
              <a:rPr lang="en-IN" b="1" dirty="0"/>
              <a:t>DSAR</a:t>
            </a:r>
            <a:r>
              <a:rPr lang="en-IN" dirty="0"/>
              <a:t> — Data Subject Access Request (in DPDP terms, a "Data Principal" rights request). When an individual asks to access, correct, or delete their personal data, or withdraw consent, the DSAR process is how an organization intakes, verifies, and fulfils that request within the statutory timeline.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927"/>
        </a:solidFill>
        <a:effectLst/>
      </p:bgPr>
    </p:bg>
    <p:spTree>
      <p:nvGrpSpPr>
        <p:cNvPr id="1" name=""/>
        <p:cNvGrpSpPr/>
        <p:nvPr/>
      </p:nvGrpSpPr>
      <p:grpSpPr>
        <a:xfrm>
          <a:off x="0" y="0"/>
          <a:ext cx="0" cy="0"/>
          <a:chOff x="0" y="0"/>
          <a:chExt cx="0" cy="0"/>
        </a:xfrm>
      </p:grpSpPr>
      <p:sp>
        <p:nvSpPr>
          <p:cNvPr id="2" name="Shape 0"/>
          <p:cNvSpPr/>
          <p:nvPr/>
        </p:nvSpPr>
        <p:spPr>
          <a:xfrm>
            <a:off x="8051159" y="-822960"/>
            <a:ext cx="4754880" cy="4754880"/>
          </a:xfrm>
          <a:prstGeom prst="ellipse">
            <a:avLst/>
          </a:prstGeom>
          <a:solidFill>
            <a:srgbClr val="C6501A"/>
          </a:solidFill>
          <a:ln/>
        </p:spPr>
      </p:sp>
      <p:sp>
        <p:nvSpPr>
          <p:cNvPr id="3" name="Shape 1"/>
          <p:cNvSpPr/>
          <p:nvPr/>
        </p:nvSpPr>
        <p:spPr>
          <a:xfrm>
            <a:off x="8782679" y="-73152"/>
            <a:ext cx="3291840" cy="3291840"/>
          </a:xfrm>
          <a:prstGeom prst="ellipse">
            <a:avLst/>
          </a:prstGeom>
          <a:solidFill>
            <a:schemeClr val="accent2">
              <a:lumMod val="20000"/>
              <a:lumOff val="80000"/>
            </a:schemeClr>
          </a:solidFill>
          <a:ln/>
        </p:spPr>
      </p:sp>
      <p:sp>
        <p:nvSpPr>
          <p:cNvPr id="5" name="Text 2"/>
          <p:cNvSpPr/>
          <p:nvPr/>
        </p:nvSpPr>
        <p:spPr>
          <a:xfrm>
            <a:off x="1280160" y="530352"/>
            <a:ext cx="5486400" cy="457200"/>
          </a:xfrm>
          <a:prstGeom prst="rect">
            <a:avLst/>
          </a:prstGeom>
          <a:noFill/>
          <a:ln/>
        </p:spPr>
        <p:txBody>
          <a:bodyPr wrap="square" rtlCol="0" anchor="ctr"/>
          <a:lstStyle/>
          <a:p>
            <a:pPr marL="0" indent="0">
              <a:buNone/>
            </a:pPr>
            <a:r>
              <a:rPr lang="en-US" sz="1300" b="1" kern="0" spc="200" dirty="0">
                <a:solidFill>
                  <a:srgbClr val="F26722"/>
                </a:solidFill>
                <a:latin typeface="Calibri" pitchFamily="34" charset="0"/>
                <a:ea typeface="Calibri" pitchFamily="34" charset="-122"/>
                <a:cs typeface="Calibri" pitchFamily="34" charset="-120"/>
              </a:rPr>
              <a:t>PRIVACY GOVERNANCE, UNIFIED</a:t>
            </a:r>
            <a:endParaRPr lang="en-US" sz="1300" dirty="0"/>
          </a:p>
        </p:txBody>
      </p:sp>
      <p:sp>
        <p:nvSpPr>
          <p:cNvPr id="6" name="Text 3"/>
          <p:cNvSpPr/>
          <p:nvPr/>
        </p:nvSpPr>
        <p:spPr>
          <a:xfrm>
            <a:off x="594360" y="2468880"/>
            <a:ext cx="9144000" cy="1371600"/>
          </a:xfrm>
          <a:prstGeom prst="rect">
            <a:avLst/>
          </a:prstGeom>
          <a:noFill/>
          <a:ln/>
        </p:spPr>
        <p:txBody>
          <a:bodyPr wrap="square" rtlCol="0" anchor="ctr"/>
          <a:lstStyle/>
          <a:p>
            <a:pPr marL="0" indent="0">
              <a:buNone/>
            </a:pPr>
            <a:r>
              <a:rPr lang="en-US" sz="6000" b="1" dirty="0">
                <a:solidFill>
                  <a:srgbClr val="F4EEDE"/>
                </a:solidFill>
                <a:latin typeface="Cambria" pitchFamily="34" charset="0"/>
                <a:ea typeface="Cambria" pitchFamily="34" charset="-122"/>
                <a:cs typeface="Cambria" pitchFamily="34" charset="-120"/>
              </a:rPr>
              <a:t>Comply360</a:t>
            </a:r>
            <a:endParaRPr lang="en-US" sz="6000" dirty="0"/>
          </a:p>
        </p:txBody>
      </p:sp>
      <p:sp>
        <p:nvSpPr>
          <p:cNvPr id="7" name="Text 4"/>
          <p:cNvSpPr/>
          <p:nvPr/>
        </p:nvSpPr>
        <p:spPr>
          <a:xfrm>
            <a:off x="621792" y="3520440"/>
            <a:ext cx="8229600" cy="502920"/>
          </a:xfrm>
          <a:prstGeom prst="rect">
            <a:avLst/>
          </a:prstGeom>
          <a:noFill/>
          <a:ln/>
        </p:spPr>
        <p:txBody>
          <a:bodyPr wrap="square" rtlCol="0" anchor="ctr"/>
          <a:lstStyle/>
          <a:p>
            <a:pPr marL="0" indent="0">
              <a:buNone/>
            </a:pPr>
            <a:r>
              <a:rPr lang="en-US" sz="2000" i="1" dirty="0">
                <a:solidFill>
                  <a:srgbClr val="F9A87B"/>
                </a:solidFill>
                <a:latin typeface="Calibri" pitchFamily="34" charset="0"/>
                <a:ea typeface="Calibri" pitchFamily="34" charset="-122"/>
                <a:cs typeface="Calibri" pitchFamily="34" charset="-120"/>
              </a:rPr>
              <a:t>The Unified Compliance Platform</a:t>
            </a:r>
            <a:endParaRPr lang="en-US" sz="2000" dirty="0"/>
          </a:p>
        </p:txBody>
      </p:sp>
      <p:sp>
        <p:nvSpPr>
          <p:cNvPr id="8" name="Text 5"/>
          <p:cNvSpPr/>
          <p:nvPr/>
        </p:nvSpPr>
        <p:spPr>
          <a:xfrm>
            <a:off x="621791" y="4160520"/>
            <a:ext cx="4736593" cy="1005840"/>
          </a:xfrm>
          <a:prstGeom prst="rect">
            <a:avLst/>
          </a:prstGeom>
          <a:noFill/>
          <a:ln/>
        </p:spPr>
        <p:txBody>
          <a:bodyPr wrap="square" rtlCol="0" anchor="ctr"/>
          <a:lstStyle/>
          <a:p>
            <a:pPr marL="0" indent="0" algn="just">
              <a:lnSpc>
                <a:spcPct val="125000"/>
              </a:lnSpc>
              <a:buNone/>
            </a:pPr>
            <a:r>
              <a:rPr lang="en-US" sz="1450" dirty="0">
                <a:solidFill>
                  <a:srgbClr val="C9D2D6"/>
                </a:solidFill>
                <a:latin typeface="Calibri" pitchFamily="34" charset="0"/>
                <a:ea typeface="Calibri" pitchFamily="34" charset="-122"/>
                <a:cs typeface="Calibri" pitchFamily="34" charset="-120"/>
              </a:rPr>
              <a:t>Complete visibility, governance and automation for end-to-end privacy management — consent, rights, assessments, ROPA, vendors and breach response in one system of record.</a:t>
            </a:r>
            <a:endParaRPr lang="en-US" sz="1450" dirty="0"/>
          </a:p>
        </p:txBody>
      </p:sp>
      <p:sp>
        <p:nvSpPr>
          <p:cNvPr id="10" name="Text 7"/>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C9D2D6"/>
                </a:solidFill>
                <a:latin typeface="Calibri" pitchFamily="34" charset="0"/>
                <a:ea typeface="Calibri" pitchFamily="34" charset="-122"/>
                <a:cs typeface="Calibri" pitchFamily="34" charset="-120"/>
              </a:rPr>
              <a:t>1</a:t>
            </a:r>
            <a:endParaRPr lang="en-US" sz="900" dirty="0"/>
          </a:p>
        </p:txBody>
      </p:sp>
      <p:pic>
        <p:nvPicPr>
          <p:cNvPr id="14" name="Picture 13" descr="Comply360.&#10;&#10;AI-generated content may be incorrect.">
            <a:extLst>
              <a:ext uri="{FF2B5EF4-FFF2-40B4-BE49-F238E27FC236}">
                <a16:creationId xmlns:a16="http://schemas.microsoft.com/office/drawing/2014/main" id="{5054FB9B-8221-03DD-2C7B-C0F40045456D}"/>
              </a:ext>
            </a:extLst>
          </p:cNvPr>
          <p:cNvPicPr>
            <a:picLocks noChangeAspect="1"/>
          </p:cNvPicPr>
          <p:nvPr/>
        </p:nvPicPr>
        <p:blipFill>
          <a:blip r:embed="rId3"/>
          <a:stretch>
            <a:fillRect/>
          </a:stretch>
        </p:blipFill>
        <p:spPr>
          <a:xfrm>
            <a:off x="8485632" y="243981"/>
            <a:ext cx="3957962" cy="2968470"/>
          </a:xfrm>
          <a:prstGeom prst="rect">
            <a:avLst/>
          </a:prstGeom>
        </p:spPr>
      </p:pic>
      <p:pic>
        <p:nvPicPr>
          <p:cNvPr id="16" name="Picture 15" descr="Comply360.&#10;&#10;AI-generated content may be incorrect.">
            <a:extLst>
              <a:ext uri="{FF2B5EF4-FFF2-40B4-BE49-F238E27FC236}">
                <a16:creationId xmlns:a16="http://schemas.microsoft.com/office/drawing/2014/main" id="{C760E5BF-A231-1B40-A785-AFCDFE7C7EB8}"/>
              </a:ext>
            </a:extLst>
          </p:cNvPr>
          <p:cNvPicPr>
            <a:picLocks noChangeAspect="1"/>
          </p:cNvPicPr>
          <p:nvPr/>
        </p:nvPicPr>
        <p:blipFill>
          <a:blip r:embed="rId3"/>
          <a:stretch>
            <a:fillRect/>
          </a:stretch>
        </p:blipFill>
        <p:spPr>
          <a:xfrm>
            <a:off x="254641" y="393404"/>
            <a:ext cx="1369381" cy="10270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INTRODUCTION DECK</a:t>
            </a:r>
            <a:endParaRPr lang="en-US" sz="1200" dirty="0"/>
          </a:p>
        </p:txBody>
      </p:sp>
      <p:sp>
        <p:nvSpPr>
          <p:cNvPr id="3" name="Text 1"/>
          <p:cNvSpPr/>
          <p:nvPr/>
        </p:nvSpPr>
        <p:spPr>
          <a:xfrm>
            <a:off x="548640" y="749808"/>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What We'll Cover</a:t>
            </a:r>
            <a:endParaRPr lang="en-US" sz="3200" dirty="0"/>
          </a:p>
        </p:txBody>
      </p:sp>
      <p:sp>
        <p:nvSpPr>
          <p:cNvPr id="4" name="Text 2"/>
          <p:cNvSpPr/>
          <p:nvPr/>
        </p:nvSpPr>
        <p:spPr>
          <a:xfrm>
            <a:off x="548640" y="1417320"/>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From the compliance problem, to the platform, to the numbers behind the decision.</a:t>
            </a:r>
            <a:endParaRPr lang="en-US" sz="1400" dirty="0"/>
          </a:p>
        </p:txBody>
      </p:sp>
      <p:sp>
        <p:nvSpPr>
          <p:cNvPr id="5" name="Text 3"/>
          <p:cNvSpPr/>
          <p:nvPr/>
        </p:nvSpPr>
        <p:spPr>
          <a:xfrm>
            <a:off x="548640" y="2057400"/>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01</a:t>
            </a:r>
            <a:endParaRPr lang="en-US" sz="2600" dirty="0"/>
          </a:p>
        </p:txBody>
      </p:sp>
      <p:sp>
        <p:nvSpPr>
          <p:cNvPr id="6" name="Shape 4"/>
          <p:cNvSpPr/>
          <p:nvPr/>
        </p:nvSpPr>
        <p:spPr>
          <a:xfrm>
            <a:off x="1371600" y="2139696"/>
            <a:ext cx="0" cy="502920"/>
          </a:xfrm>
          <a:prstGeom prst="line">
            <a:avLst/>
          </a:prstGeom>
          <a:noFill/>
          <a:ln w="12700">
            <a:solidFill>
              <a:srgbClr val="E3D9C4"/>
            </a:solidFill>
            <a:prstDash val="solid"/>
          </a:ln>
        </p:spPr>
      </p:sp>
      <p:sp>
        <p:nvSpPr>
          <p:cNvPr id="7" name="Text 5"/>
          <p:cNvSpPr/>
          <p:nvPr/>
        </p:nvSpPr>
        <p:spPr>
          <a:xfrm>
            <a:off x="1508760" y="2057400"/>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The DPDP Act — why the clock is running</a:t>
            </a:r>
            <a:endParaRPr lang="en-US" sz="1450" dirty="0"/>
          </a:p>
        </p:txBody>
      </p:sp>
      <p:sp>
        <p:nvSpPr>
          <p:cNvPr id="8" name="Text 6"/>
          <p:cNvSpPr/>
          <p:nvPr/>
        </p:nvSpPr>
        <p:spPr>
          <a:xfrm>
            <a:off x="548640" y="2898648"/>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02</a:t>
            </a:r>
            <a:endParaRPr lang="en-US" sz="2600" dirty="0"/>
          </a:p>
        </p:txBody>
      </p:sp>
      <p:sp>
        <p:nvSpPr>
          <p:cNvPr id="9" name="Shape 7"/>
          <p:cNvSpPr/>
          <p:nvPr/>
        </p:nvSpPr>
        <p:spPr>
          <a:xfrm>
            <a:off x="1371600" y="2980944"/>
            <a:ext cx="0" cy="502920"/>
          </a:xfrm>
          <a:prstGeom prst="line">
            <a:avLst/>
          </a:prstGeom>
          <a:noFill/>
          <a:ln w="12700">
            <a:solidFill>
              <a:srgbClr val="E3D9C4"/>
            </a:solidFill>
            <a:prstDash val="solid"/>
          </a:ln>
        </p:spPr>
      </p:sp>
      <p:sp>
        <p:nvSpPr>
          <p:cNvPr id="10" name="Text 8"/>
          <p:cNvSpPr/>
          <p:nvPr/>
        </p:nvSpPr>
        <p:spPr>
          <a:xfrm>
            <a:off x="1508760" y="2898648"/>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Where privacy programmes get stuck</a:t>
            </a:r>
            <a:endParaRPr lang="en-US" sz="1450" dirty="0"/>
          </a:p>
        </p:txBody>
      </p:sp>
      <p:sp>
        <p:nvSpPr>
          <p:cNvPr id="11" name="Text 9"/>
          <p:cNvSpPr/>
          <p:nvPr/>
        </p:nvSpPr>
        <p:spPr>
          <a:xfrm>
            <a:off x="548640" y="3739896"/>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03</a:t>
            </a:r>
            <a:endParaRPr lang="en-US" sz="2600" dirty="0"/>
          </a:p>
        </p:txBody>
      </p:sp>
      <p:sp>
        <p:nvSpPr>
          <p:cNvPr id="12" name="Shape 10"/>
          <p:cNvSpPr/>
          <p:nvPr/>
        </p:nvSpPr>
        <p:spPr>
          <a:xfrm>
            <a:off x="1371600" y="3822192"/>
            <a:ext cx="0" cy="502920"/>
          </a:xfrm>
          <a:prstGeom prst="line">
            <a:avLst/>
          </a:prstGeom>
          <a:noFill/>
          <a:ln w="12700">
            <a:solidFill>
              <a:srgbClr val="E3D9C4"/>
            </a:solidFill>
            <a:prstDash val="solid"/>
          </a:ln>
        </p:spPr>
      </p:sp>
      <p:sp>
        <p:nvSpPr>
          <p:cNvPr id="13" name="Text 11"/>
          <p:cNvSpPr/>
          <p:nvPr/>
        </p:nvSpPr>
        <p:spPr>
          <a:xfrm>
            <a:off x="1508760" y="3739896"/>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What Comply360 is</a:t>
            </a:r>
            <a:endParaRPr lang="en-US" sz="1450" dirty="0"/>
          </a:p>
        </p:txBody>
      </p:sp>
      <p:sp>
        <p:nvSpPr>
          <p:cNvPr id="14" name="Text 12"/>
          <p:cNvSpPr/>
          <p:nvPr/>
        </p:nvSpPr>
        <p:spPr>
          <a:xfrm>
            <a:off x="548640" y="4581144"/>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04</a:t>
            </a:r>
            <a:endParaRPr lang="en-US" sz="2600" dirty="0"/>
          </a:p>
        </p:txBody>
      </p:sp>
      <p:sp>
        <p:nvSpPr>
          <p:cNvPr id="15" name="Shape 13"/>
          <p:cNvSpPr/>
          <p:nvPr/>
        </p:nvSpPr>
        <p:spPr>
          <a:xfrm>
            <a:off x="1371600" y="4663440"/>
            <a:ext cx="0" cy="502920"/>
          </a:xfrm>
          <a:prstGeom prst="line">
            <a:avLst/>
          </a:prstGeom>
          <a:noFill/>
          <a:ln w="12700">
            <a:solidFill>
              <a:srgbClr val="E3D9C4"/>
            </a:solidFill>
            <a:prstDash val="solid"/>
          </a:ln>
        </p:spPr>
      </p:sp>
      <p:sp>
        <p:nvSpPr>
          <p:cNvPr id="16" name="Text 14"/>
          <p:cNvSpPr/>
          <p:nvPr/>
        </p:nvSpPr>
        <p:spPr>
          <a:xfrm>
            <a:off x="1508760" y="4581144"/>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Platform architecture</a:t>
            </a:r>
            <a:endParaRPr lang="en-US" sz="1450" dirty="0"/>
          </a:p>
        </p:txBody>
      </p:sp>
      <p:sp>
        <p:nvSpPr>
          <p:cNvPr id="17" name="Text 15"/>
          <p:cNvSpPr/>
          <p:nvPr/>
        </p:nvSpPr>
        <p:spPr>
          <a:xfrm>
            <a:off x="548640" y="5422392"/>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05</a:t>
            </a:r>
            <a:endParaRPr lang="en-US" sz="2600" dirty="0"/>
          </a:p>
        </p:txBody>
      </p:sp>
      <p:sp>
        <p:nvSpPr>
          <p:cNvPr id="18" name="Shape 16"/>
          <p:cNvSpPr/>
          <p:nvPr/>
        </p:nvSpPr>
        <p:spPr>
          <a:xfrm>
            <a:off x="1371600" y="5504688"/>
            <a:ext cx="0" cy="502920"/>
          </a:xfrm>
          <a:prstGeom prst="line">
            <a:avLst/>
          </a:prstGeom>
          <a:noFill/>
          <a:ln w="12700">
            <a:solidFill>
              <a:srgbClr val="E3D9C4"/>
            </a:solidFill>
            <a:prstDash val="solid"/>
          </a:ln>
        </p:spPr>
      </p:sp>
      <p:sp>
        <p:nvSpPr>
          <p:cNvPr id="19" name="Text 17"/>
          <p:cNvSpPr/>
          <p:nvPr/>
        </p:nvSpPr>
        <p:spPr>
          <a:xfrm>
            <a:off x="1508760" y="5422392"/>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The guided, six-step approach</a:t>
            </a:r>
            <a:endParaRPr lang="en-US" sz="1450" dirty="0"/>
          </a:p>
        </p:txBody>
      </p:sp>
      <p:sp>
        <p:nvSpPr>
          <p:cNvPr id="20" name="Text 18"/>
          <p:cNvSpPr/>
          <p:nvPr/>
        </p:nvSpPr>
        <p:spPr>
          <a:xfrm>
            <a:off x="6172200" y="2057400"/>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06</a:t>
            </a:r>
            <a:endParaRPr lang="en-US" sz="2600" dirty="0"/>
          </a:p>
        </p:txBody>
      </p:sp>
      <p:sp>
        <p:nvSpPr>
          <p:cNvPr id="21" name="Shape 19"/>
          <p:cNvSpPr/>
          <p:nvPr/>
        </p:nvSpPr>
        <p:spPr>
          <a:xfrm>
            <a:off x="6995160" y="2139696"/>
            <a:ext cx="0" cy="502920"/>
          </a:xfrm>
          <a:prstGeom prst="line">
            <a:avLst/>
          </a:prstGeom>
          <a:noFill/>
          <a:ln w="12700">
            <a:solidFill>
              <a:srgbClr val="E3D9C4"/>
            </a:solidFill>
            <a:prstDash val="solid"/>
          </a:ln>
        </p:spPr>
      </p:sp>
      <p:sp>
        <p:nvSpPr>
          <p:cNvPr id="22" name="Text 20"/>
          <p:cNvSpPr/>
          <p:nvPr/>
        </p:nvSpPr>
        <p:spPr>
          <a:xfrm>
            <a:off x="7132320" y="2057400"/>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Business &amp; AI-powered benefits</a:t>
            </a:r>
            <a:endParaRPr lang="en-US" sz="1450" dirty="0"/>
          </a:p>
        </p:txBody>
      </p:sp>
      <p:sp>
        <p:nvSpPr>
          <p:cNvPr id="23" name="Text 21"/>
          <p:cNvSpPr/>
          <p:nvPr/>
        </p:nvSpPr>
        <p:spPr>
          <a:xfrm>
            <a:off x="6172200" y="2898648"/>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07</a:t>
            </a:r>
            <a:endParaRPr lang="en-US" sz="2600" dirty="0"/>
          </a:p>
        </p:txBody>
      </p:sp>
      <p:sp>
        <p:nvSpPr>
          <p:cNvPr id="24" name="Shape 22"/>
          <p:cNvSpPr/>
          <p:nvPr/>
        </p:nvSpPr>
        <p:spPr>
          <a:xfrm>
            <a:off x="6995160" y="2980944"/>
            <a:ext cx="0" cy="502920"/>
          </a:xfrm>
          <a:prstGeom prst="line">
            <a:avLst/>
          </a:prstGeom>
          <a:noFill/>
          <a:ln w="12700">
            <a:solidFill>
              <a:srgbClr val="E3D9C4"/>
            </a:solidFill>
            <a:prstDash val="solid"/>
          </a:ln>
        </p:spPr>
      </p:sp>
      <p:sp>
        <p:nvSpPr>
          <p:cNvPr id="25" name="Text 23"/>
          <p:cNvSpPr/>
          <p:nvPr/>
        </p:nvSpPr>
        <p:spPr>
          <a:xfrm>
            <a:off x="7132320" y="2898648"/>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Time &amp; resource savings</a:t>
            </a:r>
            <a:endParaRPr lang="en-US" sz="1450" dirty="0"/>
          </a:p>
        </p:txBody>
      </p:sp>
      <p:sp>
        <p:nvSpPr>
          <p:cNvPr id="26" name="Text 24"/>
          <p:cNvSpPr/>
          <p:nvPr/>
        </p:nvSpPr>
        <p:spPr>
          <a:xfrm>
            <a:off x="6172200" y="3739896"/>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08</a:t>
            </a:r>
            <a:endParaRPr lang="en-US" sz="2600" dirty="0"/>
          </a:p>
        </p:txBody>
      </p:sp>
      <p:sp>
        <p:nvSpPr>
          <p:cNvPr id="27" name="Shape 25"/>
          <p:cNvSpPr/>
          <p:nvPr/>
        </p:nvSpPr>
        <p:spPr>
          <a:xfrm>
            <a:off x="6995160" y="3822192"/>
            <a:ext cx="0" cy="502920"/>
          </a:xfrm>
          <a:prstGeom prst="line">
            <a:avLst/>
          </a:prstGeom>
          <a:noFill/>
          <a:ln w="12700">
            <a:solidFill>
              <a:srgbClr val="E3D9C4"/>
            </a:solidFill>
            <a:prstDash val="solid"/>
          </a:ln>
        </p:spPr>
      </p:sp>
      <p:sp>
        <p:nvSpPr>
          <p:cNvPr id="28" name="Text 26"/>
          <p:cNvSpPr/>
          <p:nvPr/>
        </p:nvSpPr>
        <p:spPr>
          <a:xfrm>
            <a:off x="7132320" y="3739896"/>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Cost–benefit analysis</a:t>
            </a:r>
            <a:endParaRPr lang="en-US" sz="1450" dirty="0"/>
          </a:p>
        </p:txBody>
      </p:sp>
      <p:sp>
        <p:nvSpPr>
          <p:cNvPr id="29" name="Text 27"/>
          <p:cNvSpPr/>
          <p:nvPr/>
        </p:nvSpPr>
        <p:spPr>
          <a:xfrm>
            <a:off x="6172200" y="4581144"/>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09</a:t>
            </a:r>
            <a:endParaRPr lang="en-US" sz="2600" dirty="0"/>
          </a:p>
        </p:txBody>
      </p:sp>
      <p:sp>
        <p:nvSpPr>
          <p:cNvPr id="30" name="Shape 28"/>
          <p:cNvSpPr/>
          <p:nvPr/>
        </p:nvSpPr>
        <p:spPr>
          <a:xfrm>
            <a:off x="6995160" y="4663440"/>
            <a:ext cx="0" cy="502920"/>
          </a:xfrm>
          <a:prstGeom prst="line">
            <a:avLst/>
          </a:prstGeom>
          <a:noFill/>
          <a:ln w="12700">
            <a:solidFill>
              <a:srgbClr val="E3D9C4"/>
            </a:solidFill>
            <a:prstDash val="solid"/>
          </a:ln>
        </p:spPr>
      </p:sp>
      <p:sp>
        <p:nvSpPr>
          <p:cNvPr id="31" name="Text 29"/>
          <p:cNvSpPr/>
          <p:nvPr/>
        </p:nvSpPr>
        <p:spPr>
          <a:xfrm>
            <a:off x="7132320" y="4581144"/>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Build vs. buy</a:t>
            </a:r>
            <a:endParaRPr lang="en-US" sz="1450" dirty="0"/>
          </a:p>
        </p:txBody>
      </p:sp>
      <p:sp>
        <p:nvSpPr>
          <p:cNvPr id="32" name="Text 30"/>
          <p:cNvSpPr/>
          <p:nvPr/>
        </p:nvSpPr>
        <p:spPr>
          <a:xfrm>
            <a:off x="6172200" y="5422392"/>
            <a:ext cx="822960" cy="640080"/>
          </a:xfrm>
          <a:prstGeom prst="rect">
            <a:avLst/>
          </a:prstGeom>
          <a:noFill/>
          <a:ln/>
        </p:spPr>
        <p:txBody>
          <a:bodyPr wrap="square" rtlCol="0" anchor="ctr"/>
          <a:lstStyle/>
          <a:p>
            <a:pPr marL="0" indent="0">
              <a:buNone/>
            </a:pPr>
            <a:r>
              <a:rPr lang="en-US" sz="2600" b="1" dirty="0">
                <a:solidFill>
                  <a:srgbClr val="F26722"/>
                </a:solidFill>
                <a:latin typeface="Cambria" pitchFamily="34" charset="0"/>
                <a:ea typeface="Cambria" pitchFamily="34" charset="-122"/>
                <a:cs typeface="Cambria" pitchFamily="34" charset="-120"/>
              </a:rPr>
              <a:t>10</a:t>
            </a:r>
            <a:endParaRPr lang="en-US" sz="2600" dirty="0"/>
          </a:p>
        </p:txBody>
      </p:sp>
      <p:sp>
        <p:nvSpPr>
          <p:cNvPr id="33" name="Shape 31"/>
          <p:cNvSpPr/>
          <p:nvPr/>
        </p:nvSpPr>
        <p:spPr>
          <a:xfrm>
            <a:off x="6995160" y="5504688"/>
            <a:ext cx="0" cy="502920"/>
          </a:xfrm>
          <a:prstGeom prst="line">
            <a:avLst/>
          </a:prstGeom>
          <a:noFill/>
          <a:ln w="12700">
            <a:solidFill>
              <a:srgbClr val="E3D9C4"/>
            </a:solidFill>
            <a:prstDash val="solid"/>
          </a:ln>
        </p:spPr>
      </p:sp>
      <p:sp>
        <p:nvSpPr>
          <p:cNvPr id="34" name="Text 32"/>
          <p:cNvSpPr/>
          <p:nvPr/>
        </p:nvSpPr>
        <p:spPr>
          <a:xfrm>
            <a:off x="7132320" y="5422392"/>
            <a:ext cx="4160520" cy="640080"/>
          </a:xfrm>
          <a:prstGeom prst="rect">
            <a:avLst/>
          </a:prstGeom>
          <a:noFill/>
          <a:ln/>
        </p:spPr>
        <p:txBody>
          <a:bodyPr wrap="square" rtlCol="0" anchor="ctr"/>
          <a:lstStyle/>
          <a:p>
            <a:pPr marL="0" indent="0">
              <a:buNone/>
            </a:pPr>
            <a:r>
              <a:rPr lang="en-US" sz="1450" dirty="0">
                <a:solidFill>
                  <a:srgbClr val="021927"/>
                </a:solidFill>
                <a:latin typeface="Calibri" pitchFamily="34" charset="0"/>
                <a:ea typeface="Calibri" pitchFamily="34" charset="-122"/>
                <a:cs typeface="Calibri" pitchFamily="34" charset="-120"/>
              </a:rPr>
              <a:t>Roadmap &amp; recommendation</a:t>
            </a:r>
            <a:endParaRPr lang="en-US" sz="1450" dirty="0"/>
          </a:p>
        </p:txBody>
      </p:sp>
      <p:sp>
        <p:nvSpPr>
          <p:cNvPr id="35" name="Text 33"/>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6" name="Text 3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Why the DPDP Act Matters Now</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The law is live and the enforcement runway is closing.</a:t>
            </a:r>
            <a:endParaRPr lang="en-US" sz="1400" dirty="0"/>
          </a:p>
        </p:txBody>
      </p:sp>
      <p:sp>
        <p:nvSpPr>
          <p:cNvPr id="4" name="Shape 2"/>
          <p:cNvSpPr/>
          <p:nvPr/>
        </p:nvSpPr>
        <p:spPr>
          <a:xfrm>
            <a:off x="548640" y="1828800"/>
            <a:ext cx="2514600" cy="1371600"/>
          </a:xfrm>
          <a:prstGeom prst="roundRect">
            <a:avLst>
              <a:gd name="adj" fmla="val 6000"/>
            </a:avLst>
          </a:prstGeom>
          <a:solidFill>
            <a:srgbClr val="021927"/>
          </a:solidFill>
          <a:ln w="12700">
            <a:solidFill>
              <a:srgbClr val="E3D9C4"/>
            </a:solidFill>
            <a:prstDash val="solid"/>
          </a:ln>
          <a:effectLst>
            <a:outerShdw blurRad="101600" dist="25400" dir="5400000" algn="bl" rotWithShape="0">
              <a:srgbClr val="021927">
                <a:alpha val="12000"/>
              </a:srgbClr>
            </a:outerShdw>
          </a:effectLst>
        </p:spPr>
      </p:sp>
      <p:sp>
        <p:nvSpPr>
          <p:cNvPr id="5" name="Text 3"/>
          <p:cNvSpPr/>
          <p:nvPr/>
        </p:nvSpPr>
        <p:spPr>
          <a:xfrm>
            <a:off x="713232" y="1993392"/>
            <a:ext cx="2185416" cy="566928"/>
          </a:xfrm>
          <a:prstGeom prst="rect">
            <a:avLst/>
          </a:prstGeom>
          <a:noFill/>
          <a:ln/>
        </p:spPr>
        <p:txBody>
          <a:bodyPr wrap="square" rtlCol="0" anchor="ctr"/>
          <a:lstStyle/>
          <a:p>
            <a:pPr marL="0" indent="0">
              <a:buNone/>
            </a:pPr>
            <a:r>
              <a:rPr lang="en-US" sz="2400" b="1" dirty="0">
                <a:solidFill>
                  <a:srgbClr val="F9A87B"/>
                </a:solidFill>
                <a:latin typeface="Cambria" pitchFamily="34" charset="0"/>
                <a:ea typeface="Cambria" pitchFamily="34" charset="-122"/>
                <a:cs typeface="Cambria" pitchFamily="34" charset="-120"/>
              </a:rPr>
              <a:t>₹250 Cr</a:t>
            </a:r>
            <a:endParaRPr lang="en-US" sz="2400" dirty="0"/>
          </a:p>
        </p:txBody>
      </p:sp>
      <p:sp>
        <p:nvSpPr>
          <p:cNvPr id="6" name="Text 4"/>
          <p:cNvSpPr/>
          <p:nvPr/>
        </p:nvSpPr>
        <p:spPr>
          <a:xfrm>
            <a:off x="713232" y="2578608"/>
            <a:ext cx="2185416" cy="548640"/>
          </a:xfrm>
          <a:prstGeom prst="rect">
            <a:avLst/>
          </a:prstGeom>
          <a:noFill/>
          <a:ln/>
        </p:spPr>
        <p:txBody>
          <a:bodyPr wrap="square" rtlCol="0" anchor="ctr"/>
          <a:lstStyle/>
          <a:p>
            <a:pPr marL="0" indent="0">
              <a:lnSpc>
                <a:spcPct val="110000"/>
              </a:lnSpc>
              <a:buNone/>
            </a:pPr>
            <a:r>
              <a:rPr lang="en-US" sz="1050" dirty="0">
                <a:solidFill>
                  <a:srgbClr val="C9D2D6"/>
                </a:solidFill>
                <a:latin typeface="Calibri" pitchFamily="34" charset="0"/>
                <a:ea typeface="Calibri" pitchFamily="34" charset="-122"/>
                <a:cs typeface="Calibri" pitchFamily="34" charset="-120"/>
              </a:rPr>
              <a:t>Maximum penalty per instance of non-compliance</a:t>
            </a:r>
            <a:endParaRPr lang="en-US" sz="1050" dirty="0"/>
          </a:p>
        </p:txBody>
      </p:sp>
      <p:sp>
        <p:nvSpPr>
          <p:cNvPr id="7" name="Shape 5"/>
          <p:cNvSpPr/>
          <p:nvPr/>
        </p:nvSpPr>
        <p:spPr>
          <a:xfrm>
            <a:off x="3291840" y="1828800"/>
            <a:ext cx="2514600" cy="1371600"/>
          </a:xfrm>
          <a:prstGeom prst="roundRect">
            <a:avLst>
              <a:gd name="adj" fmla="val 60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8" name="Text 6"/>
          <p:cNvSpPr/>
          <p:nvPr/>
        </p:nvSpPr>
        <p:spPr>
          <a:xfrm>
            <a:off x="3456432" y="1993392"/>
            <a:ext cx="2185416" cy="566928"/>
          </a:xfrm>
          <a:prstGeom prst="rect">
            <a:avLst/>
          </a:prstGeom>
          <a:noFill/>
          <a:ln/>
        </p:spPr>
        <p:txBody>
          <a:bodyPr wrap="square" rtlCol="0" anchor="ctr"/>
          <a:lstStyle/>
          <a:p>
            <a:pPr marL="0" indent="0">
              <a:buNone/>
            </a:pPr>
            <a:r>
              <a:rPr lang="en-US" sz="2400" b="1" dirty="0">
                <a:solidFill>
                  <a:srgbClr val="F26722"/>
                </a:solidFill>
                <a:latin typeface="Cambria" pitchFamily="34" charset="0"/>
                <a:ea typeface="Cambria" pitchFamily="34" charset="-122"/>
                <a:cs typeface="Cambria" pitchFamily="34" charset="-120"/>
              </a:rPr>
              <a:t>72 Hrs</a:t>
            </a:r>
            <a:endParaRPr lang="en-US" sz="2400" dirty="0"/>
          </a:p>
        </p:txBody>
      </p:sp>
      <p:sp>
        <p:nvSpPr>
          <p:cNvPr id="9" name="Text 7"/>
          <p:cNvSpPr/>
          <p:nvPr/>
        </p:nvSpPr>
        <p:spPr>
          <a:xfrm>
            <a:off x="3456432" y="2578608"/>
            <a:ext cx="2185416" cy="548640"/>
          </a:xfrm>
          <a:prstGeom prst="rect">
            <a:avLst/>
          </a:prstGeom>
          <a:noFill/>
          <a:ln/>
        </p:spPr>
        <p:txBody>
          <a:bodyPr wrap="square" rtlCol="0" anchor="ctr"/>
          <a:lstStyle/>
          <a:p>
            <a:pPr marL="0" indent="0">
              <a:lnSpc>
                <a:spcPct val="110000"/>
              </a:lnSpc>
              <a:buNone/>
            </a:pPr>
            <a:r>
              <a:rPr lang="en-US" sz="1050" dirty="0">
                <a:solidFill>
                  <a:srgbClr val="4A5A63"/>
                </a:solidFill>
                <a:latin typeface="Calibri" pitchFamily="34" charset="0"/>
                <a:ea typeface="Calibri" pitchFamily="34" charset="-122"/>
                <a:cs typeface="Calibri" pitchFamily="34" charset="-120"/>
              </a:rPr>
              <a:t>Breach notification window to the Board</a:t>
            </a:r>
            <a:endParaRPr lang="en-US" sz="1050" dirty="0"/>
          </a:p>
        </p:txBody>
      </p:sp>
      <p:sp>
        <p:nvSpPr>
          <p:cNvPr id="10" name="Shape 8"/>
          <p:cNvSpPr/>
          <p:nvPr/>
        </p:nvSpPr>
        <p:spPr>
          <a:xfrm>
            <a:off x="6035040" y="1828800"/>
            <a:ext cx="2514600" cy="1371600"/>
          </a:xfrm>
          <a:prstGeom prst="roundRect">
            <a:avLst>
              <a:gd name="adj" fmla="val 60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1" name="Text 9"/>
          <p:cNvSpPr/>
          <p:nvPr/>
        </p:nvSpPr>
        <p:spPr>
          <a:xfrm>
            <a:off x="6199632" y="1993392"/>
            <a:ext cx="2185416" cy="566928"/>
          </a:xfrm>
          <a:prstGeom prst="rect">
            <a:avLst/>
          </a:prstGeom>
          <a:noFill/>
          <a:ln/>
        </p:spPr>
        <p:txBody>
          <a:bodyPr wrap="square" rtlCol="0" anchor="ctr"/>
          <a:lstStyle/>
          <a:p>
            <a:pPr marL="0" indent="0">
              <a:buNone/>
            </a:pPr>
            <a:r>
              <a:rPr lang="en-US" sz="2400" b="1" dirty="0">
                <a:solidFill>
                  <a:srgbClr val="F26722"/>
                </a:solidFill>
                <a:latin typeface="Cambria" pitchFamily="34" charset="0"/>
                <a:ea typeface="Cambria" pitchFamily="34" charset="-122"/>
                <a:cs typeface="Cambria" pitchFamily="34" charset="-120"/>
              </a:rPr>
              <a:t>13 Nov 2026</a:t>
            </a:r>
            <a:endParaRPr lang="en-US" sz="2400" dirty="0"/>
          </a:p>
        </p:txBody>
      </p:sp>
      <p:sp>
        <p:nvSpPr>
          <p:cNvPr id="12" name="Text 10"/>
          <p:cNvSpPr/>
          <p:nvPr/>
        </p:nvSpPr>
        <p:spPr>
          <a:xfrm>
            <a:off x="6199632" y="2578608"/>
            <a:ext cx="2185416" cy="548640"/>
          </a:xfrm>
          <a:prstGeom prst="rect">
            <a:avLst/>
          </a:prstGeom>
          <a:noFill/>
          <a:ln/>
        </p:spPr>
        <p:txBody>
          <a:bodyPr wrap="square" rtlCol="0" anchor="ctr"/>
          <a:lstStyle/>
          <a:p>
            <a:pPr marL="0" indent="0">
              <a:lnSpc>
                <a:spcPct val="110000"/>
              </a:lnSpc>
              <a:buNone/>
            </a:pPr>
            <a:r>
              <a:rPr lang="en-US" sz="1050" dirty="0">
                <a:solidFill>
                  <a:srgbClr val="4A5A63"/>
                </a:solidFill>
                <a:latin typeface="Calibri" pitchFamily="34" charset="0"/>
                <a:ea typeface="Calibri" pitchFamily="34" charset="-122"/>
                <a:cs typeface="Calibri" pitchFamily="34" charset="-120"/>
              </a:rPr>
              <a:t>Consent Manager registration opens</a:t>
            </a:r>
            <a:endParaRPr lang="en-US" sz="1050" dirty="0"/>
          </a:p>
        </p:txBody>
      </p:sp>
      <p:sp>
        <p:nvSpPr>
          <p:cNvPr id="13" name="Shape 11"/>
          <p:cNvSpPr/>
          <p:nvPr/>
        </p:nvSpPr>
        <p:spPr>
          <a:xfrm>
            <a:off x="8778240" y="1828800"/>
            <a:ext cx="2514600" cy="1371600"/>
          </a:xfrm>
          <a:prstGeom prst="roundRect">
            <a:avLst>
              <a:gd name="adj" fmla="val 60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4" name="Text 12"/>
          <p:cNvSpPr/>
          <p:nvPr/>
        </p:nvSpPr>
        <p:spPr>
          <a:xfrm>
            <a:off x="8942832" y="1993392"/>
            <a:ext cx="2185416" cy="566928"/>
          </a:xfrm>
          <a:prstGeom prst="rect">
            <a:avLst/>
          </a:prstGeom>
          <a:noFill/>
          <a:ln/>
        </p:spPr>
        <p:txBody>
          <a:bodyPr wrap="square" rtlCol="0" anchor="ctr"/>
          <a:lstStyle/>
          <a:p>
            <a:pPr marL="0" indent="0">
              <a:buNone/>
            </a:pPr>
            <a:r>
              <a:rPr lang="en-US" sz="2400" b="1" dirty="0">
                <a:solidFill>
                  <a:srgbClr val="F26722"/>
                </a:solidFill>
                <a:latin typeface="Cambria" pitchFamily="34" charset="0"/>
                <a:ea typeface="Cambria" pitchFamily="34" charset="-122"/>
                <a:cs typeface="Cambria" pitchFamily="34" charset="-120"/>
              </a:rPr>
              <a:t>13 May 2027</a:t>
            </a:r>
            <a:endParaRPr lang="en-US" sz="2400" dirty="0"/>
          </a:p>
        </p:txBody>
      </p:sp>
      <p:sp>
        <p:nvSpPr>
          <p:cNvPr id="15" name="Text 13"/>
          <p:cNvSpPr/>
          <p:nvPr/>
        </p:nvSpPr>
        <p:spPr>
          <a:xfrm>
            <a:off x="8942832" y="2578608"/>
            <a:ext cx="2185416" cy="548640"/>
          </a:xfrm>
          <a:prstGeom prst="rect">
            <a:avLst/>
          </a:prstGeom>
          <a:noFill/>
          <a:ln/>
        </p:spPr>
        <p:txBody>
          <a:bodyPr wrap="square" rtlCol="0" anchor="ctr"/>
          <a:lstStyle/>
          <a:p>
            <a:pPr marL="0" indent="0">
              <a:lnSpc>
                <a:spcPct val="110000"/>
              </a:lnSpc>
              <a:buNone/>
            </a:pPr>
            <a:r>
              <a:rPr lang="en-US" sz="1050" dirty="0">
                <a:solidFill>
                  <a:srgbClr val="4A5A63"/>
                </a:solidFill>
                <a:latin typeface="Calibri" pitchFamily="34" charset="0"/>
                <a:ea typeface="Calibri" pitchFamily="34" charset="-122"/>
                <a:cs typeface="Calibri" pitchFamily="34" charset="-120"/>
              </a:rPr>
              <a:t>Deadline for full operational compliance</a:t>
            </a:r>
            <a:endParaRPr lang="en-US" sz="1050" dirty="0"/>
          </a:p>
        </p:txBody>
      </p:sp>
      <p:sp>
        <p:nvSpPr>
          <p:cNvPr id="16" name="Text 14"/>
          <p:cNvSpPr/>
          <p:nvPr/>
        </p:nvSpPr>
        <p:spPr>
          <a:xfrm>
            <a:off x="548640" y="3520440"/>
            <a:ext cx="7315200" cy="365760"/>
          </a:xfrm>
          <a:prstGeom prst="rect">
            <a:avLst/>
          </a:prstGeom>
          <a:noFill/>
          <a:ln/>
        </p:spPr>
        <p:txBody>
          <a:bodyPr wrap="square" rtlCol="0" anchor="ctr"/>
          <a:lstStyle/>
          <a:p>
            <a:pPr marL="0" indent="0">
              <a:buNone/>
            </a:pPr>
            <a:r>
              <a:rPr lang="en-US" sz="1600" b="1" dirty="0">
                <a:solidFill>
                  <a:srgbClr val="021927"/>
                </a:solidFill>
                <a:latin typeface="Cambria" pitchFamily="34" charset="0"/>
                <a:ea typeface="Cambria" pitchFamily="34" charset="-122"/>
                <a:cs typeface="Cambria" pitchFamily="34" charset="-120"/>
              </a:rPr>
              <a:t>Three Phases, One Closing Window</a:t>
            </a:r>
            <a:endParaRPr lang="en-US" sz="1600" dirty="0"/>
          </a:p>
        </p:txBody>
      </p:sp>
      <p:sp>
        <p:nvSpPr>
          <p:cNvPr id="17" name="Shape 15"/>
          <p:cNvSpPr/>
          <p:nvPr/>
        </p:nvSpPr>
        <p:spPr>
          <a:xfrm>
            <a:off x="749808" y="4178808"/>
            <a:ext cx="7498080" cy="0"/>
          </a:xfrm>
          <a:prstGeom prst="line">
            <a:avLst/>
          </a:prstGeom>
          <a:noFill/>
          <a:ln w="25400">
            <a:solidFill>
              <a:srgbClr val="F9A87B"/>
            </a:solidFill>
            <a:prstDash val="dash"/>
          </a:ln>
        </p:spPr>
      </p:sp>
      <p:sp>
        <p:nvSpPr>
          <p:cNvPr id="18" name="Shape 16"/>
          <p:cNvSpPr/>
          <p:nvPr/>
        </p:nvSpPr>
        <p:spPr>
          <a:xfrm>
            <a:off x="548640" y="3977640"/>
            <a:ext cx="402336" cy="402336"/>
          </a:xfrm>
          <a:prstGeom prst="ellipse">
            <a:avLst/>
          </a:prstGeom>
          <a:solidFill>
            <a:srgbClr val="F26722"/>
          </a:solidFill>
          <a:ln/>
        </p:spPr>
      </p:sp>
      <p:sp>
        <p:nvSpPr>
          <p:cNvPr id="19" name="Text 17"/>
          <p:cNvSpPr/>
          <p:nvPr/>
        </p:nvSpPr>
        <p:spPr>
          <a:xfrm>
            <a:off x="548640" y="3977640"/>
            <a:ext cx="402336" cy="40233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0" name="Text 18"/>
          <p:cNvSpPr/>
          <p:nvPr/>
        </p:nvSpPr>
        <p:spPr>
          <a:xfrm>
            <a:off x="548640" y="4480560"/>
            <a:ext cx="3520440" cy="365760"/>
          </a:xfrm>
          <a:prstGeom prst="rect">
            <a:avLst/>
          </a:prstGeom>
          <a:noFill/>
          <a:ln/>
        </p:spPr>
        <p:txBody>
          <a:bodyPr wrap="square" rtlCol="0" anchor="ctr"/>
          <a:lstStyle/>
          <a:p>
            <a:pPr marL="0" indent="0">
              <a:buNone/>
            </a:pPr>
            <a:r>
              <a:rPr lang="en-US" sz="1250" b="1" dirty="0">
                <a:solidFill>
                  <a:srgbClr val="021927"/>
                </a:solidFill>
                <a:latin typeface="Calibri" pitchFamily="34" charset="0"/>
                <a:ea typeface="Calibri" pitchFamily="34" charset="-122"/>
                <a:cs typeface="Calibri" pitchFamily="34" charset="-120"/>
              </a:rPr>
              <a:t>Phase I — Live since 13 Nov 2025</a:t>
            </a:r>
            <a:endParaRPr lang="en-US" sz="1250" dirty="0"/>
          </a:p>
        </p:txBody>
      </p:sp>
      <p:sp>
        <p:nvSpPr>
          <p:cNvPr id="21" name="Text 19"/>
          <p:cNvSpPr/>
          <p:nvPr/>
        </p:nvSpPr>
        <p:spPr>
          <a:xfrm>
            <a:off x="548640" y="4846320"/>
            <a:ext cx="3520440" cy="914400"/>
          </a:xfrm>
          <a:prstGeom prst="rect">
            <a:avLst/>
          </a:prstGeom>
          <a:noFill/>
          <a:ln/>
        </p:spPr>
        <p:txBody>
          <a:bodyPr wrap="square" rtlCol="0" anchor="ctr"/>
          <a:lstStyle/>
          <a:p>
            <a:pPr marL="0" indent="0">
              <a:lnSpc>
                <a:spcPct val="115000"/>
              </a:lnSpc>
              <a:buNone/>
            </a:pPr>
            <a:r>
              <a:rPr lang="en-US" sz="1100" dirty="0">
                <a:solidFill>
                  <a:srgbClr val="4A5A63"/>
                </a:solidFill>
                <a:latin typeface="Calibri" pitchFamily="34" charset="0"/>
                <a:ea typeface="Calibri" pitchFamily="34" charset="-122"/>
                <a:cs typeface="Calibri" pitchFamily="34" charset="-120"/>
              </a:rPr>
              <a:t>Data Protection Board of India constituted; core provisions in force.</a:t>
            </a:r>
            <a:endParaRPr lang="en-US" sz="1100" dirty="0"/>
          </a:p>
        </p:txBody>
      </p:sp>
      <p:sp>
        <p:nvSpPr>
          <p:cNvPr id="22" name="Shape 20"/>
          <p:cNvSpPr/>
          <p:nvPr/>
        </p:nvSpPr>
        <p:spPr>
          <a:xfrm>
            <a:off x="4297680" y="3977640"/>
            <a:ext cx="402336" cy="402336"/>
          </a:xfrm>
          <a:prstGeom prst="ellipse">
            <a:avLst/>
          </a:prstGeom>
          <a:solidFill>
            <a:srgbClr val="F26722"/>
          </a:solidFill>
          <a:ln/>
        </p:spPr>
      </p:sp>
      <p:sp>
        <p:nvSpPr>
          <p:cNvPr id="23" name="Text 21"/>
          <p:cNvSpPr/>
          <p:nvPr/>
        </p:nvSpPr>
        <p:spPr>
          <a:xfrm>
            <a:off x="4297680" y="3977640"/>
            <a:ext cx="402336" cy="40233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4" name="Text 22"/>
          <p:cNvSpPr/>
          <p:nvPr/>
        </p:nvSpPr>
        <p:spPr>
          <a:xfrm>
            <a:off x="4297680" y="4480560"/>
            <a:ext cx="3520440" cy="365760"/>
          </a:xfrm>
          <a:prstGeom prst="rect">
            <a:avLst/>
          </a:prstGeom>
          <a:noFill/>
          <a:ln/>
        </p:spPr>
        <p:txBody>
          <a:bodyPr wrap="square" rtlCol="0" anchor="ctr"/>
          <a:lstStyle/>
          <a:p>
            <a:pPr marL="0" indent="0">
              <a:buNone/>
            </a:pPr>
            <a:r>
              <a:rPr lang="en-US" sz="1250" b="1" dirty="0">
                <a:solidFill>
                  <a:srgbClr val="021927"/>
                </a:solidFill>
                <a:latin typeface="Calibri" pitchFamily="34" charset="0"/>
                <a:ea typeface="Calibri" pitchFamily="34" charset="-122"/>
                <a:cs typeface="Calibri" pitchFamily="34" charset="-120"/>
              </a:rPr>
              <a:t>Phase II — 13 Nov 2026</a:t>
            </a:r>
            <a:endParaRPr lang="en-US" sz="1250" dirty="0"/>
          </a:p>
        </p:txBody>
      </p:sp>
      <p:sp>
        <p:nvSpPr>
          <p:cNvPr id="25" name="Text 23"/>
          <p:cNvSpPr/>
          <p:nvPr/>
        </p:nvSpPr>
        <p:spPr>
          <a:xfrm>
            <a:off x="4297680" y="4846320"/>
            <a:ext cx="3520440" cy="914400"/>
          </a:xfrm>
          <a:prstGeom prst="rect">
            <a:avLst/>
          </a:prstGeom>
          <a:noFill/>
          <a:ln/>
        </p:spPr>
        <p:txBody>
          <a:bodyPr wrap="square" rtlCol="0" anchor="ctr"/>
          <a:lstStyle/>
          <a:p>
            <a:pPr marL="0" indent="0">
              <a:lnSpc>
                <a:spcPct val="115000"/>
              </a:lnSpc>
              <a:buNone/>
            </a:pPr>
            <a:r>
              <a:rPr lang="en-US" sz="1100" dirty="0">
                <a:solidFill>
                  <a:srgbClr val="4A5A63"/>
                </a:solidFill>
                <a:latin typeface="Calibri" pitchFamily="34" charset="0"/>
                <a:ea typeface="Calibri" pitchFamily="34" charset="-122"/>
                <a:cs typeface="Calibri" pitchFamily="34" charset="-120"/>
              </a:rPr>
              <a:t>Consent Manager registration opens; technical &amp; financial conditions apply.</a:t>
            </a:r>
            <a:endParaRPr lang="en-US" sz="1100" dirty="0"/>
          </a:p>
        </p:txBody>
      </p:sp>
      <p:sp>
        <p:nvSpPr>
          <p:cNvPr id="26" name="Shape 24"/>
          <p:cNvSpPr/>
          <p:nvPr/>
        </p:nvSpPr>
        <p:spPr>
          <a:xfrm>
            <a:off x="8046720" y="3977640"/>
            <a:ext cx="402336" cy="402336"/>
          </a:xfrm>
          <a:prstGeom prst="ellipse">
            <a:avLst/>
          </a:prstGeom>
          <a:solidFill>
            <a:srgbClr val="F26722"/>
          </a:solidFill>
          <a:ln/>
        </p:spPr>
      </p:sp>
      <p:sp>
        <p:nvSpPr>
          <p:cNvPr id="27" name="Text 25"/>
          <p:cNvSpPr/>
          <p:nvPr/>
        </p:nvSpPr>
        <p:spPr>
          <a:xfrm>
            <a:off x="8046720" y="3977640"/>
            <a:ext cx="402336" cy="402336"/>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Text 26"/>
          <p:cNvSpPr/>
          <p:nvPr/>
        </p:nvSpPr>
        <p:spPr>
          <a:xfrm>
            <a:off x="8046720" y="4480560"/>
            <a:ext cx="3520440" cy="365760"/>
          </a:xfrm>
          <a:prstGeom prst="rect">
            <a:avLst/>
          </a:prstGeom>
          <a:noFill/>
          <a:ln/>
        </p:spPr>
        <p:txBody>
          <a:bodyPr wrap="square" rtlCol="0" anchor="ctr"/>
          <a:lstStyle/>
          <a:p>
            <a:pPr marL="0" indent="0">
              <a:buNone/>
            </a:pPr>
            <a:r>
              <a:rPr lang="en-US" sz="1250" b="1" dirty="0">
                <a:solidFill>
                  <a:srgbClr val="021927"/>
                </a:solidFill>
                <a:latin typeface="Calibri" pitchFamily="34" charset="0"/>
                <a:ea typeface="Calibri" pitchFamily="34" charset="-122"/>
                <a:cs typeface="Calibri" pitchFamily="34" charset="-120"/>
              </a:rPr>
              <a:t>Phase III — 13 May 2027</a:t>
            </a:r>
            <a:endParaRPr lang="en-US" sz="1250" dirty="0"/>
          </a:p>
        </p:txBody>
      </p:sp>
      <p:sp>
        <p:nvSpPr>
          <p:cNvPr id="29" name="Text 27"/>
          <p:cNvSpPr/>
          <p:nvPr/>
        </p:nvSpPr>
        <p:spPr>
          <a:xfrm>
            <a:off x="8046720" y="4846320"/>
            <a:ext cx="3520440" cy="914400"/>
          </a:xfrm>
          <a:prstGeom prst="rect">
            <a:avLst/>
          </a:prstGeom>
          <a:noFill/>
          <a:ln/>
        </p:spPr>
        <p:txBody>
          <a:bodyPr wrap="square" rtlCol="0" anchor="ctr"/>
          <a:lstStyle/>
          <a:p>
            <a:pPr marL="0" indent="0">
              <a:lnSpc>
                <a:spcPct val="115000"/>
              </a:lnSpc>
              <a:buNone/>
            </a:pPr>
            <a:r>
              <a:rPr lang="en-US" sz="1100" dirty="0">
                <a:solidFill>
                  <a:srgbClr val="4A5A63"/>
                </a:solidFill>
                <a:latin typeface="Calibri" pitchFamily="34" charset="0"/>
                <a:ea typeface="Calibri" pitchFamily="34" charset="-122"/>
                <a:cs typeface="Calibri" pitchFamily="34" charset="-120"/>
              </a:rPr>
              <a:t>Notices, breach reporting, DPO duties and penalties fully enforceable.</a:t>
            </a:r>
            <a:endParaRPr lang="en-US" sz="1100" dirty="0"/>
          </a:p>
        </p:txBody>
      </p:sp>
      <p:sp>
        <p:nvSpPr>
          <p:cNvPr id="30" name="Text 28"/>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1" name="Text 29"/>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Where Privacy Programmes Get Stuck</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Six recurring failure points we hear from privacy, security and legal teams.</a:t>
            </a:r>
            <a:endParaRPr lang="en-US" sz="1400" dirty="0"/>
          </a:p>
        </p:txBody>
      </p:sp>
      <p:sp>
        <p:nvSpPr>
          <p:cNvPr id="4" name="Shape 2"/>
          <p:cNvSpPr/>
          <p:nvPr/>
        </p:nvSpPr>
        <p:spPr>
          <a:xfrm>
            <a:off x="548640" y="1783080"/>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5" name="Shape 3"/>
          <p:cNvSpPr/>
          <p:nvPr/>
        </p:nvSpPr>
        <p:spPr>
          <a:xfrm>
            <a:off x="731520" y="1965960"/>
            <a:ext cx="347472" cy="347472"/>
          </a:xfrm>
          <a:prstGeom prst="ellipse">
            <a:avLst/>
          </a:prstGeom>
          <a:solidFill>
            <a:srgbClr val="F26722"/>
          </a:solidFill>
          <a:ln/>
        </p:spPr>
      </p:sp>
      <p:sp>
        <p:nvSpPr>
          <p:cNvPr id="6" name="Text 4"/>
          <p:cNvSpPr/>
          <p:nvPr/>
        </p:nvSpPr>
        <p:spPr>
          <a:xfrm>
            <a:off x="731520" y="1965960"/>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07008" y="1947672"/>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Blind data estate</a:t>
            </a:r>
            <a:endParaRPr lang="en-US" sz="1400" dirty="0"/>
          </a:p>
        </p:txBody>
      </p:sp>
      <p:sp>
        <p:nvSpPr>
          <p:cNvPr id="8" name="Text 6"/>
          <p:cNvSpPr/>
          <p:nvPr/>
        </p:nvSpPr>
        <p:spPr>
          <a:xfrm>
            <a:off x="749808" y="2404872"/>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Personal data sprawls across cloud, SaaS, files and on-prem. Teams cannot prove what they hold.</a:t>
            </a:r>
            <a:endParaRPr lang="en-US" sz="1080" dirty="0"/>
          </a:p>
        </p:txBody>
      </p:sp>
      <p:sp>
        <p:nvSpPr>
          <p:cNvPr id="9" name="Shape 7"/>
          <p:cNvSpPr/>
          <p:nvPr/>
        </p:nvSpPr>
        <p:spPr>
          <a:xfrm>
            <a:off x="4288536" y="1783080"/>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0" name="Shape 8"/>
          <p:cNvSpPr/>
          <p:nvPr/>
        </p:nvSpPr>
        <p:spPr>
          <a:xfrm>
            <a:off x="4471416" y="1965960"/>
            <a:ext cx="347472" cy="347472"/>
          </a:xfrm>
          <a:prstGeom prst="ellipse">
            <a:avLst/>
          </a:prstGeom>
          <a:solidFill>
            <a:srgbClr val="F26722"/>
          </a:solidFill>
          <a:ln/>
        </p:spPr>
      </p:sp>
      <p:sp>
        <p:nvSpPr>
          <p:cNvPr id="11" name="Text 9"/>
          <p:cNvSpPr/>
          <p:nvPr/>
        </p:nvSpPr>
        <p:spPr>
          <a:xfrm>
            <a:off x="4471416" y="1965960"/>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4946904" y="1947672"/>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Manual consent &amp; rights</a:t>
            </a:r>
            <a:endParaRPr lang="en-US" sz="1400" dirty="0"/>
          </a:p>
        </p:txBody>
      </p:sp>
      <p:sp>
        <p:nvSpPr>
          <p:cNvPr id="13" name="Text 11"/>
          <p:cNvSpPr/>
          <p:nvPr/>
        </p:nvSpPr>
        <p:spPr>
          <a:xfrm>
            <a:off x="4489704" y="2404872"/>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Notices, preferences, DSARs and withdrawals live in tickets. Audit trails break under scrutiny.</a:t>
            </a:r>
            <a:endParaRPr lang="en-US" sz="1080" dirty="0"/>
          </a:p>
        </p:txBody>
      </p:sp>
      <p:sp>
        <p:nvSpPr>
          <p:cNvPr id="14" name="Shape 12"/>
          <p:cNvSpPr/>
          <p:nvPr/>
        </p:nvSpPr>
        <p:spPr>
          <a:xfrm>
            <a:off x="8028432" y="1783080"/>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5" name="Shape 13"/>
          <p:cNvSpPr/>
          <p:nvPr/>
        </p:nvSpPr>
        <p:spPr>
          <a:xfrm>
            <a:off x="8211312" y="1965960"/>
            <a:ext cx="347472" cy="347472"/>
          </a:xfrm>
          <a:prstGeom prst="ellipse">
            <a:avLst/>
          </a:prstGeom>
          <a:solidFill>
            <a:srgbClr val="F26722"/>
          </a:solidFill>
          <a:ln/>
        </p:spPr>
      </p:sp>
      <p:sp>
        <p:nvSpPr>
          <p:cNvPr id="16" name="Text 14"/>
          <p:cNvSpPr/>
          <p:nvPr/>
        </p:nvSpPr>
        <p:spPr>
          <a:xfrm>
            <a:off x="8211312" y="1965960"/>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8686800" y="1947672"/>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Vendor &amp; transfer risk</a:t>
            </a:r>
            <a:endParaRPr lang="en-US" sz="1400" dirty="0"/>
          </a:p>
        </p:txBody>
      </p:sp>
      <p:sp>
        <p:nvSpPr>
          <p:cNvPr id="18" name="Text 16"/>
          <p:cNvSpPr/>
          <p:nvPr/>
        </p:nvSpPr>
        <p:spPr>
          <a:xfrm>
            <a:off x="8229600" y="2404872"/>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Processors and cross-border flows sit in contract folders — not linked to the live data map.</a:t>
            </a:r>
            <a:endParaRPr lang="en-US" sz="1080" dirty="0"/>
          </a:p>
        </p:txBody>
      </p:sp>
      <p:sp>
        <p:nvSpPr>
          <p:cNvPr id="19" name="Shape 17"/>
          <p:cNvSpPr/>
          <p:nvPr/>
        </p:nvSpPr>
        <p:spPr>
          <a:xfrm>
            <a:off x="548640" y="3419856"/>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0" name="Shape 18"/>
          <p:cNvSpPr/>
          <p:nvPr/>
        </p:nvSpPr>
        <p:spPr>
          <a:xfrm>
            <a:off x="731520" y="3602736"/>
            <a:ext cx="347472" cy="347472"/>
          </a:xfrm>
          <a:prstGeom prst="ellipse">
            <a:avLst/>
          </a:prstGeom>
          <a:solidFill>
            <a:srgbClr val="F26722"/>
          </a:solidFill>
          <a:ln/>
        </p:spPr>
      </p:sp>
      <p:sp>
        <p:nvSpPr>
          <p:cNvPr id="21" name="Text 19"/>
          <p:cNvSpPr/>
          <p:nvPr/>
        </p:nvSpPr>
        <p:spPr>
          <a:xfrm>
            <a:off x="731520" y="3602736"/>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1207008" y="3584448"/>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Assessment bottleneck</a:t>
            </a:r>
            <a:endParaRPr lang="en-US" sz="1400" dirty="0"/>
          </a:p>
        </p:txBody>
      </p:sp>
      <p:sp>
        <p:nvSpPr>
          <p:cNvPr id="23" name="Text 21"/>
          <p:cNvSpPr/>
          <p:nvPr/>
        </p:nvSpPr>
        <p:spPr>
          <a:xfrm>
            <a:off x="749808" y="4041648"/>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Gap Assessments and PIAs take weeks of interviews. Evidence is scattered at sign-off.</a:t>
            </a:r>
            <a:endParaRPr lang="en-US" sz="1080" dirty="0"/>
          </a:p>
        </p:txBody>
      </p:sp>
      <p:sp>
        <p:nvSpPr>
          <p:cNvPr id="24" name="Shape 22"/>
          <p:cNvSpPr/>
          <p:nvPr/>
        </p:nvSpPr>
        <p:spPr>
          <a:xfrm>
            <a:off x="4288536" y="3419856"/>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5" name="Shape 23"/>
          <p:cNvSpPr/>
          <p:nvPr/>
        </p:nvSpPr>
        <p:spPr>
          <a:xfrm>
            <a:off x="4471416" y="3602736"/>
            <a:ext cx="347472" cy="347472"/>
          </a:xfrm>
          <a:prstGeom prst="ellipse">
            <a:avLst/>
          </a:prstGeom>
          <a:solidFill>
            <a:srgbClr val="F26722"/>
          </a:solidFill>
          <a:ln/>
        </p:spPr>
      </p:sp>
      <p:sp>
        <p:nvSpPr>
          <p:cNvPr id="26" name="Text 24"/>
          <p:cNvSpPr/>
          <p:nvPr/>
        </p:nvSpPr>
        <p:spPr>
          <a:xfrm>
            <a:off x="4471416" y="3602736"/>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p:nvPr/>
        </p:nvSpPr>
        <p:spPr>
          <a:xfrm>
            <a:off x="4946904" y="3584448"/>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Tool &amp; spreadsheet sprawl</a:t>
            </a:r>
            <a:endParaRPr lang="en-US" sz="1400" dirty="0"/>
          </a:p>
        </p:txBody>
      </p:sp>
      <p:sp>
        <p:nvSpPr>
          <p:cNvPr id="28" name="Text 26"/>
          <p:cNvSpPr/>
          <p:nvPr/>
        </p:nvSpPr>
        <p:spPr>
          <a:xfrm>
            <a:off x="4489704" y="4041648"/>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Four+ point solutions mean four inventories and endless reconciliation before every board pack.</a:t>
            </a:r>
            <a:endParaRPr lang="en-US" sz="1080" dirty="0"/>
          </a:p>
        </p:txBody>
      </p:sp>
      <p:sp>
        <p:nvSpPr>
          <p:cNvPr id="29" name="Shape 27"/>
          <p:cNvSpPr/>
          <p:nvPr/>
        </p:nvSpPr>
        <p:spPr>
          <a:xfrm>
            <a:off x="8028432" y="3419856"/>
            <a:ext cx="3520440" cy="1417320"/>
          </a:xfrm>
          <a:prstGeom prst="roundRect">
            <a:avLst>
              <a:gd name="adj" fmla="val 580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30" name="Shape 28"/>
          <p:cNvSpPr/>
          <p:nvPr/>
        </p:nvSpPr>
        <p:spPr>
          <a:xfrm>
            <a:off x="8211312" y="3602736"/>
            <a:ext cx="347472" cy="347472"/>
          </a:xfrm>
          <a:prstGeom prst="ellipse">
            <a:avLst/>
          </a:prstGeom>
          <a:solidFill>
            <a:srgbClr val="F26722"/>
          </a:solidFill>
          <a:ln/>
        </p:spPr>
      </p:sp>
      <p:sp>
        <p:nvSpPr>
          <p:cNvPr id="31" name="Text 29"/>
          <p:cNvSpPr/>
          <p:nvPr/>
        </p:nvSpPr>
        <p:spPr>
          <a:xfrm>
            <a:off x="8211312" y="3602736"/>
            <a:ext cx="347472" cy="347472"/>
          </a:xfrm>
          <a:prstGeom prst="rect">
            <a:avLst/>
          </a:prstGeom>
          <a:noFill/>
          <a:ln/>
        </p:spPr>
        <p:txBody>
          <a:bodyPr wrap="square"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2" name="Text 30"/>
          <p:cNvSpPr/>
          <p:nvPr/>
        </p:nvSpPr>
        <p:spPr>
          <a:xfrm>
            <a:off x="8686800" y="3584448"/>
            <a:ext cx="2697480" cy="402336"/>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Talent drain</a:t>
            </a:r>
            <a:endParaRPr lang="en-US" sz="1400" dirty="0"/>
          </a:p>
        </p:txBody>
      </p:sp>
      <p:sp>
        <p:nvSpPr>
          <p:cNvPr id="33" name="Text 31"/>
          <p:cNvSpPr/>
          <p:nvPr/>
        </p:nvSpPr>
        <p:spPr>
          <a:xfrm>
            <a:off x="8229600" y="4041648"/>
            <a:ext cx="3118104" cy="713232"/>
          </a:xfrm>
          <a:prstGeom prst="rect">
            <a:avLst/>
          </a:prstGeom>
          <a:noFill/>
          <a:ln/>
        </p:spPr>
        <p:txBody>
          <a:bodyPr wrap="square" rtlCol="0" anchor="ctr"/>
          <a:lstStyle/>
          <a:p>
            <a:pPr marL="0" indent="0">
              <a:lnSpc>
                <a:spcPct val="115000"/>
              </a:lnSpc>
              <a:buNone/>
            </a:pPr>
            <a:r>
              <a:rPr lang="en-US" sz="1080" dirty="0">
                <a:solidFill>
                  <a:srgbClr val="4A5A63"/>
                </a:solidFill>
                <a:latin typeface="Calibri" pitchFamily="34" charset="0"/>
                <a:ea typeface="Calibri" pitchFamily="34" charset="-122"/>
                <a:cs typeface="Calibri" pitchFamily="34" charset="-120"/>
              </a:rPr>
              <a:t>Privacy, security and legal burn cycles on discovery grunt work instead of risk decisions.</a:t>
            </a:r>
            <a:endParaRPr lang="en-US" sz="1080" dirty="0"/>
          </a:p>
        </p:txBody>
      </p:sp>
      <p:sp>
        <p:nvSpPr>
          <p:cNvPr id="34" name="Shape 32"/>
          <p:cNvSpPr/>
          <p:nvPr/>
        </p:nvSpPr>
        <p:spPr>
          <a:xfrm>
            <a:off x="548640" y="5102352"/>
            <a:ext cx="11091672" cy="685800"/>
          </a:xfrm>
          <a:prstGeom prst="roundRect">
            <a:avLst>
              <a:gd name="adj" fmla="val 12000"/>
            </a:avLst>
          </a:prstGeom>
          <a:solidFill>
            <a:srgbClr val="021927"/>
          </a:solidFill>
          <a:ln w="12700">
            <a:solidFill>
              <a:srgbClr val="E3D9C4"/>
            </a:solidFill>
            <a:prstDash val="solid"/>
          </a:ln>
        </p:spPr>
      </p:sp>
      <p:sp>
        <p:nvSpPr>
          <p:cNvPr id="35" name="Text 33"/>
          <p:cNvSpPr/>
          <p:nvPr/>
        </p:nvSpPr>
        <p:spPr>
          <a:xfrm>
            <a:off x="777240" y="5102352"/>
            <a:ext cx="10607040" cy="685800"/>
          </a:xfrm>
          <a:prstGeom prst="rect">
            <a:avLst/>
          </a:prstGeom>
          <a:noFill/>
          <a:ln/>
        </p:spPr>
        <p:txBody>
          <a:bodyPr wrap="square" rtlCol="0" anchor="ctr"/>
          <a:lstStyle/>
          <a:p>
            <a:pPr marL="0" indent="0">
              <a:lnSpc>
                <a:spcPct val="115000"/>
              </a:lnSpc>
              <a:buNone/>
            </a:pPr>
            <a:r>
              <a:rPr lang="en-US" sz="1150" b="1" dirty="0">
                <a:solidFill>
                  <a:srgbClr val="F9A87B"/>
                </a:solidFill>
                <a:latin typeface="Calibri" pitchFamily="34" charset="0"/>
                <a:ea typeface="Calibri" pitchFamily="34" charset="-122"/>
                <a:cs typeface="Calibri" pitchFamily="34" charset="-120"/>
              </a:rPr>
              <a:t>Core pain:  </a:t>
            </a:r>
            <a:r>
              <a:rPr lang="en-US" sz="1150" dirty="0">
                <a:solidFill>
                  <a:srgbClr val="F4EEDE"/>
                </a:solidFill>
                <a:latin typeface="Calibri" pitchFamily="34" charset="0"/>
                <a:ea typeface="Calibri" pitchFamily="34" charset="-122"/>
                <a:cs typeface="Calibri" pitchFamily="34" charset="-120"/>
              </a:rPr>
              <a:t>Accountability under DPDP needs one story — purpose, consent, location, processors and impact — but most organisations still assemble it by hand.</a:t>
            </a:r>
            <a:endParaRPr lang="en-US" sz="1150" dirty="0"/>
          </a:p>
        </p:txBody>
      </p:sp>
      <p:sp>
        <p:nvSpPr>
          <p:cNvPr id="36" name="Text 34"/>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7" name="Text 35"/>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THE PLATFORM</a:t>
            </a:r>
            <a:endParaRPr lang="en-US" sz="1200" dirty="0"/>
          </a:p>
        </p:txBody>
      </p:sp>
      <p:sp>
        <p:nvSpPr>
          <p:cNvPr id="3" name="Text 1"/>
          <p:cNvSpPr/>
          <p:nvPr/>
        </p:nvSpPr>
        <p:spPr>
          <a:xfrm>
            <a:off x="548640" y="749808"/>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About Comply360</a:t>
            </a:r>
            <a:endParaRPr lang="en-US" sz="3200" dirty="0"/>
          </a:p>
        </p:txBody>
      </p:sp>
      <p:sp>
        <p:nvSpPr>
          <p:cNvPr id="4" name="Text 2"/>
          <p:cNvSpPr/>
          <p:nvPr/>
        </p:nvSpPr>
        <p:spPr>
          <a:xfrm>
            <a:off x="548640" y="1417320"/>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An AI-native compliance platform for India's DPDP Act — eight modules, one system of record.</a:t>
            </a:r>
            <a:endParaRPr lang="en-US" sz="1400" dirty="0"/>
          </a:p>
        </p:txBody>
      </p:sp>
      <p:sp>
        <p:nvSpPr>
          <p:cNvPr id="5" name="Shape 3"/>
          <p:cNvSpPr/>
          <p:nvPr/>
        </p:nvSpPr>
        <p:spPr>
          <a:xfrm>
            <a:off x="548640" y="1965960"/>
            <a:ext cx="260604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6" name="Shape 4"/>
          <p:cNvSpPr/>
          <p:nvPr/>
        </p:nvSpPr>
        <p:spPr>
          <a:xfrm>
            <a:off x="731520" y="2148840"/>
            <a:ext cx="457200" cy="457200"/>
          </a:xfrm>
          <a:prstGeom prst="roundRect">
            <a:avLst>
              <a:gd name="adj" fmla="val 18000"/>
            </a:avLst>
          </a:prstGeom>
          <a:solidFill>
            <a:srgbClr val="F26722"/>
          </a:solidFill>
          <a:ln/>
        </p:spPr>
      </p:sp>
      <p:sp>
        <p:nvSpPr>
          <p:cNvPr id="7" name="Text 5"/>
          <p:cNvSpPr/>
          <p:nvPr/>
        </p:nvSpPr>
        <p:spPr>
          <a:xfrm>
            <a:off x="731520" y="21488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8" name="Text 6"/>
          <p:cNvSpPr/>
          <p:nvPr/>
        </p:nvSpPr>
        <p:spPr>
          <a:xfrm>
            <a:off x="731520" y="2715768"/>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Consent</a:t>
            </a:r>
            <a:endParaRPr lang="en-US" sz="1400" dirty="0"/>
          </a:p>
        </p:txBody>
      </p:sp>
      <p:sp>
        <p:nvSpPr>
          <p:cNvPr id="9" name="Text 7"/>
          <p:cNvSpPr/>
          <p:nvPr/>
        </p:nvSpPr>
        <p:spPr>
          <a:xfrm>
            <a:off x="731520" y="3081528"/>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Purpose-bound, withdrawable, audit-ready consent across channels.</a:t>
            </a:r>
            <a:endParaRPr lang="en-US" sz="1000" dirty="0"/>
          </a:p>
        </p:txBody>
      </p:sp>
      <p:sp>
        <p:nvSpPr>
          <p:cNvPr id="10" name="Shape 8"/>
          <p:cNvSpPr/>
          <p:nvPr/>
        </p:nvSpPr>
        <p:spPr>
          <a:xfrm>
            <a:off x="3355848" y="1965960"/>
            <a:ext cx="260604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1" name="Shape 9"/>
          <p:cNvSpPr/>
          <p:nvPr/>
        </p:nvSpPr>
        <p:spPr>
          <a:xfrm>
            <a:off x="3538728" y="2148840"/>
            <a:ext cx="457200" cy="457200"/>
          </a:xfrm>
          <a:prstGeom prst="roundRect">
            <a:avLst>
              <a:gd name="adj" fmla="val 18000"/>
            </a:avLst>
          </a:prstGeom>
          <a:solidFill>
            <a:srgbClr val="F26722"/>
          </a:solidFill>
          <a:ln/>
        </p:spPr>
      </p:sp>
      <p:sp>
        <p:nvSpPr>
          <p:cNvPr id="12" name="Text 10"/>
          <p:cNvSpPr/>
          <p:nvPr/>
        </p:nvSpPr>
        <p:spPr>
          <a:xfrm>
            <a:off x="3538728" y="21488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3" name="Text 11"/>
          <p:cNvSpPr/>
          <p:nvPr/>
        </p:nvSpPr>
        <p:spPr>
          <a:xfrm>
            <a:off x="3538728" y="2715768"/>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DSAR</a:t>
            </a:r>
          </a:p>
          <a:p>
            <a:pPr marL="0" indent="0">
              <a:buNone/>
            </a:pPr>
            <a:endParaRPr lang="en-US" sz="1400" dirty="0"/>
          </a:p>
        </p:txBody>
      </p:sp>
      <p:sp>
        <p:nvSpPr>
          <p:cNvPr id="14" name="Text 12"/>
          <p:cNvSpPr/>
          <p:nvPr/>
        </p:nvSpPr>
        <p:spPr>
          <a:xfrm>
            <a:off x="3538728" y="3081528"/>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Intake, verify and fulfil Data Principal rights with tracked SLAs.</a:t>
            </a:r>
            <a:endParaRPr lang="en-US" sz="1000" dirty="0"/>
          </a:p>
        </p:txBody>
      </p:sp>
      <p:sp>
        <p:nvSpPr>
          <p:cNvPr id="15" name="Shape 13"/>
          <p:cNvSpPr/>
          <p:nvPr/>
        </p:nvSpPr>
        <p:spPr>
          <a:xfrm>
            <a:off x="6163056" y="1965960"/>
            <a:ext cx="260604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6" name="Shape 14"/>
          <p:cNvSpPr/>
          <p:nvPr/>
        </p:nvSpPr>
        <p:spPr>
          <a:xfrm>
            <a:off x="6345936" y="2148840"/>
            <a:ext cx="457200" cy="457200"/>
          </a:xfrm>
          <a:prstGeom prst="roundRect">
            <a:avLst>
              <a:gd name="adj" fmla="val 18000"/>
            </a:avLst>
          </a:prstGeom>
          <a:solidFill>
            <a:srgbClr val="F26722"/>
          </a:solidFill>
          <a:ln/>
        </p:spPr>
      </p:sp>
      <p:sp>
        <p:nvSpPr>
          <p:cNvPr id="17" name="Text 15"/>
          <p:cNvSpPr/>
          <p:nvPr/>
        </p:nvSpPr>
        <p:spPr>
          <a:xfrm>
            <a:off x="6345936" y="21488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8" name="Text 16"/>
          <p:cNvSpPr/>
          <p:nvPr/>
        </p:nvSpPr>
        <p:spPr>
          <a:xfrm>
            <a:off x="6345936" y="2715768"/>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Gap Assessment</a:t>
            </a:r>
            <a:endParaRPr lang="en-US" sz="1400" dirty="0"/>
          </a:p>
        </p:txBody>
      </p:sp>
      <p:sp>
        <p:nvSpPr>
          <p:cNvPr id="19" name="Text 17"/>
          <p:cNvSpPr/>
          <p:nvPr/>
        </p:nvSpPr>
        <p:spPr>
          <a:xfrm>
            <a:off x="6345936" y="3081528"/>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Benchmark controls against the DPDP Act; own remediation.</a:t>
            </a:r>
            <a:endParaRPr lang="en-US" sz="1000" dirty="0"/>
          </a:p>
        </p:txBody>
      </p:sp>
      <p:sp>
        <p:nvSpPr>
          <p:cNvPr id="20" name="Shape 18"/>
          <p:cNvSpPr/>
          <p:nvPr/>
        </p:nvSpPr>
        <p:spPr>
          <a:xfrm>
            <a:off x="8970264" y="1965960"/>
            <a:ext cx="260604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1" name="Shape 19"/>
          <p:cNvSpPr/>
          <p:nvPr/>
        </p:nvSpPr>
        <p:spPr>
          <a:xfrm>
            <a:off x="9153144" y="2148840"/>
            <a:ext cx="457200" cy="457200"/>
          </a:xfrm>
          <a:prstGeom prst="roundRect">
            <a:avLst>
              <a:gd name="adj" fmla="val 18000"/>
            </a:avLst>
          </a:prstGeom>
          <a:solidFill>
            <a:srgbClr val="F26722"/>
          </a:solidFill>
          <a:ln/>
        </p:spPr>
      </p:sp>
      <p:sp>
        <p:nvSpPr>
          <p:cNvPr id="22" name="Text 20"/>
          <p:cNvSpPr/>
          <p:nvPr/>
        </p:nvSpPr>
        <p:spPr>
          <a:xfrm>
            <a:off x="9153144" y="21488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3" name="Text 21"/>
          <p:cNvSpPr/>
          <p:nvPr/>
        </p:nvSpPr>
        <p:spPr>
          <a:xfrm>
            <a:off x="9153144" y="2715768"/>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PIA</a:t>
            </a:r>
            <a:endParaRPr lang="en-US" sz="1400" dirty="0"/>
          </a:p>
        </p:txBody>
      </p:sp>
      <p:sp>
        <p:nvSpPr>
          <p:cNvPr id="24" name="Text 22"/>
          <p:cNvSpPr/>
          <p:nvPr/>
        </p:nvSpPr>
        <p:spPr>
          <a:xfrm>
            <a:off x="9153144" y="3081528"/>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Structured impact assessments with risk scoring and sign-off.</a:t>
            </a:r>
            <a:endParaRPr lang="en-US" sz="1000" dirty="0"/>
          </a:p>
        </p:txBody>
      </p:sp>
      <p:sp>
        <p:nvSpPr>
          <p:cNvPr id="25" name="Shape 23"/>
          <p:cNvSpPr/>
          <p:nvPr/>
        </p:nvSpPr>
        <p:spPr>
          <a:xfrm>
            <a:off x="548640" y="3995928"/>
            <a:ext cx="2606040" cy="1828800"/>
          </a:xfrm>
          <a:prstGeom prst="roundRect">
            <a:avLst>
              <a:gd name="adj" fmla="val 4500"/>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26" name="Shape 24"/>
          <p:cNvSpPr/>
          <p:nvPr/>
        </p:nvSpPr>
        <p:spPr>
          <a:xfrm>
            <a:off x="731520" y="4178808"/>
            <a:ext cx="457200" cy="457200"/>
          </a:xfrm>
          <a:prstGeom prst="roundRect">
            <a:avLst>
              <a:gd name="adj" fmla="val 18000"/>
            </a:avLst>
          </a:prstGeom>
          <a:solidFill>
            <a:srgbClr val="F26722"/>
          </a:solidFill>
          <a:ln/>
        </p:spPr>
      </p:sp>
      <p:sp>
        <p:nvSpPr>
          <p:cNvPr id="27" name="Text 25"/>
          <p:cNvSpPr/>
          <p:nvPr/>
        </p:nvSpPr>
        <p:spPr>
          <a:xfrm>
            <a:off x="731520" y="417880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28" name="Text 26"/>
          <p:cNvSpPr/>
          <p:nvPr/>
        </p:nvSpPr>
        <p:spPr>
          <a:xfrm>
            <a:off x="731520" y="4745736"/>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ROPA</a:t>
            </a:r>
            <a:endParaRPr lang="en-US" sz="1400" dirty="0"/>
          </a:p>
        </p:txBody>
      </p:sp>
      <p:sp>
        <p:nvSpPr>
          <p:cNvPr id="29" name="Text 27"/>
          <p:cNvSpPr/>
          <p:nvPr/>
        </p:nvSpPr>
        <p:spPr>
          <a:xfrm>
            <a:off x="731520" y="5111496"/>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Living records linked to systems, vendors, purposes and retention.</a:t>
            </a:r>
            <a:endParaRPr lang="en-US" sz="1000" dirty="0"/>
          </a:p>
        </p:txBody>
      </p:sp>
      <p:sp>
        <p:nvSpPr>
          <p:cNvPr id="30" name="Shape 28"/>
          <p:cNvSpPr/>
          <p:nvPr/>
        </p:nvSpPr>
        <p:spPr>
          <a:xfrm>
            <a:off x="3355848" y="3995928"/>
            <a:ext cx="2606040" cy="1828800"/>
          </a:xfrm>
          <a:prstGeom prst="roundRect">
            <a:avLst>
              <a:gd name="adj" fmla="val 4500"/>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31" name="Shape 29"/>
          <p:cNvSpPr/>
          <p:nvPr/>
        </p:nvSpPr>
        <p:spPr>
          <a:xfrm>
            <a:off x="3538728" y="4178808"/>
            <a:ext cx="457200" cy="457200"/>
          </a:xfrm>
          <a:prstGeom prst="roundRect">
            <a:avLst>
              <a:gd name="adj" fmla="val 18000"/>
            </a:avLst>
          </a:prstGeom>
          <a:solidFill>
            <a:srgbClr val="F26722"/>
          </a:solidFill>
          <a:ln/>
        </p:spPr>
      </p:sp>
      <p:sp>
        <p:nvSpPr>
          <p:cNvPr id="32" name="Text 30"/>
          <p:cNvSpPr/>
          <p:nvPr/>
        </p:nvSpPr>
        <p:spPr>
          <a:xfrm>
            <a:off x="3538728" y="417880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33" name="Text 31"/>
          <p:cNvSpPr/>
          <p:nvPr/>
        </p:nvSpPr>
        <p:spPr>
          <a:xfrm>
            <a:off x="3538728" y="4745736"/>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TPRM</a:t>
            </a:r>
            <a:endParaRPr lang="en-US" sz="1400" dirty="0"/>
          </a:p>
        </p:txBody>
      </p:sp>
      <p:sp>
        <p:nvSpPr>
          <p:cNvPr id="34" name="Text 32"/>
          <p:cNvSpPr/>
          <p:nvPr/>
        </p:nvSpPr>
        <p:spPr>
          <a:xfrm>
            <a:off x="3538728" y="5111496"/>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Onboard, assess and monitor processors continuously.</a:t>
            </a:r>
            <a:endParaRPr lang="en-US" sz="1000" dirty="0"/>
          </a:p>
        </p:txBody>
      </p:sp>
      <p:sp>
        <p:nvSpPr>
          <p:cNvPr id="35" name="Shape 33"/>
          <p:cNvSpPr/>
          <p:nvPr/>
        </p:nvSpPr>
        <p:spPr>
          <a:xfrm>
            <a:off x="6163056" y="3995928"/>
            <a:ext cx="2606040" cy="1828800"/>
          </a:xfrm>
          <a:prstGeom prst="roundRect">
            <a:avLst>
              <a:gd name="adj" fmla="val 4500"/>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36" name="Shape 34"/>
          <p:cNvSpPr/>
          <p:nvPr/>
        </p:nvSpPr>
        <p:spPr>
          <a:xfrm>
            <a:off x="6345936" y="4178808"/>
            <a:ext cx="457200" cy="457200"/>
          </a:xfrm>
          <a:prstGeom prst="roundRect">
            <a:avLst>
              <a:gd name="adj" fmla="val 18000"/>
            </a:avLst>
          </a:prstGeom>
          <a:solidFill>
            <a:srgbClr val="F26722"/>
          </a:solidFill>
          <a:ln/>
        </p:spPr>
      </p:sp>
      <p:sp>
        <p:nvSpPr>
          <p:cNvPr id="37" name="Text 35"/>
          <p:cNvSpPr/>
          <p:nvPr/>
        </p:nvSpPr>
        <p:spPr>
          <a:xfrm>
            <a:off x="6345936" y="417880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07</a:t>
            </a:r>
            <a:endParaRPr lang="en-US" sz="1400" dirty="0"/>
          </a:p>
        </p:txBody>
      </p:sp>
      <p:sp>
        <p:nvSpPr>
          <p:cNvPr id="38" name="Text 36"/>
          <p:cNvSpPr/>
          <p:nvPr/>
        </p:nvSpPr>
        <p:spPr>
          <a:xfrm>
            <a:off x="6345936" y="4745736"/>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Breach Management</a:t>
            </a:r>
            <a:endParaRPr lang="en-US" sz="1400" dirty="0"/>
          </a:p>
        </p:txBody>
      </p:sp>
      <p:sp>
        <p:nvSpPr>
          <p:cNvPr id="39" name="Text 37"/>
          <p:cNvSpPr/>
          <p:nvPr/>
        </p:nvSpPr>
        <p:spPr>
          <a:xfrm>
            <a:off x="6345936" y="5111496"/>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Triage incidents, statutory clocks, defensible trails.</a:t>
            </a:r>
            <a:endParaRPr lang="en-US" sz="1000" dirty="0"/>
          </a:p>
        </p:txBody>
      </p:sp>
      <p:sp>
        <p:nvSpPr>
          <p:cNvPr id="40" name="Shape 38"/>
          <p:cNvSpPr/>
          <p:nvPr/>
        </p:nvSpPr>
        <p:spPr>
          <a:xfrm>
            <a:off x="8970264" y="3995928"/>
            <a:ext cx="2606040" cy="1828800"/>
          </a:xfrm>
          <a:prstGeom prst="roundRect">
            <a:avLst>
              <a:gd name="adj" fmla="val 4500"/>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41" name="Shape 39"/>
          <p:cNvSpPr/>
          <p:nvPr/>
        </p:nvSpPr>
        <p:spPr>
          <a:xfrm>
            <a:off x="9153144" y="4178808"/>
            <a:ext cx="457200" cy="457200"/>
          </a:xfrm>
          <a:prstGeom prst="roundRect">
            <a:avLst>
              <a:gd name="adj" fmla="val 18000"/>
            </a:avLst>
          </a:prstGeom>
          <a:solidFill>
            <a:srgbClr val="F26722"/>
          </a:solidFill>
          <a:ln/>
        </p:spPr>
      </p:sp>
      <p:sp>
        <p:nvSpPr>
          <p:cNvPr id="42" name="Text 40"/>
          <p:cNvSpPr/>
          <p:nvPr/>
        </p:nvSpPr>
        <p:spPr>
          <a:xfrm>
            <a:off x="9153144" y="417880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08</a:t>
            </a:r>
            <a:endParaRPr lang="en-US" sz="1400" dirty="0"/>
          </a:p>
        </p:txBody>
      </p:sp>
      <p:sp>
        <p:nvSpPr>
          <p:cNvPr id="43" name="Text 41"/>
          <p:cNvSpPr/>
          <p:nvPr/>
        </p:nvSpPr>
        <p:spPr>
          <a:xfrm>
            <a:off x="9153144" y="4745736"/>
            <a:ext cx="2240280" cy="384048"/>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Policy Store</a:t>
            </a:r>
            <a:endParaRPr lang="en-US" sz="1400" dirty="0"/>
          </a:p>
        </p:txBody>
      </p:sp>
      <p:sp>
        <p:nvSpPr>
          <p:cNvPr id="44" name="Text 42"/>
          <p:cNvSpPr/>
          <p:nvPr/>
        </p:nvSpPr>
        <p:spPr>
          <a:xfrm>
            <a:off x="9153144" y="5111496"/>
            <a:ext cx="2240280" cy="658368"/>
          </a:xfrm>
          <a:prstGeom prst="rect">
            <a:avLst/>
          </a:prstGeom>
          <a:noFill/>
          <a:ln/>
        </p:spPr>
        <p:txBody>
          <a:bodyPr wrap="square" rtlCol="0" anchor="ctr"/>
          <a:lstStyle/>
          <a:p>
            <a:pPr marL="0" indent="0">
              <a:lnSpc>
                <a:spcPct val="115000"/>
              </a:lnSpc>
              <a:buNone/>
            </a:pPr>
            <a:r>
              <a:rPr lang="en-US" sz="1000" dirty="0">
                <a:solidFill>
                  <a:srgbClr val="4A5A63"/>
                </a:solidFill>
                <a:latin typeface="Calibri" pitchFamily="34" charset="0"/>
                <a:ea typeface="Calibri" pitchFamily="34" charset="-122"/>
                <a:cs typeface="Calibri" pitchFamily="34" charset="-120"/>
              </a:rPr>
              <a:t>AI-drafted policies — edit, approve, map to controls.</a:t>
            </a:r>
            <a:endParaRPr lang="en-US" sz="1000" dirty="0"/>
          </a:p>
        </p:txBody>
      </p:sp>
      <p:sp>
        <p:nvSpPr>
          <p:cNvPr id="45" name="Text 43"/>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46" name="Text 4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5</a:t>
            </a:r>
            <a:endParaRPr lang="en-US" sz="900" dirty="0"/>
          </a:p>
        </p:txBody>
      </p:sp>
      <p:sp>
        <p:nvSpPr>
          <p:cNvPr id="48" name="Text 12">
            <a:extLst>
              <a:ext uri="{FF2B5EF4-FFF2-40B4-BE49-F238E27FC236}">
                <a16:creationId xmlns:a16="http://schemas.microsoft.com/office/drawing/2014/main" id="{B986F0FA-F7B7-FF14-2D7A-64B869CE6251}"/>
              </a:ext>
            </a:extLst>
          </p:cNvPr>
          <p:cNvSpPr/>
          <p:nvPr/>
        </p:nvSpPr>
        <p:spPr>
          <a:xfrm>
            <a:off x="4270248" y="2011680"/>
            <a:ext cx="1691640" cy="658368"/>
          </a:xfrm>
          <a:prstGeom prst="rect">
            <a:avLst/>
          </a:prstGeom>
          <a:noFill/>
          <a:ln/>
        </p:spPr>
        <p:txBody>
          <a:bodyPr wrap="square" rtlCol="0" anchor="ctr"/>
          <a:lstStyle/>
          <a:p>
            <a:pPr>
              <a:lnSpc>
                <a:spcPct val="115000"/>
              </a:lnSpc>
            </a:pPr>
            <a:r>
              <a:rPr lang="en-IN" sz="1000" dirty="0">
                <a:solidFill>
                  <a:srgbClr val="4A5A63"/>
                </a:solidFill>
                <a:latin typeface="Calibri" pitchFamily="34" charset="0"/>
                <a:ea typeface="Calibri" pitchFamily="34" charset="-122"/>
                <a:cs typeface="Calibri" pitchFamily="34" charset="-120"/>
              </a:rPr>
              <a:t>Data Subject Access Request</a:t>
            </a:r>
            <a:endParaRPr lang="en-US" sz="1000" dirty="0">
              <a:solidFill>
                <a:srgbClr val="4A5A63"/>
              </a:solidFill>
              <a:latin typeface="Calibri" pitchFamily="34" charset="0"/>
              <a:ea typeface="Calibri" pitchFamily="34" charset="-122"/>
              <a:cs typeface="Calibri" pitchFamily="34" charset="-120"/>
            </a:endParaRPr>
          </a:p>
        </p:txBody>
      </p:sp>
      <p:sp>
        <p:nvSpPr>
          <p:cNvPr id="50" name="Text 12">
            <a:extLst>
              <a:ext uri="{FF2B5EF4-FFF2-40B4-BE49-F238E27FC236}">
                <a16:creationId xmlns:a16="http://schemas.microsoft.com/office/drawing/2014/main" id="{F2726785-714A-297A-30AA-4343432E2D31}"/>
              </a:ext>
            </a:extLst>
          </p:cNvPr>
          <p:cNvSpPr/>
          <p:nvPr/>
        </p:nvSpPr>
        <p:spPr>
          <a:xfrm>
            <a:off x="1389888" y="4066032"/>
            <a:ext cx="1764792" cy="658368"/>
          </a:xfrm>
          <a:prstGeom prst="rect">
            <a:avLst/>
          </a:prstGeom>
          <a:noFill/>
          <a:ln/>
        </p:spPr>
        <p:txBody>
          <a:bodyPr wrap="square" rtlCol="0" anchor="ctr"/>
          <a:lstStyle/>
          <a:p>
            <a:pPr>
              <a:lnSpc>
                <a:spcPct val="115000"/>
              </a:lnSpc>
            </a:pPr>
            <a:r>
              <a:rPr lang="en-IN" sz="1000" dirty="0"/>
              <a:t>Record of Processing Activities</a:t>
            </a:r>
          </a:p>
          <a:p>
            <a:pPr>
              <a:lnSpc>
                <a:spcPct val="115000"/>
              </a:lnSpc>
            </a:pPr>
            <a:r>
              <a:rPr lang="en-IN" sz="1000" dirty="0">
                <a:solidFill>
                  <a:srgbClr val="4A5A63"/>
                </a:solidFill>
                <a:latin typeface="Calibri" pitchFamily="34" charset="0"/>
                <a:ea typeface="Calibri" pitchFamily="34" charset="-122"/>
                <a:cs typeface="Calibri" pitchFamily="34" charset="-120"/>
              </a:rPr>
              <a:t>(What, Why, Where, Who, How Long)</a:t>
            </a:r>
            <a:endParaRPr lang="en-US" sz="1000" dirty="0">
              <a:solidFill>
                <a:srgbClr val="4A5A63"/>
              </a:solidFill>
              <a:latin typeface="Calibri" pitchFamily="34" charset="0"/>
              <a:ea typeface="Calibri" pitchFamily="34" charset="-122"/>
              <a:cs typeface="Calibri" pitchFamily="34"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Platform Architecture</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One engine, fed by every source of truth, driving measurable business outcomes.</a:t>
            </a:r>
            <a:endParaRPr lang="en-US" sz="1400" dirty="0"/>
          </a:p>
        </p:txBody>
      </p:sp>
      <p:sp>
        <p:nvSpPr>
          <p:cNvPr id="4" name="Text 2"/>
          <p:cNvSpPr/>
          <p:nvPr/>
        </p:nvSpPr>
        <p:spPr>
          <a:xfrm>
            <a:off x="548640" y="1783080"/>
            <a:ext cx="3749040" cy="320040"/>
          </a:xfrm>
          <a:prstGeom prst="rect">
            <a:avLst/>
          </a:prstGeom>
          <a:noFill/>
          <a:ln/>
        </p:spPr>
        <p:txBody>
          <a:bodyPr wrap="square" rtlCol="0" anchor="ctr"/>
          <a:lstStyle/>
          <a:p>
            <a:pPr marL="0" indent="0" algn="l">
              <a:buNone/>
            </a:pPr>
            <a:r>
              <a:rPr lang="en-US" sz="1100" b="1" kern="0" spc="150" dirty="0">
                <a:solidFill>
                  <a:srgbClr val="F26722"/>
                </a:solidFill>
                <a:latin typeface="Calibri" pitchFamily="34" charset="0"/>
                <a:ea typeface="Calibri" pitchFamily="34" charset="-122"/>
                <a:cs typeface="Calibri" pitchFamily="34" charset="-120"/>
              </a:rPr>
              <a:t>INPUTS</a:t>
            </a:r>
            <a:endParaRPr lang="en-US" sz="1100" dirty="0"/>
          </a:p>
        </p:txBody>
      </p:sp>
      <p:sp>
        <p:nvSpPr>
          <p:cNvPr id="5" name="Text 3"/>
          <p:cNvSpPr/>
          <p:nvPr/>
        </p:nvSpPr>
        <p:spPr>
          <a:xfrm>
            <a:off x="4572000" y="1783080"/>
            <a:ext cx="3886200" cy="320040"/>
          </a:xfrm>
          <a:prstGeom prst="rect">
            <a:avLst/>
          </a:prstGeom>
          <a:noFill/>
          <a:ln/>
        </p:spPr>
        <p:txBody>
          <a:bodyPr wrap="square" rtlCol="0" anchor="ctr"/>
          <a:lstStyle/>
          <a:p>
            <a:pPr marL="0" indent="0" algn="ctr">
              <a:buNone/>
            </a:pPr>
            <a:r>
              <a:rPr lang="en-US" sz="1100" b="1" kern="0" spc="150" dirty="0">
                <a:solidFill>
                  <a:srgbClr val="F26722"/>
                </a:solidFill>
                <a:latin typeface="Calibri" pitchFamily="34" charset="0"/>
                <a:ea typeface="Calibri" pitchFamily="34" charset="-122"/>
                <a:cs typeface="Calibri" pitchFamily="34" charset="-120"/>
              </a:rPr>
              <a:t>Comply360 ENGINE</a:t>
            </a:r>
            <a:endParaRPr lang="en-US" sz="1100" dirty="0"/>
          </a:p>
        </p:txBody>
      </p:sp>
      <p:sp>
        <p:nvSpPr>
          <p:cNvPr id="6" name="Text 4"/>
          <p:cNvSpPr/>
          <p:nvPr/>
        </p:nvSpPr>
        <p:spPr>
          <a:xfrm>
            <a:off x="8732520" y="1783080"/>
            <a:ext cx="2880360" cy="320040"/>
          </a:xfrm>
          <a:prstGeom prst="rect">
            <a:avLst/>
          </a:prstGeom>
          <a:noFill/>
          <a:ln/>
        </p:spPr>
        <p:txBody>
          <a:bodyPr wrap="square" rtlCol="0" anchor="ctr"/>
          <a:lstStyle/>
          <a:p>
            <a:pPr marL="0" indent="0" algn="l">
              <a:buNone/>
            </a:pPr>
            <a:r>
              <a:rPr lang="en-US" sz="1100" b="1" kern="0" spc="150" dirty="0">
                <a:solidFill>
                  <a:srgbClr val="F26722"/>
                </a:solidFill>
                <a:latin typeface="Calibri" pitchFamily="34" charset="0"/>
                <a:ea typeface="Calibri" pitchFamily="34" charset="-122"/>
                <a:cs typeface="Calibri" pitchFamily="34" charset="-120"/>
              </a:rPr>
              <a:t>BUSINESS OUTCOMES</a:t>
            </a:r>
            <a:endParaRPr lang="en-US" sz="1100" dirty="0"/>
          </a:p>
        </p:txBody>
      </p:sp>
      <p:sp>
        <p:nvSpPr>
          <p:cNvPr id="7" name="Shape 5"/>
          <p:cNvSpPr/>
          <p:nvPr/>
        </p:nvSpPr>
        <p:spPr>
          <a:xfrm>
            <a:off x="548640" y="2194560"/>
            <a:ext cx="3749040" cy="1508760"/>
          </a:xfrm>
          <a:prstGeom prst="roundRect">
            <a:avLst>
              <a:gd name="adj" fmla="val 5455"/>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8" name="Text 6"/>
          <p:cNvSpPr/>
          <p:nvPr/>
        </p:nvSpPr>
        <p:spPr>
          <a:xfrm>
            <a:off x="731520" y="2322576"/>
            <a:ext cx="3383280" cy="320040"/>
          </a:xfrm>
          <a:prstGeom prst="rect">
            <a:avLst/>
          </a:prstGeom>
          <a:noFill/>
          <a:ln/>
        </p:spPr>
        <p:txBody>
          <a:bodyPr wrap="square" rtlCol="0" anchor="ctr"/>
          <a:lstStyle/>
          <a:p>
            <a:pPr marL="0" indent="0">
              <a:buNone/>
            </a:pPr>
            <a:r>
              <a:rPr lang="en-US" sz="1250" b="1" dirty="0">
                <a:solidFill>
                  <a:srgbClr val="021927"/>
                </a:solidFill>
                <a:latin typeface="Cambria" pitchFamily="34" charset="0"/>
                <a:ea typeface="Cambria" pitchFamily="34" charset="-122"/>
                <a:cs typeface="Cambria" pitchFamily="34" charset="-120"/>
              </a:rPr>
              <a:t>Regulatory Inputs</a:t>
            </a:r>
            <a:endParaRPr lang="en-US" sz="1250" dirty="0"/>
          </a:p>
        </p:txBody>
      </p:sp>
      <p:sp>
        <p:nvSpPr>
          <p:cNvPr id="9" name="Text 7"/>
          <p:cNvSpPr/>
          <p:nvPr/>
        </p:nvSpPr>
        <p:spPr>
          <a:xfrm>
            <a:off x="731520" y="2670048"/>
            <a:ext cx="3383280" cy="960120"/>
          </a:xfrm>
          <a:prstGeom prst="rect">
            <a:avLst/>
          </a:prstGeom>
          <a:noFill/>
          <a:ln/>
        </p:spPr>
        <p:txBody>
          <a:bodyPr wrap="square" rtlCol="0" anchor="ctr"/>
          <a:lstStyle/>
          <a:p>
            <a:pPr marL="0" indent="0">
              <a:lnSpc>
                <a:spcPct val="120000"/>
              </a:lnSpc>
              <a:buNone/>
            </a:pPr>
            <a:r>
              <a:rPr lang="en-US" sz="1000" dirty="0">
                <a:solidFill>
                  <a:srgbClr val="4A5A63"/>
                </a:solidFill>
                <a:latin typeface="Calibri" pitchFamily="34" charset="0"/>
                <a:ea typeface="Calibri" pitchFamily="34" charset="-122"/>
                <a:cs typeface="Calibri" pitchFamily="34" charset="-120"/>
              </a:rPr>
              <a:t>DPDP Act, 2023 &amp; Rules, 2025 · Other global privacy laws · Industry standards &amp; guidance · Regulatory updates</a:t>
            </a:r>
            <a:endParaRPr lang="en-US" sz="1000" dirty="0"/>
          </a:p>
        </p:txBody>
      </p:sp>
      <p:sp>
        <p:nvSpPr>
          <p:cNvPr id="10" name="Shape 8"/>
          <p:cNvSpPr/>
          <p:nvPr/>
        </p:nvSpPr>
        <p:spPr>
          <a:xfrm>
            <a:off x="548640" y="3931920"/>
            <a:ext cx="3749040" cy="1508760"/>
          </a:xfrm>
          <a:prstGeom prst="roundRect">
            <a:avLst>
              <a:gd name="adj" fmla="val 5455"/>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1" name="Text 9"/>
          <p:cNvSpPr/>
          <p:nvPr/>
        </p:nvSpPr>
        <p:spPr>
          <a:xfrm>
            <a:off x="731520" y="4059936"/>
            <a:ext cx="3383280" cy="320040"/>
          </a:xfrm>
          <a:prstGeom prst="rect">
            <a:avLst/>
          </a:prstGeom>
          <a:noFill/>
          <a:ln/>
        </p:spPr>
        <p:txBody>
          <a:bodyPr wrap="square" rtlCol="0" anchor="ctr"/>
          <a:lstStyle/>
          <a:p>
            <a:pPr marL="0" indent="0">
              <a:buNone/>
            </a:pPr>
            <a:r>
              <a:rPr lang="en-US" sz="1250" b="1" dirty="0">
                <a:solidFill>
                  <a:srgbClr val="021927"/>
                </a:solidFill>
                <a:latin typeface="Cambria" pitchFamily="34" charset="0"/>
                <a:ea typeface="Cambria" pitchFamily="34" charset="-122"/>
                <a:cs typeface="Cambria" pitchFamily="34" charset="-120"/>
              </a:rPr>
              <a:t>Enterprise Data Sources</a:t>
            </a:r>
            <a:endParaRPr lang="en-US" sz="1250" dirty="0"/>
          </a:p>
        </p:txBody>
      </p:sp>
      <p:sp>
        <p:nvSpPr>
          <p:cNvPr id="12" name="Text 10"/>
          <p:cNvSpPr/>
          <p:nvPr/>
        </p:nvSpPr>
        <p:spPr>
          <a:xfrm>
            <a:off x="731520" y="4407408"/>
            <a:ext cx="3383280" cy="960120"/>
          </a:xfrm>
          <a:prstGeom prst="rect">
            <a:avLst/>
          </a:prstGeom>
          <a:noFill/>
          <a:ln/>
        </p:spPr>
        <p:txBody>
          <a:bodyPr wrap="square" rtlCol="0" anchor="ctr"/>
          <a:lstStyle/>
          <a:p>
            <a:pPr marL="0" indent="0">
              <a:lnSpc>
                <a:spcPct val="120000"/>
              </a:lnSpc>
              <a:buNone/>
            </a:pPr>
            <a:r>
              <a:rPr lang="en-US" sz="1000" dirty="0">
                <a:solidFill>
                  <a:srgbClr val="4A5A63"/>
                </a:solidFill>
                <a:latin typeface="Calibri" pitchFamily="34" charset="0"/>
                <a:ea typeface="Calibri" pitchFamily="34" charset="-122"/>
                <a:cs typeface="Calibri" pitchFamily="34" charset="-120"/>
              </a:rPr>
              <a:t>Cloud &amp; SaaS applications · Databases &amp; servers · Files, docs &amp; email · APIs &amp; third-party systems</a:t>
            </a:r>
            <a:endParaRPr lang="en-US" sz="1000" dirty="0"/>
          </a:p>
        </p:txBody>
      </p:sp>
      <p:sp>
        <p:nvSpPr>
          <p:cNvPr id="13" name="Shape 11"/>
          <p:cNvSpPr/>
          <p:nvPr/>
        </p:nvSpPr>
        <p:spPr>
          <a:xfrm>
            <a:off x="4572000" y="2194560"/>
            <a:ext cx="3886200" cy="3246120"/>
          </a:xfrm>
          <a:prstGeom prst="roundRect">
            <a:avLst>
              <a:gd name="adj" fmla="val 2535"/>
            </a:avLst>
          </a:prstGeom>
          <a:solidFill>
            <a:srgbClr val="021927"/>
          </a:solidFill>
          <a:ln w="12700">
            <a:solidFill>
              <a:srgbClr val="E3D9C4"/>
            </a:solidFill>
            <a:prstDash val="solid"/>
          </a:ln>
        </p:spPr>
      </p:sp>
      <p:sp>
        <p:nvSpPr>
          <p:cNvPr id="14" name="Text 12"/>
          <p:cNvSpPr/>
          <p:nvPr/>
        </p:nvSpPr>
        <p:spPr>
          <a:xfrm>
            <a:off x="4800600" y="2377440"/>
            <a:ext cx="3429000" cy="685800"/>
          </a:xfrm>
          <a:prstGeom prst="rect">
            <a:avLst/>
          </a:prstGeom>
          <a:noFill/>
          <a:ln/>
        </p:spPr>
        <p:txBody>
          <a:bodyPr wrap="square" rtlCol="0" anchor="ctr"/>
          <a:lstStyle/>
          <a:p>
            <a:pPr marL="0" indent="0" algn="ctr">
              <a:lnSpc>
                <a:spcPct val="105000"/>
              </a:lnSpc>
              <a:buNone/>
            </a:pPr>
            <a:r>
              <a:rPr lang="en-US" sz="1600" b="1" dirty="0">
                <a:solidFill>
                  <a:srgbClr val="F4EEDE"/>
                </a:solidFill>
                <a:latin typeface="Cambria" pitchFamily="34" charset="0"/>
                <a:ea typeface="Cambria" pitchFamily="34" charset="-122"/>
                <a:cs typeface="Cambria" pitchFamily="34" charset="-120"/>
              </a:rPr>
              <a:t>Comply360 PRIVACY</a:t>
            </a:r>
            <a:endParaRPr lang="en-US" sz="1600" dirty="0"/>
          </a:p>
          <a:p>
            <a:pPr marL="0" indent="0" algn="ctr">
              <a:lnSpc>
                <a:spcPct val="105000"/>
              </a:lnSpc>
              <a:buNone/>
            </a:pPr>
            <a:r>
              <a:rPr lang="en-US" sz="1600" b="1" dirty="0">
                <a:solidFill>
                  <a:srgbClr val="F4EEDE"/>
                </a:solidFill>
                <a:latin typeface="Cambria" pitchFamily="34" charset="0"/>
                <a:ea typeface="Cambria" pitchFamily="34" charset="-122"/>
                <a:cs typeface="Cambria" pitchFamily="34" charset="-120"/>
              </a:rPr>
              <a:t>GOVERNANCE ENGINE</a:t>
            </a:r>
            <a:endParaRPr lang="en-US" sz="1600" dirty="0"/>
          </a:p>
        </p:txBody>
      </p:sp>
      <p:sp>
        <p:nvSpPr>
          <p:cNvPr id="15" name="Text 13"/>
          <p:cNvSpPr/>
          <p:nvPr/>
        </p:nvSpPr>
        <p:spPr>
          <a:xfrm>
            <a:off x="4800600" y="3063240"/>
            <a:ext cx="3429000" cy="320040"/>
          </a:xfrm>
          <a:prstGeom prst="rect">
            <a:avLst/>
          </a:prstGeom>
          <a:noFill/>
          <a:ln/>
        </p:spPr>
        <p:txBody>
          <a:bodyPr wrap="square" rtlCol="0" anchor="ctr"/>
          <a:lstStyle/>
          <a:p>
            <a:pPr marL="0" indent="0" algn="ctr">
              <a:buNone/>
            </a:pPr>
            <a:r>
              <a:rPr lang="en-US" sz="1000" i="1" dirty="0">
                <a:solidFill>
                  <a:srgbClr val="F9A87B"/>
                </a:solidFill>
                <a:latin typeface="Calibri" pitchFamily="34" charset="0"/>
                <a:ea typeface="Calibri" pitchFamily="34" charset="-122"/>
                <a:cs typeface="Calibri" pitchFamily="34" charset="-120"/>
              </a:rPr>
              <a:t>AI-powered · Intelligent · Automated · Integrated</a:t>
            </a:r>
            <a:endParaRPr lang="en-US" sz="1000" dirty="0"/>
          </a:p>
        </p:txBody>
      </p:sp>
      <p:sp>
        <p:nvSpPr>
          <p:cNvPr id="16" name="Shape 14"/>
          <p:cNvSpPr/>
          <p:nvPr/>
        </p:nvSpPr>
        <p:spPr>
          <a:xfrm>
            <a:off x="4800600" y="3520440"/>
            <a:ext cx="3429000" cy="457200"/>
          </a:xfrm>
          <a:prstGeom prst="roundRect">
            <a:avLst>
              <a:gd name="adj" fmla="val 12000"/>
            </a:avLst>
          </a:prstGeom>
          <a:solidFill>
            <a:srgbClr val="0B2C40"/>
          </a:solidFill>
          <a:ln/>
        </p:spPr>
      </p:sp>
      <p:sp>
        <p:nvSpPr>
          <p:cNvPr id="17" name="Text 15"/>
          <p:cNvSpPr/>
          <p:nvPr/>
        </p:nvSpPr>
        <p:spPr>
          <a:xfrm>
            <a:off x="4937760" y="3520440"/>
            <a:ext cx="1885950" cy="457200"/>
          </a:xfrm>
          <a:prstGeom prst="rect">
            <a:avLst/>
          </a:prstGeom>
          <a:noFill/>
          <a:ln/>
        </p:spPr>
        <p:txBody>
          <a:bodyPr wrap="square" rtlCol="0" anchor="ctr"/>
          <a:lstStyle/>
          <a:p>
            <a:pPr marL="0" indent="0">
              <a:buNone/>
            </a:pPr>
            <a:r>
              <a:rPr lang="en-US" sz="1050" b="1" dirty="0">
                <a:solidFill>
                  <a:srgbClr val="F4EEDE"/>
                </a:solidFill>
                <a:latin typeface="Calibri" pitchFamily="34" charset="0"/>
                <a:ea typeface="Calibri" pitchFamily="34" charset="-122"/>
                <a:cs typeface="Calibri" pitchFamily="34" charset="-120"/>
              </a:rPr>
              <a:t>Discovery &amp; Classification</a:t>
            </a:r>
            <a:endParaRPr lang="en-US" sz="1050" dirty="0"/>
          </a:p>
        </p:txBody>
      </p:sp>
      <p:sp>
        <p:nvSpPr>
          <p:cNvPr id="18" name="Text 16"/>
          <p:cNvSpPr/>
          <p:nvPr/>
        </p:nvSpPr>
        <p:spPr>
          <a:xfrm>
            <a:off x="6515100" y="3520440"/>
            <a:ext cx="1577340" cy="457200"/>
          </a:xfrm>
          <a:prstGeom prst="rect">
            <a:avLst/>
          </a:prstGeom>
          <a:noFill/>
          <a:ln/>
        </p:spPr>
        <p:txBody>
          <a:bodyPr wrap="square" rtlCol="0" anchor="ctr"/>
          <a:lstStyle/>
          <a:p>
            <a:pPr marL="0" indent="0" algn="r">
              <a:buNone/>
            </a:pPr>
            <a:r>
              <a:rPr lang="en-US" sz="950" dirty="0">
                <a:solidFill>
                  <a:srgbClr val="F9A87B"/>
                </a:solidFill>
                <a:latin typeface="Calibri" pitchFamily="34" charset="0"/>
                <a:ea typeface="Calibri" pitchFamily="34" charset="-122"/>
                <a:cs typeface="Calibri" pitchFamily="34" charset="-120"/>
              </a:rPr>
              <a:t>Automated, AI-tagged</a:t>
            </a:r>
            <a:endParaRPr lang="en-US" sz="950" dirty="0"/>
          </a:p>
        </p:txBody>
      </p:sp>
      <p:sp>
        <p:nvSpPr>
          <p:cNvPr id="19" name="Shape 17"/>
          <p:cNvSpPr/>
          <p:nvPr/>
        </p:nvSpPr>
        <p:spPr>
          <a:xfrm>
            <a:off x="4800600" y="4050792"/>
            <a:ext cx="3429000" cy="457200"/>
          </a:xfrm>
          <a:prstGeom prst="roundRect">
            <a:avLst>
              <a:gd name="adj" fmla="val 12000"/>
            </a:avLst>
          </a:prstGeom>
          <a:solidFill>
            <a:srgbClr val="0B2C40"/>
          </a:solidFill>
          <a:ln/>
        </p:spPr>
      </p:sp>
      <p:sp>
        <p:nvSpPr>
          <p:cNvPr id="20" name="Text 18"/>
          <p:cNvSpPr/>
          <p:nvPr/>
        </p:nvSpPr>
        <p:spPr>
          <a:xfrm>
            <a:off x="4937760" y="4050792"/>
            <a:ext cx="1885950" cy="457200"/>
          </a:xfrm>
          <a:prstGeom prst="rect">
            <a:avLst/>
          </a:prstGeom>
          <a:noFill/>
          <a:ln/>
        </p:spPr>
        <p:txBody>
          <a:bodyPr wrap="square" rtlCol="0" anchor="ctr"/>
          <a:lstStyle/>
          <a:p>
            <a:pPr marL="0" indent="0">
              <a:buNone/>
            </a:pPr>
            <a:r>
              <a:rPr lang="en-US" sz="1050" b="1" dirty="0">
                <a:solidFill>
                  <a:srgbClr val="F4EEDE"/>
                </a:solidFill>
                <a:latin typeface="Calibri" pitchFamily="34" charset="0"/>
                <a:ea typeface="Calibri" pitchFamily="34" charset="-122"/>
                <a:cs typeface="Calibri" pitchFamily="34" charset="-120"/>
              </a:rPr>
              <a:t>Assessments</a:t>
            </a:r>
            <a:endParaRPr lang="en-US" sz="1050" dirty="0"/>
          </a:p>
        </p:txBody>
      </p:sp>
      <p:sp>
        <p:nvSpPr>
          <p:cNvPr id="21" name="Text 19"/>
          <p:cNvSpPr/>
          <p:nvPr/>
        </p:nvSpPr>
        <p:spPr>
          <a:xfrm>
            <a:off x="6515100" y="4050792"/>
            <a:ext cx="1577340" cy="457200"/>
          </a:xfrm>
          <a:prstGeom prst="rect">
            <a:avLst/>
          </a:prstGeom>
          <a:noFill/>
          <a:ln/>
        </p:spPr>
        <p:txBody>
          <a:bodyPr wrap="square" rtlCol="0" anchor="ctr"/>
          <a:lstStyle/>
          <a:p>
            <a:pPr marL="0" indent="0" algn="r">
              <a:buNone/>
            </a:pPr>
            <a:r>
              <a:rPr lang="en-US" sz="950" dirty="0">
                <a:solidFill>
                  <a:srgbClr val="F9A87B"/>
                </a:solidFill>
                <a:latin typeface="Calibri" pitchFamily="34" charset="0"/>
                <a:ea typeface="Calibri" pitchFamily="34" charset="-122"/>
                <a:cs typeface="Calibri" pitchFamily="34" charset="-120"/>
              </a:rPr>
              <a:t>Gap, PIA, ROPA</a:t>
            </a:r>
            <a:endParaRPr lang="en-US" sz="950" dirty="0"/>
          </a:p>
        </p:txBody>
      </p:sp>
      <p:sp>
        <p:nvSpPr>
          <p:cNvPr id="22" name="Shape 20"/>
          <p:cNvSpPr/>
          <p:nvPr/>
        </p:nvSpPr>
        <p:spPr>
          <a:xfrm>
            <a:off x="4800600" y="4581144"/>
            <a:ext cx="3429000" cy="457200"/>
          </a:xfrm>
          <a:prstGeom prst="roundRect">
            <a:avLst>
              <a:gd name="adj" fmla="val 12000"/>
            </a:avLst>
          </a:prstGeom>
          <a:solidFill>
            <a:srgbClr val="0B2C40"/>
          </a:solidFill>
          <a:ln/>
        </p:spPr>
      </p:sp>
      <p:sp>
        <p:nvSpPr>
          <p:cNvPr id="23" name="Text 21"/>
          <p:cNvSpPr/>
          <p:nvPr/>
        </p:nvSpPr>
        <p:spPr>
          <a:xfrm>
            <a:off x="4937760" y="4581144"/>
            <a:ext cx="1885950" cy="457200"/>
          </a:xfrm>
          <a:prstGeom prst="rect">
            <a:avLst/>
          </a:prstGeom>
          <a:noFill/>
          <a:ln/>
        </p:spPr>
        <p:txBody>
          <a:bodyPr wrap="square" rtlCol="0" anchor="ctr"/>
          <a:lstStyle/>
          <a:p>
            <a:pPr marL="0" indent="0">
              <a:buNone/>
            </a:pPr>
            <a:r>
              <a:rPr lang="en-US" sz="1050" b="1" dirty="0">
                <a:solidFill>
                  <a:srgbClr val="F4EEDE"/>
                </a:solidFill>
                <a:latin typeface="Calibri" pitchFamily="34" charset="0"/>
                <a:ea typeface="Calibri" pitchFamily="34" charset="-122"/>
                <a:cs typeface="Calibri" pitchFamily="34" charset="-120"/>
              </a:rPr>
              <a:t>Consent &amp; DSAR</a:t>
            </a:r>
            <a:endParaRPr lang="en-US" sz="1050" dirty="0"/>
          </a:p>
        </p:txBody>
      </p:sp>
      <p:sp>
        <p:nvSpPr>
          <p:cNvPr id="24" name="Text 22"/>
          <p:cNvSpPr/>
          <p:nvPr/>
        </p:nvSpPr>
        <p:spPr>
          <a:xfrm>
            <a:off x="6515100" y="4581144"/>
            <a:ext cx="1577340" cy="457200"/>
          </a:xfrm>
          <a:prstGeom prst="rect">
            <a:avLst/>
          </a:prstGeom>
          <a:noFill/>
          <a:ln/>
        </p:spPr>
        <p:txBody>
          <a:bodyPr wrap="square" rtlCol="0" anchor="ctr"/>
          <a:lstStyle/>
          <a:p>
            <a:pPr marL="0" indent="0" algn="r">
              <a:buNone/>
            </a:pPr>
            <a:r>
              <a:rPr lang="en-US" sz="950" dirty="0">
                <a:solidFill>
                  <a:srgbClr val="F9A87B"/>
                </a:solidFill>
                <a:latin typeface="Calibri" pitchFamily="34" charset="0"/>
                <a:ea typeface="Calibri" pitchFamily="34" charset="-122"/>
                <a:cs typeface="Calibri" pitchFamily="34" charset="-120"/>
              </a:rPr>
              <a:t>Capture to fulfilment</a:t>
            </a:r>
            <a:endParaRPr lang="en-US" sz="950" dirty="0"/>
          </a:p>
        </p:txBody>
      </p:sp>
      <p:sp>
        <p:nvSpPr>
          <p:cNvPr id="25" name="Shape 23"/>
          <p:cNvSpPr/>
          <p:nvPr/>
        </p:nvSpPr>
        <p:spPr>
          <a:xfrm>
            <a:off x="4800600" y="5111496"/>
            <a:ext cx="3429000" cy="457200"/>
          </a:xfrm>
          <a:prstGeom prst="roundRect">
            <a:avLst>
              <a:gd name="adj" fmla="val 12000"/>
            </a:avLst>
          </a:prstGeom>
          <a:solidFill>
            <a:srgbClr val="0B2C40"/>
          </a:solidFill>
          <a:ln/>
        </p:spPr>
      </p:sp>
      <p:sp>
        <p:nvSpPr>
          <p:cNvPr id="26" name="Text 24"/>
          <p:cNvSpPr/>
          <p:nvPr/>
        </p:nvSpPr>
        <p:spPr>
          <a:xfrm>
            <a:off x="4937760" y="5111496"/>
            <a:ext cx="1885950" cy="457200"/>
          </a:xfrm>
          <a:prstGeom prst="rect">
            <a:avLst/>
          </a:prstGeom>
          <a:noFill/>
          <a:ln/>
        </p:spPr>
        <p:txBody>
          <a:bodyPr wrap="square" rtlCol="0" anchor="ctr"/>
          <a:lstStyle/>
          <a:p>
            <a:pPr marL="0" indent="0">
              <a:buNone/>
            </a:pPr>
            <a:r>
              <a:rPr lang="en-US" sz="1050" b="1" dirty="0">
                <a:solidFill>
                  <a:srgbClr val="F4EEDE"/>
                </a:solidFill>
                <a:latin typeface="Calibri" pitchFamily="34" charset="0"/>
                <a:ea typeface="Calibri" pitchFamily="34" charset="-122"/>
                <a:cs typeface="Calibri" pitchFamily="34" charset="-120"/>
              </a:rPr>
              <a:t>Breach Management</a:t>
            </a:r>
            <a:endParaRPr lang="en-US" sz="1050" dirty="0"/>
          </a:p>
        </p:txBody>
      </p:sp>
      <p:sp>
        <p:nvSpPr>
          <p:cNvPr id="27" name="Text 25"/>
          <p:cNvSpPr/>
          <p:nvPr/>
        </p:nvSpPr>
        <p:spPr>
          <a:xfrm>
            <a:off x="6515100" y="5111496"/>
            <a:ext cx="1577340" cy="457200"/>
          </a:xfrm>
          <a:prstGeom prst="rect">
            <a:avLst/>
          </a:prstGeom>
          <a:noFill/>
          <a:ln/>
        </p:spPr>
        <p:txBody>
          <a:bodyPr wrap="square" rtlCol="0" anchor="ctr"/>
          <a:lstStyle/>
          <a:p>
            <a:pPr marL="0" indent="0" algn="r">
              <a:buNone/>
            </a:pPr>
            <a:r>
              <a:rPr lang="en-US" sz="950" dirty="0">
                <a:solidFill>
                  <a:srgbClr val="F9A87B"/>
                </a:solidFill>
                <a:latin typeface="Calibri" pitchFamily="34" charset="0"/>
                <a:ea typeface="Calibri" pitchFamily="34" charset="-122"/>
                <a:cs typeface="Calibri" pitchFamily="34" charset="-120"/>
              </a:rPr>
              <a:t>Detect, respond, comply</a:t>
            </a:r>
            <a:endParaRPr lang="en-US" sz="950" dirty="0"/>
          </a:p>
        </p:txBody>
      </p:sp>
      <p:sp>
        <p:nvSpPr>
          <p:cNvPr id="28" name="Shape 26"/>
          <p:cNvSpPr/>
          <p:nvPr/>
        </p:nvSpPr>
        <p:spPr>
          <a:xfrm>
            <a:off x="8732520" y="2194560"/>
            <a:ext cx="2880360" cy="530352"/>
          </a:xfrm>
          <a:prstGeom prst="roundRect">
            <a:avLst>
              <a:gd name="adj" fmla="val 13793"/>
            </a:avLst>
          </a:prstGeom>
          <a:solidFill>
            <a:srgbClr val="FBE7D5"/>
          </a:solidFill>
          <a:ln/>
        </p:spPr>
      </p:sp>
      <p:sp>
        <p:nvSpPr>
          <p:cNvPr id="29" name="Text 27"/>
          <p:cNvSpPr/>
          <p:nvPr/>
        </p:nvSpPr>
        <p:spPr>
          <a:xfrm>
            <a:off x="8897112" y="2194560"/>
            <a:ext cx="2551176" cy="530352"/>
          </a:xfrm>
          <a:prstGeom prst="rect">
            <a:avLst/>
          </a:prstGeom>
          <a:noFill/>
          <a:ln/>
        </p:spPr>
        <p:txBody>
          <a:bodyPr wrap="square" rtlCol="0" anchor="ctr"/>
          <a:lstStyle/>
          <a:p>
            <a:pPr marL="0" indent="0">
              <a:lnSpc>
                <a:spcPct val="105000"/>
              </a:lnSpc>
              <a:buNone/>
            </a:pPr>
            <a:r>
              <a:rPr lang="en-US" sz="1050" b="1" dirty="0">
                <a:solidFill>
                  <a:srgbClr val="021927"/>
                </a:solidFill>
                <a:latin typeface="Calibri" pitchFamily="34" charset="0"/>
                <a:ea typeface="Calibri" pitchFamily="34" charset="-122"/>
                <a:cs typeface="Calibri" pitchFamily="34" charset="-120"/>
              </a:rPr>
              <a:t>DPDP compliance, met with confidence</a:t>
            </a:r>
            <a:endParaRPr lang="en-US" sz="1050" dirty="0"/>
          </a:p>
        </p:txBody>
      </p:sp>
      <p:sp>
        <p:nvSpPr>
          <p:cNvPr id="30" name="Shape 28"/>
          <p:cNvSpPr/>
          <p:nvPr/>
        </p:nvSpPr>
        <p:spPr>
          <a:xfrm>
            <a:off x="8732520" y="2816352"/>
            <a:ext cx="2880360" cy="530352"/>
          </a:xfrm>
          <a:prstGeom prst="roundRect">
            <a:avLst>
              <a:gd name="adj" fmla="val 13793"/>
            </a:avLst>
          </a:prstGeom>
          <a:solidFill>
            <a:srgbClr val="FBE7D5"/>
          </a:solidFill>
          <a:ln/>
        </p:spPr>
      </p:sp>
      <p:sp>
        <p:nvSpPr>
          <p:cNvPr id="31" name="Text 29"/>
          <p:cNvSpPr/>
          <p:nvPr/>
        </p:nvSpPr>
        <p:spPr>
          <a:xfrm>
            <a:off x="8897112" y="2816352"/>
            <a:ext cx="2551176" cy="530352"/>
          </a:xfrm>
          <a:prstGeom prst="rect">
            <a:avLst/>
          </a:prstGeom>
          <a:noFill/>
          <a:ln/>
        </p:spPr>
        <p:txBody>
          <a:bodyPr wrap="square" rtlCol="0" anchor="ctr"/>
          <a:lstStyle/>
          <a:p>
            <a:pPr marL="0" indent="0">
              <a:lnSpc>
                <a:spcPct val="105000"/>
              </a:lnSpc>
              <a:buNone/>
            </a:pPr>
            <a:r>
              <a:rPr lang="en-US" sz="1050" b="1" dirty="0">
                <a:solidFill>
                  <a:srgbClr val="021927"/>
                </a:solidFill>
                <a:latin typeface="Calibri" pitchFamily="34" charset="0"/>
                <a:ea typeface="Calibri" pitchFamily="34" charset="-122"/>
                <a:cs typeface="Calibri" pitchFamily="34" charset="-120"/>
              </a:rPr>
              <a:t>Faster privacy operations</a:t>
            </a:r>
            <a:endParaRPr lang="en-US" sz="1050" dirty="0"/>
          </a:p>
        </p:txBody>
      </p:sp>
      <p:sp>
        <p:nvSpPr>
          <p:cNvPr id="32" name="Shape 30"/>
          <p:cNvSpPr/>
          <p:nvPr/>
        </p:nvSpPr>
        <p:spPr>
          <a:xfrm>
            <a:off x="8732520" y="3438144"/>
            <a:ext cx="2880360" cy="530352"/>
          </a:xfrm>
          <a:prstGeom prst="roundRect">
            <a:avLst>
              <a:gd name="adj" fmla="val 13793"/>
            </a:avLst>
          </a:prstGeom>
          <a:solidFill>
            <a:srgbClr val="FBE7D5"/>
          </a:solidFill>
          <a:ln/>
        </p:spPr>
      </p:sp>
      <p:sp>
        <p:nvSpPr>
          <p:cNvPr id="33" name="Text 31"/>
          <p:cNvSpPr/>
          <p:nvPr/>
        </p:nvSpPr>
        <p:spPr>
          <a:xfrm>
            <a:off x="8897112" y="3438144"/>
            <a:ext cx="2551176" cy="530352"/>
          </a:xfrm>
          <a:prstGeom prst="rect">
            <a:avLst/>
          </a:prstGeom>
          <a:noFill/>
          <a:ln/>
        </p:spPr>
        <p:txBody>
          <a:bodyPr wrap="square" rtlCol="0" anchor="ctr"/>
          <a:lstStyle/>
          <a:p>
            <a:pPr marL="0" indent="0">
              <a:lnSpc>
                <a:spcPct val="105000"/>
              </a:lnSpc>
              <a:buNone/>
            </a:pPr>
            <a:r>
              <a:rPr lang="en-US" sz="1050" b="1" dirty="0">
                <a:solidFill>
                  <a:srgbClr val="021927"/>
                </a:solidFill>
                <a:latin typeface="Calibri" pitchFamily="34" charset="0"/>
                <a:ea typeface="Calibri" pitchFamily="34" charset="-122"/>
                <a:cs typeface="Calibri" pitchFamily="34" charset="-120"/>
              </a:rPr>
              <a:t>Reduced regulatory risk</a:t>
            </a:r>
            <a:endParaRPr lang="en-US" sz="1050" dirty="0"/>
          </a:p>
        </p:txBody>
      </p:sp>
      <p:sp>
        <p:nvSpPr>
          <p:cNvPr id="34" name="Shape 32"/>
          <p:cNvSpPr/>
          <p:nvPr/>
        </p:nvSpPr>
        <p:spPr>
          <a:xfrm>
            <a:off x="8732520" y="4059936"/>
            <a:ext cx="2880360" cy="530352"/>
          </a:xfrm>
          <a:prstGeom prst="roundRect">
            <a:avLst>
              <a:gd name="adj" fmla="val 13793"/>
            </a:avLst>
          </a:prstGeom>
          <a:solidFill>
            <a:srgbClr val="FBE7D5"/>
          </a:solidFill>
          <a:ln/>
        </p:spPr>
      </p:sp>
      <p:sp>
        <p:nvSpPr>
          <p:cNvPr id="35" name="Text 33"/>
          <p:cNvSpPr/>
          <p:nvPr/>
        </p:nvSpPr>
        <p:spPr>
          <a:xfrm>
            <a:off x="8897112" y="4059936"/>
            <a:ext cx="2551176" cy="530352"/>
          </a:xfrm>
          <a:prstGeom prst="rect">
            <a:avLst/>
          </a:prstGeom>
          <a:noFill/>
          <a:ln/>
        </p:spPr>
        <p:txBody>
          <a:bodyPr wrap="square" rtlCol="0" anchor="ctr"/>
          <a:lstStyle/>
          <a:p>
            <a:pPr marL="0" indent="0">
              <a:lnSpc>
                <a:spcPct val="105000"/>
              </a:lnSpc>
              <a:buNone/>
            </a:pPr>
            <a:r>
              <a:rPr lang="en-US" sz="1050" b="1" dirty="0">
                <a:solidFill>
                  <a:srgbClr val="021927"/>
                </a:solidFill>
                <a:latin typeface="Calibri" pitchFamily="34" charset="0"/>
                <a:ea typeface="Calibri" pitchFamily="34" charset="-122"/>
                <a:cs typeface="Calibri" pitchFamily="34" charset="-120"/>
              </a:rPr>
              <a:t>Audit readiness, always</a:t>
            </a:r>
            <a:endParaRPr lang="en-US" sz="1050" dirty="0"/>
          </a:p>
        </p:txBody>
      </p:sp>
      <p:sp>
        <p:nvSpPr>
          <p:cNvPr id="36" name="Shape 34"/>
          <p:cNvSpPr/>
          <p:nvPr/>
        </p:nvSpPr>
        <p:spPr>
          <a:xfrm>
            <a:off x="8732520" y="4681728"/>
            <a:ext cx="2880360" cy="530352"/>
          </a:xfrm>
          <a:prstGeom prst="roundRect">
            <a:avLst>
              <a:gd name="adj" fmla="val 13793"/>
            </a:avLst>
          </a:prstGeom>
          <a:solidFill>
            <a:srgbClr val="FBE7D5"/>
          </a:solidFill>
          <a:ln/>
        </p:spPr>
      </p:sp>
      <p:sp>
        <p:nvSpPr>
          <p:cNvPr id="37" name="Text 35"/>
          <p:cNvSpPr/>
          <p:nvPr/>
        </p:nvSpPr>
        <p:spPr>
          <a:xfrm>
            <a:off x="8897112" y="4681728"/>
            <a:ext cx="2551176" cy="530352"/>
          </a:xfrm>
          <a:prstGeom prst="rect">
            <a:avLst/>
          </a:prstGeom>
          <a:noFill/>
          <a:ln/>
        </p:spPr>
        <p:txBody>
          <a:bodyPr wrap="square" rtlCol="0" anchor="ctr"/>
          <a:lstStyle/>
          <a:p>
            <a:pPr marL="0" indent="0">
              <a:lnSpc>
                <a:spcPct val="105000"/>
              </a:lnSpc>
              <a:buNone/>
            </a:pPr>
            <a:r>
              <a:rPr lang="en-US" sz="1050" b="1" dirty="0">
                <a:solidFill>
                  <a:srgbClr val="021927"/>
                </a:solidFill>
                <a:latin typeface="Calibri" pitchFamily="34" charset="0"/>
                <a:ea typeface="Calibri" pitchFamily="34" charset="-122"/>
                <a:cs typeface="Calibri" pitchFamily="34" charset="-120"/>
              </a:rPr>
              <a:t>Executive visibility</a:t>
            </a:r>
            <a:endParaRPr lang="en-US" sz="1050" dirty="0"/>
          </a:p>
        </p:txBody>
      </p:sp>
      <p:sp>
        <p:nvSpPr>
          <p:cNvPr id="38" name="Shape 36"/>
          <p:cNvSpPr/>
          <p:nvPr/>
        </p:nvSpPr>
        <p:spPr>
          <a:xfrm>
            <a:off x="548640" y="5623560"/>
            <a:ext cx="11091672" cy="502920"/>
          </a:xfrm>
          <a:prstGeom prst="roundRect">
            <a:avLst>
              <a:gd name="adj" fmla="val 16364"/>
            </a:avLst>
          </a:prstGeom>
          <a:solidFill>
            <a:srgbClr val="FFFFFF"/>
          </a:solidFill>
          <a:ln w="12700">
            <a:solidFill>
              <a:srgbClr val="E3D9C4"/>
            </a:solidFill>
            <a:prstDash val="solid"/>
          </a:ln>
        </p:spPr>
      </p:sp>
      <p:sp>
        <p:nvSpPr>
          <p:cNvPr id="39" name="Text 37"/>
          <p:cNvSpPr/>
          <p:nvPr/>
        </p:nvSpPr>
        <p:spPr>
          <a:xfrm>
            <a:off x="548640" y="5623560"/>
            <a:ext cx="11091672" cy="502920"/>
          </a:xfrm>
          <a:prstGeom prst="rect">
            <a:avLst/>
          </a:prstGeom>
          <a:noFill/>
          <a:ln/>
        </p:spPr>
        <p:txBody>
          <a:bodyPr wrap="square" rtlCol="0" anchor="ctr"/>
          <a:lstStyle/>
          <a:p>
            <a:pPr marL="0" indent="0" algn="ctr">
              <a:buNone/>
            </a:pPr>
            <a:r>
              <a:rPr lang="en-US" sz="1300" b="1" i="1" dirty="0">
                <a:solidFill>
                  <a:srgbClr val="F26722"/>
                </a:solidFill>
                <a:latin typeface="Cambria" pitchFamily="34" charset="0"/>
                <a:ea typeface="Cambria" pitchFamily="34" charset="-122"/>
                <a:cs typeface="Cambria" pitchFamily="34" charset="-120"/>
              </a:rPr>
              <a:t>One platform. Complete privacy lifecycle. Built for DPDP &amp; beyond.</a:t>
            </a:r>
            <a:endParaRPr lang="en-US" sz="1300" dirty="0"/>
          </a:p>
        </p:txBody>
      </p:sp>
      <p:sp>
        <p:nvSpPr>
          <p:cNvPr id="40" name="Text 38"/>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41" name="Text 39"/>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The Comply360 Guided Approach</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Six connected steps — from finding personal data to proving you to protect it. A continuous loop, not a one-time project.</a:t>
            </a:r>
            <a:endParaRPr lang="en-US" sz="1400" dirty="0"/>
          </a:p>
        </p:txBody>
      </p:sp>
      <p:sp>
        <p:nvSpPr>
          <p:cNvPr id="4" name="Shape 2"/>
          <p:cNvSpPr/>
          <p:nvPr/>
        </p:nvSpPr>
        <p:spPr>
          <a:xfrm>
            <a:off x="548640" y="1965960"/>
            <a:ext cx="1737360" cy="3246120"/>
          </a:xfrm>
          <a:prstGeom prst="roundRect">
            <a:avLst>
              <a:gd name="adj" fmla="val 4737"/>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5" name="Shape 3"/>
          <p:cNvSpPr/>
          <p:nvPr/>
        </p:nvSpPr>
        <p:spPr>
          <a:xfrm>
            <a:off x="1188720" y="2194560"/>
            <a:ext cx="457200" cy="457200"/>
          </a:xfrm>
          <a:prstGeom prst="ellipse">
            <a:avLst/>
          </a:prstGeom>
          <a:solidFill>
            <a:srgbClr val="F26722"/>
          </a:solidFill>
          <a:ln/>
        </p:spPr>
      </p:sp>
      <p:sp>
        <p:nvSpPr>
          <p:cNvPr id="6" name="Text 4"/>
          <p:cNvSpPr/>
          <p:nvPr/>
        </p:nvSpPr>
        <p:spPr>
          <a:xfrm>
            <a:off x="1188720" y="219456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640080" y="2834640"/>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Discover</a:t>
            </a:r>
            <a:endParaRPr lang="en-US" sz="1350" dirty="0"/>
          </a:p>
        </p:txBody>
      </p:sp>
      <p:sp>
        <p:nvSpPr>
          <p:cNvPr id="8" name="Text 6"/>
          <p:cNvSpPr/>
          <p:nvPr/>
        </p:nvSpPr>
        <p:spPr>
          <a:xfrm>
            <a:off x="685800" y="3474720"/>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Find personal data with agents or agentless scans across systems and files.</a:t>
            </a:r>
            <a:endParaRPr lang="en-US" sz="970" dirty="0"/>
          </a:p>
        </p:txBody>
      </p:sp>
      <p:sp>
        <p:nvSpPr>
          <p:cNvPr id="9" name="Text 7"/>
          <p:cNvSpPr/>
          <p:nvPr/>
        </p:nvSpPr>
        <p:spPr>
          <a:xfrm>
            <a:off x="2267712" y="3360420"/>
            <a:ext cx="292608" cy="457200"/>
          </a:xfrm>
          <a:prstGeom prst="rect">
            <a:avLst/>
          </a:prstGeom>
          <a:noFill/>
          <a:ln/>
        </p:spPr>
        <p:txBody>
          <a:bodyPr wrap="square" rtlCol="0" anchor="ctr"/>
          <a:lstStyle/>
          <a:p>
            <a:pPr marL="0" indent="0" algn="ctr">
              <a:buNone/>
            </a:pPr>
            <a:r>
              <a:rPr lang="en-US" sz="1800" b="1" dirty="0">
                <a:solidFill>
                  <a:srgbClr val="F26722"/>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542032" y="1975104"/>
            <a:ext cx="1737360" cy="3246120"/>
          </a:xfrm>
          <a:prstGeom prst="roundRect">
            <a:avLst>
              <a:gd name="adj" fmla="val 4737"/>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11" name="Shape 9"/>
          <p:cNvSpPr/>
          <p:nvPr/>
        </p:nvSpPr>
        <p:spPr>
          <a:xfrm>
            <a:off x="3127248" y="2203704"/>
            <a:ext cx="457200" cy="457200"/>
          </a:xfrm>
          <a:prstGeom prst="ellipse">
            <a:avLst/>
          </a:prstGeom>
          <a:solidFill>
            <a:srgbClr val="F26722"/>
          </a:solidFill>
          <a:ln/>
        </p:spPr>
      </p:sp>
      <p:sp>
        <p:nvSpPr>
          <p:cNvPr id="12" name="Text 10"/>
          <p:cNvSpPr/>
          <p:nvPr/>
        </p:nvSpPr>
        <p:spPr>
          <a:xfrm>
            <a:off x="3127248" y="2203704"/>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578608" y="2843784"/>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Classify</a:t>
            </a:r>
            <a:endParaRPr lang="en-US" sz="1350" dirty="0"/>
          </a:p>
        </p:txBody>
      </p:sp>
      <p:sp>
        <p:nvSpPr>
          <p:cNvPr id="14" name="Text 12"/>
          <p:cNvSpPr/>
          <p:nvPr/>
        </p:nvSpPr>
        <p:spPr>
          <a:xfrm>
            <a:off x="2624328" y="3483864"/>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Label structured and unstructured data so sensitivity and purpose are clear.</a:t>
            </a:r>
            <a:endParaRPr lang="en-US" sz="970" dirty="0"/>
          </a:p>
        </p:txBody>
      </p:sp>
      <p:sp>
        <p:nvSpPr>
          <p:cNvPr id="15" name="Text 13"/>
          <p:cNvSpPr/>
          <p:nvPr/>
        </p:nvSpPr>
        <p:spPr>
          <a:xfrm>
            <a:off x="4142232" y="3360420"/>
            <a:ext cx="292608" cy="457200"/>
          </a:xfrm>
          <a:prstGeom prst="rect">
            <a:avLst/>
          </a:prstGeom>
          <a:noFill/>
          <a:ln/>
        </p:spPr>
        <p:txBody>
          <a:bodyPr wrap="square" rtlCol="0" anchor="ctr"/>
          <a:lstStyle/>
          <a:p>
            <a:pPr marL="0" indent="0" algn="ctr">
              <a:buNone/>
            </a:pPr>
            <a:r>
              <a:rPr lang="en-US" sz="1800" b="1" dirty="0">
                <a:solidFill>
                  <a:srgbClr val="F26722"/>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4409694" y="1965960"/>
            <a:ext cx="1737360" cy="3246120"/>
          </a:xfrm>
          <a:prstGeom prst="roundRect">
            <a:avLst>
              <a:gd name="adj" fmla="val 4737"/>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7" name="Shape 15"/>
          <p:cNvSpPr/>
          <p:nvPr/>
        </p:nvSpPr>
        <p:spPr>
          <a:xfrm>
            <a:off x="4937760" y="2194560"/>
            <a:ext cx="457200" cy="457200"/>
          </a:xfrm>
          <a:prstGeom prst="ellipse">
            <a:avLst/>
          </a:prstGeom>
          <a:solidFill>
            <a:srgbClr val="F26722"/>
          </a:solidFill>
          <a:ln/>
        </p:spPr>
      </p:sp>
      <p:sp>
        <p:nvSpPr>
          <p:cNvPr id="18" name="Text 16"/>
          <p:cNvSpPr/>
          <p:nvPr/>
        </p:nvSpPr>
        <p:spPr>
          <a:xfrm>
            <a:off x="4937760" y="219456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4389120" y="2834640"/>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Map &amp; Assess</a:t>
            </a:r>
            <a:endParaRPr lang="en-US" sz="1350" dirty="0"/>
          </a:p>
        </p:txBody>
      </p:sp>
      <p:sp>
        <p:nvSpPr>
          <p:cNvPr id="20" name="Text 18"/>
          <p:cNvSpPr/>
          <p:nvPr/>
        </p:nvSpPr>
        <p:spPr>
          <a:xfrm>
            <a:off x="4434840" y="3474720"/>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Build ROPA, run Gap Assessments and PIAs on real processing activity.</a:t>
            </a:r>
            <a:endParaRPr lang="en-US" sz="970" dirty="0"/>
          </a:p>
        </p:txBody>
      </p:sp>
      <p:sp>
        <p:nvSpPr>
          <p:cNvPr id="21" name="Text 19"/>
          <p:cNvSpPr/>
          <p:nvPr/>
        </p:nvSpPr>
        <p:spPr>
          <a:xfrm>
            <a:off x="6016752" y="3360420"/>
            <a:ext cx="292608" cy="457200"/>
          </a:xfrm>
          <a:prstGeom prst="rect">
            <a:avLst/>
          </a:prstGeom>
          <a:noFill/>
          <a:ln/>
        </p:spPr>
        <p:txBody>
          <a:bodyPr wrap="square" rtlCol="0" anchor="ctr"/>
          <a:lstStyle/>
          <a:p>
            <a:pPr marL="0" indent="0" algn="ctr">
              <a:buNone/>
            </a:pPr>
            <a:r>
              <a:rPr lang="en-US" sz="1800" b="1" dirty="0">
                <a:solidFill>
                  <a:srgbClr val="F26722"/>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6240780" y="1965960"/>
            <a:ext cx="1737360" cy="3246120"/>
          </a:xfrm>
          <a:prstGeom prst="roundRect">
            <a:avLst>
              <a:gd name="adj" fmla="val 4737"/>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23" name="Shape 21"/>
          <p:cNvSpPr/>
          <p:nvPr/>
        </p:nvSpPr>
        <p:spPr>
          <a:xfrm>
            <a:off x="6812280" y="2194560"/>
            <a:ext cx="457200" cy="457200"/>
          </a:xfrm>
          <a:prstGeom prst="ellipse">
            <a:avLst/>
          </a:prstGeom>
          <a:solidFill>
            <a:srgbClr val="F26722"/>
          </a:solidFill>
          <a:ln/>
        </p:spPr>
      </p:sp>
      <p:sp>
        <p:nvSpPr>
          <p:cNvPr id="24" name="Text 22"/>
          <p:cNvSpPr/>
          <p:nvPr/>
        </p:nvSpPr>
        <p:spPr>
          <a:xfrm>
            <a:off x="6812280" y="219456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6263640" y="2834640"/>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Operate Rights</a:t>
            </a:r>
            <a:endParaRPr lang="en-US" sz="1350" dirty="0"/>
          </a:p>
        </p:txBody>
      </p:sp>
      <p:sp>
        <p:nvSpPr>
          <p:cNvPr id="26" name="Text 24"/>
          <p:cNvSpPr/>
          <p:nvPr/>
        </p:nvSpPr>
        <p:spPr>
          <a:xfrm>
            <a:off x="6309360" y="3474720"/>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Manage Consent, DSAR and third-party risk from one workspace.</a:t>
            </a:r>
            <a:endParaRPr lang="en-US" sz="970" dirty="0"/>
          </a:p>
        </p:txBody>
      </p:sp>
      <p:sp>
        <p:nvSpPr>
          <p:cNvPr id="27" name="Text 25"/>
          <p:cNvSpPr/>
          <p:nvPr/>
        </p:nvSpPr>
        <p:spPr>
          <a:xfrm>
            <a:off x="7891272" y="3360420"/>
            <a:ext cx="292608" cy="457200"/>
          </a:xfrm>
          <a:prstGeom prst="rect">
            <a:avLst/>
          </a:prstGeom>
          <a:noFill/>
          <a:ln/>
        </p:spPr>
        <p:txBody>
          <a:bodyPr wrap="square" rtlCol="0" anchor="ctr"/>
          <a:lstStyle/>
          <a:p>
            <a:pPr marL="0" indent="0" algn="ctr">
              <a:buNone/>
            </a:pPr>
            <a:r>
              <a:rPr lang="en-US" sz="1800" b="1" dirty="0">
                <a:solidFill>
                  <a:srgbClr val="F26722"/>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8115300" y="1965960"/>
            <a:ext cx="1737360" cy="3246120"/>
          </a:xfrm>
          <a:prstGeom prst="roundRect">
            <a:avLst>
              <a:gd name="adj" fmla="val 4737"/>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9" name="Shape 27"/>
          <p:cNvSpPr/>
          <p:nvPr/>
        </p:nvSpPr>
        <p:spPr>
          <a:xfrm>
            <a:off x="8755380" y="2194560"/>
            <a:ext cx="457200" cy="457200"/>
          </a:xfrm>
          <a:prstGeom prst="ellipse">
            <a:avLst/>
          </a:prstGeom>
          <a:solidFill>
            <a:srgbClr val="F26722"/>
          </a:solidFill>
          <a:ln/>
        </p:spPr>
      </p:sp>
      <p:sp>
        <p:nvSpPr>
          <p:cNvPr id="30" name="Text 28"/>
          <p:cNvSpPr/>
          <p:nvPr/>
        </p:nvSpPr>
        <p:spPr>
          <a:xfrm>
            <a:off x="8755380" y="219456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8206740" y="2834640"/>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AI Policies</a:t>
            </a:r>
            <a:endParaRPr lang="en-US" sz="1350" dirty="0"/>
          </a:p>
        </p:txBody>
      </p:sp>
      <p:sp>
        <p:nvSpPr>
          <p:cNvPr id="32" name="Text 30"/>
          <p:cNvSpPr/>
          <p:nvPr/>
        </p:nvSpPr>
        <p:spPr>
          <a:xfrm>
            <a:off x="8252460" y="3474720"/>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Generate, review and publish policies in the Policy Store, linked to controls.</a:t>
            </a:r>
            <a:endParaRPr lang="en-US" sz="970" dirty="0"/>
          </a:p>
        </p:txBody>
      </p:sp>
      <p:sp>
        <p:nvSpPr>
          <p:cNvPr id="33" name="Text 31"/>
          <p:cNvSpPr/>
          <p:nvPr/>
        </p:nvSpPr>
        <p:spPr>
          <a:xfrm>
            <a:off x="9765792" y="3360420"/>
            <a:ext cx="292608" cy="457200"/>
          </a:xfrm>
          <a:prstGeom prst="rect">
            <a:avLst/>
          </a:prstGeom>
          <a:noFill/>
          <a:ln/>
        </p:spPr>
        <p:txBody>
          <a:bodyPr wrap="square" rtlCol="0" anchor="ctr"/>
          <a:lstStyle/>
          <a:p>
            <a:pPr marL="0" indent="0" algn="ctr">
              <a:buNone/>
            </a:pPr>
            <a:r>
              <a:rPr lang="en-US" sz="1800" b="1" dirty="0">
                <a:solidFill>
                  <a:srgbClr val="F26722"/>
                </a:solidFill>
                <a:latin typeface="Calibri" pitchFamily="34" charset="0"/>
                <a:ea typeface="Calibri" pitchFamily="34" charset="-122"/>
                <a:cs typeface="Calibri" pitchFamily="34" charset="-120"/>
              </a:rPr>
              <a:t>→</a:t>
            </a:r>
            <a:endParaRPr lang="en-US" sz="1800" dirty="0"/>
          </a:p>
        </p:txBody>
      </p:sp>
      <p:sp>
        <p:nvSpPr>
          <p:cNvPr id="34" name="Shape 32"/>
          <p:cNvSpPr/>
          <p:nvPr/>
        </p:nvSpPr>
        <p:spPr>
          <a:xfrm>
            <a:off x="10058400" y="1965960"/>
            <a:ext cx="1737360" cy="3246120"/>
          </a:xfrm>
          <a:prstGeom prst="roundRect">
            <a:avLst>
              <a:gd name="adj" fmla="val 4737"/>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35" name="Shape 33"/>
          <p:cNvSpPr/>
          <p:nvPr/>
        </p:nvSpPr>
        <p:spPr>
          <a:xfrm>
            <a:off x="10698480" y="2194560"/>
            <a:ext cx="457200" cy="457200"/>
          </a:xfrm>
          <a:prstGeom prst="ellipse">
            <a:avLst/>
          </a:prstGeom>
          <a:solidFill>
            <a:srgbClr val="F26722"/>
          </a:solidFill>
          <a:ln/>
        </p:spPr>
      </p:sp>
      <p:sp>
        <p:nvSpPr>
          <p:cNvPr id="36" name="Text 34"/>
          <p:cNvSpPr/>
          <p:nvPr/>
        </p:nvSpPr>
        <p:spPr>
          <a:xfrm>
            <a:off x="10698480" y="2194560"/>
            <a:ext cx="457200" cy="45720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7" name="Text 35"/>
          <p:cNvSpPr/>
          <p:nvPr/>
        </p:nvSpPr>
        <p:spPr>
          <a:xfrm>
            <a:off x="10149840" y="2834640"/>
            <a:ext cx="1554480" cy="594360"/>
          </a:xfrm>
          <a:prstGeom prst="rect">
            <a:avLst/>
          </a:prstGeom>
          <a:noFill/>
          <a:ln/>
        </p:spPr>
        <p:txBody>
          <a:bodyPr wrap="square" rtlCol="0" anchor="ctr"/>
          <a:lstStyle/>
          <a:p>
            <a:pPr marL="0" indent="0" algn="ctr">
              <a:lnSpc>
                <a:spcPct val="100000"/>
              </a:lnSpc>
              <a:buNone/>
            </a:pPr>
            <a:r>
              <a:rPr lang="en-US" sz="1350" b="1" dirty="0">
                <a:solidFill>
                  <a:srgbClr val="021927"/>
                </a:solidFill>
                <a:latin typeface="Cambria" pitchFamily="34" charset="0"/>
                <a:ea typeface="Cambria" pitchFamily="34" charset="-122"/>
                <a:cs typeface="Cambria" pitchFamily="34" charset="-120"/>
              </a:rPr>
              <a:t>Govern &amp; Prove</a:t>
            </a:r>
            <a:endParaRPr lang="en-US" sz="1350" dirty="0"/>
          </a:p>
        </p:txBody>
      </p:sp>
      <p:sp>
        <p:nvSpPr>
          <p:cNvPr id="38" name="Text 36"/>
          <p:cNvSpPr/>
          <p:nvPr/>
        </p:nvSpPr>
        <p:spPr>
          <a:xfrm>
            <a:off x="10195560" y="3474720"/>
            <a:ext cx="1463040" cy="1645920"/>
          </a:xfrm>
          <a:prstGeom prst="rect">
            <a:avLst/>
          </a:prstGeom>
          <a:noFill/>
          <a:ln/>
        </p:spPr>
        <p:txBody>
          <a:bodyPr wrap="square" rtlCol="0" anchor="ctr"/>
          <a:lstStyle/>
          <a:p>
            <a:pPr marL="0" indent="0" algn="ctr">
              <a:lnSpc>
                <a:spcPct val="120000"/>
              </a:lnSpc>
              <a:buNone/>
            </a:pPr>
            <a:r>
              <a:rPr lang="en-US" sz="970" dirty="0">
                <a:solidFill>
                  <a:srgbClr val="4A5A63"/>
                </a:solidFill>
                <a:latin typeface="Calibri" pitchFamily="34" charset="0"/>
                <a:ea typeface="Calibri" pitchFamily="34" charset="-122"/>
                <a:cs typeface="Calibri" pitchFamily="34" charset="-120"/>
              </a:rPr>
              <a:t>Monitor risk, respond to breaches and stay audit-ready with a living trail.</a:t>
            </a:r>
            <a:endParaRPr lang="en-US" sz="970" dirty="0"/>
          </a:p>
        </p:txBody>
      </p:sp>
      <p:sp>
        <p:nvSpPr>
          <p:cNvPr id="39" name="Text 37"/>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40" name="Text 3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BUSINESS CASE</a:t>
            </a:r>
            <a:endParaRPr lang="en-US" sz="1200" dirty="0"/>
          </a:p>
        </p:txBody>
      </p:sp>
      <p:sp>
        <p:nvSpPr>
          <p:cNvPr id="3" name="Text 1"/>
          <p:cNvSpPr/>
          <p:nvPr/>
        </p:nvSpPr>
        <p:spPr>
          <a:xfrm>
            <a:off x="548640" y="749808"/>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Benefits of Comply360</a:t>
            </a:r>
            <a:endParaRPr lang="en-US" sz="3200" dirty="0"/>
          </a:p>
        </p:txBody>
      </p:sp>
      <p:sp>
        <p:nvSpPr>
          <p:cNvPr id="4" name="Text 2"/>
          <p:cNvSpPr/>
          <p:nvPr/>
        </p:nvSpPr>
        <p:spPr>
          <a:xfrm>
            <a:off x="548640" y="1417320"/>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Three ways a unified platform changes how the organisation runs privacy.</a:t>
            </a:r>
            <a:endParaRPr lang="en-US" sz="1400" dirty="0"/>
          </a:p>
        </p:txBody>
      </p:sp>
      <p:sp>
        <p:nvSpPr>
          <p:cNvPr id="5" name="Shape 3"/>
          <p:cNvSpPr/>
          <p:nvPr/>
        </p:nvSpPr>
        <p:spPr>
          <a:xfrm>
            <a:off x="548640" y="1920240"/>
            <a:ext cx="3520440" cy="3200400"/>
          </a:xfrm>
          <a:prstGeom prst="roundRect">
            <a:avLst>
              <a:gd name="adj" fmla="val 2571"/>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6" name="Shape 4"/>
          <p:cNvSpPr/>
          <p:nvPr/>
        </p:nvSpPr>
        <p:spPr>
          <a:xfrm>
            <a:off x="749808" y="2103120"/>
            <a:ext cx="384048" cy="384048"/>
          </a:xfrm>
          <a:prstGeom prst="roundRect">
            <a:avLst>
              <a:gd name="adj" fmla="val 19048"/>
            </a:avLst>
          </a:prstGeom>
          <a:solidFill>
            <a:srgbClr val="F26722"/>
          </a:solidFill>
          <a:ln/>
        </p:spPr>
      </p:sp>
      <p:sp>
        <p:nvSpPr>
          <p:cNvPr id="7" name="Text 5"/>
          <p:cNvSpPr/>
          <p:nvPr/>
        </p:nvSpPr>
        <p:spPr>
          <a:xfrm>
            <a:off x="749808" y="21031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49808" y="2578608"/>
            <a:ext cx="3118104" cy="457200"/>
          </a:xfrm>
          <a:prstGeom prst="rect">
            <a:avLst/>
          </a:prstGeom>
          <a:noFill/>
          <a:ln/>
        </p:spPr>
        <p:txBody>
          <a:bodyPr wrap="square" rtlCol="0" anchor="ctr"/>
          <a:lstStyle/>
          <a:p>
            <a:pPr marL="0" indent="0">
              <a:buNone/>
            </a:pPr>
            <a:r>
              <a:rPr lang="en-US" sz="1500" b="1" dirty="0">
                <a:solidFill>
                  <a:srgbClr val="021927"/>
                </a:solidFill>
                <a:latin typeface="Cambria" pitchFamily="34" charset="0"/>
                <a:ea typeface="Cambria" pitchFamily="34" charset="-122"/>
                <a:cs typeface="Cambria" pitchFamily="34" charset="-120"/>
              </a:rPr>
              <a:t>Regulatory Readiness</a:t>
            </a:r>
            <a:endParaRPr lang="en-US" sz="1500" dirty="0"/>
          </a:p>
        </p:txBody>
      </p:sp>
      <p:sp>
        <p:nvSpPr>
          <p:cNvPr id="9" name="Shape 7"/>
          <p:cNvSpPr/>
          <p:nvPr/>
        </p:nvSpPr>
        <p:spPr>
          <a:xfrm>
            <a:off x="768096" y="3182112"/>
            <a:ext cx="82296" cy="82296"/>
          </a:xfrm>
          <a:prstGeom prst="ellipse">
            <a:avLst/>
          </a:prstGeom>
          <a:solidFill>
            <a:srgbClr val="F26722"/>
          </a:solidFill>
          <a:ln/>
        </p:spPr>
      </p:sp>
      <p:sp>
        <p:nvSpPr>
          <p:cNvPr id="10" name="Text 8"/>
          <p:cNvSpPr/>
          <p:nvPr/>
        </p:nvSpPr>
        <p:spPr>
          <a:xfrm>
            <a:off x="950976" y="3108960"/>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Single system of record across consent, ROPA, PIA, TPRM and breach</a:t>
            </a:r>
            <a:endParaRPr lang="en-US" sz="1030" dirty="0"/>
          </a:p>
        </p:txBody>
      </p:sp>
      <p:sp>
        <p:nvSpPr>
          <p:cNvPr id="11" name="Shape 9"/>
          <p:cNvSpPr/>
          <p:nvPr/>
        </p:nvSpPr>
        <p:spPr>
          <a:xfrm>
            <a:off x="768096" y="3849624"/>
            <a:ext cx="82296" cy="82296"/>
          </a:xfrm>
          <a:prstGeom prst="ellipse">
            <a:avLst/>
          </a:prstGeom>
          <a:solidFill>
            <a:srgbClr val="F26722"/>
          </a:solidFill>
          <a:ln/>
        </p:spPr>
      </p:sp>
      <p:sp>
        <p:nvSpPr>
          <p:cNvPr id="12" name="Text 10"/>
          <p:cNvSpPr/>
          <p:nvPr/>
        </p:nvSpPr>
        <p:spPr>
          <a:xfrm>
            <a:off x="950976" y="3776472"/>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Faster response to Board / Data Protection Board queries</a:t>
            </a:r>
            <a:endParaRPr lang="en-US" sz="1030" dirty="0"/>
          </a:p>
        </p:txBody>
      </p:sp>
      <p:sp>
        <p:nvSpPr>
          <p:cNvPr id="13" name="Shape 11"/>
          <p:cNvSpPr/>
          <p:nvPr/>
        </p:nvSpPr>
        <p:spPr>
          <a:xfrm>
            <a:off x="768096" y="4517136"/>
            <a:ext cx="82296" cy="82296"/>
          </a:xfrm>
          <a:prstGeom prst="ellipse">
            <a:avLst/>
          </a:prstGeom>
          <a:solidFill>
            <a:srgbClr val="F26722"/>
          </a:solidFill>
          <a:ln/>
        </p:spPr>
      </p:sp>
      <p:sp>
        <p:nvSpPr>
          <p:cNvPr id="14" name="Text 12"/>
          <p:cNvSpPr/>
          <p:nvPr/>
        </p:nvSpPr>
        <p:spPr>
          <a:xfrm>
            <a:off x="950976" y="4443984"/>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Evidence packs instead of war-room assemblies</a:t>
            </a:r>
            <a:endParaRPr lang="en-US" sz="1030" dirty="0"/>
          </a:p>
        </p:txBody>
      </p:sp>
      <p:sp>
        <p:nvSpPr>
          <p:cNvPr id="15" name="Shape 13"/>
          <p:cNvSpPr/>
          <p:nvPr/>
        </p:nvSpPr>
        <p:spPr>
          <a:xfrm>
            <a:off x="4288536" y="1920240"/>
            <a:ext cx="3520440" cy="3200400"/>
          </a:xfrm>
          <a:prstGeom prst="roundRect">
            <a:avLst>
              <a:gd name="adj" fmla="val 2571"/>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6" name="Shape 14"/>
          <p:cNvSpPr/>
          <p:nvPr/>
        </p:nvSpPr>
        <p:spPr>
          <a:xfrm>
            <a:off x="4489704" y="2103120"/>
            <a:ext cx="384048" cy="384048"/>
          </a:xfrm>
          <a:prstGeom prst="roundRect">
            <a:avLst>
              <a:gd name="adj" fmla="val 19048"/>
            </a:avLst>
          </a:prstGeom>
          <a:solidFill>
            <a:srgbClr val="F26722"/>
          </a:solidFill>
          <a:ln/>
        </p:spPr>
      </p:sp>
      <p:sp>
        <p:nvSpPr>
          <p:cNvPr id="17" name="Text 15"/>
          <p:cNvSpPr/>
          <p:nvPr/>
        </p:nvSpPr>
        <p:spPr>
          <a:xfrm>
            <a:off x="4489704" y="21031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8" name="Text 16"/>
          <p:cNvSpPr/>
          <p:nvPr/>
        </p:nvSpPr>
        <p:spPr>
          <a:xfrm>
            <a:off x="4489704" y="2578608"/>
            <a:ext cx="3118104" cy="457200"/>
          </a:xfrm>
          <a:prstGeom prst="rect">
            <a:avLst/>
          </a:prstGeom>
          <a:noFill/>
          <a:ln/>
        </p:spPr>
        <p:txBody>
          <a:bodyPr wrap="square" rtlCol="0" anchor="ctr"/>
          <a:lstStyle/>
          <a:p>
            <a:pPr marL="0" indent="0">
              <a:buNone/>
            </a:pPr>
            <a:r>
              <a:rPr lang="en-US" sz="1500" b="1" dirty="0">
                <a:solidFill>
                  <a:srgbClr val="021927"/>
                </a:solidFill>
                <a:latin typeface="Cambria" pitchFamily="34" charset="0"/>
                <a:ea typeface="Cambria" pitchFamily="34" charset="-122"/>
                <a:cs typeface="Cambria" pitchFamily="34" charset="-120"/>
              </a:rPr>
              <a:t>Risk Reduction</a:t>
            </a:r>
            <a:endParaRPr lang="en-US" sz="1500" dirty="0"/>
          </a:p>
        </p:txBody>
      </p:sp>
      <p:sp>
        <p:nvSpPr>
          <p:cNvPr id="19" name="Shape 17"/>
          <p:cNvSpPr/>
          <p:nvPr/>
        </p:nvSpPr>
        <p:spPr>
          <a:xfrm>
            <a:off x="4507992" y="3182112"/>
            <a:ext cx="82296" cy="82296"/>
          </a:xfrm>
          <a:prstGeom prst="ellipse">
            <a:avLst/>
          </a:prstGeom>
          <a:solidFill>
            <a:srgbClr val="F26722"/>
          </a:solidFill>
          <a:ln/>
        </p:spPr>
      </p:sp>
      <p:sp>
        <p:nvSpPr>
          <p:cNvPr id="20" name="Text 18"/>
          <p:cNvSpPr/>
          <p:nvPr/>
        </p:nvSpPr>
        <p:spPr>
          <a:xfrm>
            <a:off x="4690872" y="3108960"/>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Living map of personal data — structured and unstructured</a:t>
            </a:r>
            <a:endParaRPr lang="en-US" sz="1030" dirty="0"/>
          </a:p>
        </p:txBody>
      </p:sp>
      <p:sp>
        <p:nvSpPr>
          <p:cNvPr id="21" name="Shape 19"/>
          <p:cNvSpPr/>
          <p:nvPr/>
        </p:nvSpPr>
        <p:spPr>
          <a:xfrm>
            <a:off x="4507992" y="3849624"/>
            <a:ext cx="82296" cy="82296"/>
          </a:xfrm>
          <a:prstGeom prst="ellipse">
            <a:avLst/>
          </a:prstGeom>
          <a:solidFill>
            <a:srgbClr val="F26722"/>
          </a:solidFill>
          <a:ln/>
        </p:spPr>
      </p:sp>
      <p:sp>
        <p:nvSpPr>
          <p:cNvPr id="22" name="Text 20"/>
          <p:cNvSpPr/>
          <p:nvPr/>
        </p:nvSpPr>
        <p:spPr>
          <a:xfrm>
            <a:off x="4690872" y="3776472"/>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Vendor and transfer exposure linked to real assets</a:t>
            </a:r>
            <a:endParaRPr lang="en-US" sz="1030" dirty="0"/>
          </a:p>
        </p:txBody>
      </p:sp>
      <p:sp>
        <p:nvSpPr>
          <p:cNvPr id="23" name="Shape 21"/>
          <p:cNvSpPr/>
          <p:nvPr/>
        </p:nvSpPr>
        <p:spPr>
          <a:xfrm>
            <a:off x="4507992" y="4517136"/>
            <a:ext cx="82296" cy="82296"/>
          </a:xfrm>
          <a:prstGeom prst="ellipse">
            <a:avLst/>
          </a:prstGeom>
          <a:solidFill>
            <a:srgbClr val="F26722"/>
          </a:solidFill>
          <a:ln/>
        </p:spPr>
      </p:sp>
      <p:sp>
        <p:nvSpPr>
          <p:cNvPr id="24" name="Text 22"/>
          <p:cNvSpPr/>
          <p:nvPr/>
        </p:nvSpPr>
        <p:spPr>
          <a:xfrm>
            <a:off x="4690872" y="4443984"/>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High-risk processing assessed before launch</a:t>
            </a:r>
            <a:endParaRPr lang="en-US" sz="1030" dirty="0"/>
          </a:p>
        </p:txBody>
      </p:sp>
      <p:sp>
        <p:nvSpPr>
          <p:cNvPr id="25" name="Shape 23"/>
          <p:cNvSpPr/>
          <p:nvPr/>
        </p:nvSpPr>
        <p:spPr>
          <a:xfrm>
            <a:off x="8028432" y="1920240"/>
            <a:ext cx="3520440" cy="3200400"/>
          </a:xfrm>
          <a:prstGeom prst="roundRect">
            <a:avLst>
              <a:gd name="adj" fmla="val 2571"/>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6" name="Shape 24"/>
          <p:cNvSpPr/>
          <p:nvPr/>
        </p:nvSpPr>
        <p:spPr>
          <a:xfrm>
            <a:off x="8229600" y="2103120"/>
            <a:ext cx="384048" cy="384048"/>
          </a:xfrm>
          <a:prstGeom prst="roundRect">
            <a:avLst>
              <a:gd name="adj" fmla="val 19048"/>
            </a:avLst>
          </a:prstGeom>
          <a:solidFill>
            <a:srgbClr val="F26722"/>
          </a:solidFill>
          <a:ln/>
        </p:spPr>
      </p:sp>
      <p:sp>
        <p:nvSpPr>
          <p:cNvPr id="27" name="Text 25"/>
          <p:cNvSpPr/>
          <p:nvPr/>
        </p:nvSpPr>
        <p:spPr>
          <a:xfrm>
            <a:off x="8229600" y="2103120"/>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8" name="Text 26"/>
          <p:cNvSpPr/>
          <p:nvPr/>
        </p:nvSpPr>
        <p:spPr>
          <a:xfrm>
            <a:off x="8229600" y="2578608"/>
            <a:ext cx="3118104" cy="457200"/>
          </a:xfrm>
          <a:prstGeom prst="rect">
            <a:avLst/>
          </a:prstGeom>
          <a:noFill/>
          <a:ln/>
        </p:spPr>
        <p:txBody>
          <a:bodyPr wrap="square" rtlCol="0" anchor="ctr"/>
          <a:lstStyle/>
          <a:p>
            <a:pPr marL="0" indent="0">
              <a:buNone/>
            </a:pPr>
            <a:r>
              <a:rPr lang="en-US" sz="1500" b="1" dirty="0">
                <a:solidFill>
                  <a:srgbClr val="021927"/>
                </a:solidFill>
                <a:latin typeface="Cambria" pitchFamily="34" charset="0"/>
                <a:ea typeface="Cambria" pitchFamily="34" charset="-122"/>
                <a:cs typeface="Cambria" pitchFamily="34" charset="-120"/>
              </a:rPr>
              <a:t>Operational Leverage</a:t>
            </a:r>
            <a:endParaRPr lang="en-US" sz="1500" dirty="0"/>
          </a:p>
        </p:txBody>
      </p:sp>
      <p:sp>
        <p:nvSpPr>
          <p:cNvPr id="29" name="Shape 27"/>
          <p:cNvSpPr/>
          <p:nvPr/>
        </p:nvSpPr>
        <p:spPr>
          <a:xfrm>
            <a:off x="8247888" y="3182112"/>
            <a:ext cx="82296" cy="82296"/>
          </a:xfrm>
          <a:prstGeom prst="ellipse">
            <a:avLst/>
          </a:prstGeom>
          <a:solidFill>
            <a:srgbClr val="F26722"/>
          </a:solidFill>
          <a:ln/>
        </p:spPr>
      </p:sp>
      <p:sp>
        <p:nvSpPr>
          <p:cNvPr id="30" name="Text 28"/>
          <p:cNvSpPr/>
          <p:nvPr/>
        </p:nvSpPr>
        <p:spPr>
          <a:xfrm>
            <a:off x="8430768" y="3108960"/>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One login for privacy, legal, security and business</a:t>
            </a:r>
            <a:endParaRPr lang="en-US" sz="1030" dirty="0"/>
          </a:p>
        </p:txBody>
      </p:sp>
      <p:sp>
        <p:nvSpPr>
          <p:cNvPr id="31" name="Shape 29"/>
          <p:cNvSpPr/>
          <p:nvPr/>
        </p:nvSpPr>
        <p:spPr>
          <a:xfrm>
            <a:off x="8247888" y="3849624"/>
            <a:ext cx="82296" cy="82296"/>
          </a:xfrm>
          <a:prstGeom prst="ellipse">
            <a:avLst/>
          </a:prstGeom>
          <a:solidFill>
            <a:srgbClr val="F26722"/>
          </a:solidFill>
          <a:ln/>
        </p:spPr>
      </p:sp>
      <p:sp>
        <p:nvSpPr>
          <p:cNvPr id="32" name="Text 30"/>
          <p:cNvSpPr/>
          <p:nvPr/>
        </p:nvSpPr>
        <p:spPr>
          <a:xfrm>
            <a:off x="8430768" y="3776472"/>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Discovery feeds every workflow automatically</a:t>
            </a:r>
            <a:endParaRPr lang="en-US" sz="1030" dirty="0"/>
          </a:p>
        </p:txBody>
      </p:sp>
      <p:sp>
        <p:nvSpPr>
          <p:cNvPr id="33" name="Shape 31"/>
          <p:cNvSpPr/>
          <p:nvPr/>
        </p:nvSpPr>
        <p:spPr>
          <a:xfrm>
            <a:off x="8247888" y="4517136"/>
            <a:ext cx="82296" cy="82296"/>
          </a:xfrm>
          <a:prstGeom prst="ellipse">
            <a:avLst/>
          </a:prstGeom>
          <a:solidFill>
            <a:srgbClr val="F26722"/>
          </a:solidFill>
          <a:ln/>
        </p:spPr>
      </p:sp>
      <p:sp>
        <p:nvSpPr>
          <p:cNvPr id="34" name="Text 32"/>
          <p:cNvSpPr/>
          <p:nvPr/>
        </p:nvSpPr>
        <p:spPr>
          <a:xfrm>
            <a:off x="8430768" y="4443984"/>
            <a:ext cx="2916936" cy="594360"/>
          </a:xfrm>
          <a:prstGeom prst="rect">
            <a:avLst/>
          </a:prstGeom>
          <a:noFill/>
          <a:ln/>
        </p:spPr>
        <p:txBody>
          <a:bodyPr wrap="square" rtlCol="0" anchor="ctr"/>
          <a:lstStyle/>
          <a:p>
            <a:pPr marL="0" indent="0">
              <a:lnSpc>
                <a:spcPct val="115000"/>
              </a:lnSpc>
              <a:buNone/>
            </a:pPr>
            <a:r>
              <a:rPr lang="en-US" sz="1030" dirty="0">
                <a:solidFill>
                  <a:srgbClr val="4A5A63"/>
                </a:solidFill>
                <a:latin typeface="Calibri" pitchFamily="34" charset="0"/>
                <a:ea typeface="Calibri" pitchFamily="34" charset="-122"/>
                <a:cs typeface="Calibri" pitchFamily="34" charset="-120"/>
              </a:rPr>
              <a:t>Less tool sprawl, less spreadsheet reconciliation</a:t>
            </a:r>
            <a:endParaRPr lang="en-US" sz="1030" dirty="0"/>
          </a:p>
        </p:txBody>
      </p:sp>
      <p:sp>
        <p:nvSpPr>
          <p:cNvPr id="35" name="Shape 33"/>
          <p:cNvSpPr/>
          <p:nvPr/>
        </p:nvSpPr>
        <p:spPr>
          <a:xfrm>
            <a:off x="548640" y="5349240"/>
            <a:ext cx="11091672" cy="822960"/>
          </a:xfrm>
          <a:prstGeom prst="roundRect">
            <a:avLst>
              <a:gd name="adj" fmla="val 10000"/>
            </a:avLst>
          </a:prstGeom>
          <a:solidFill>
            <a:srgbClr val="021927"/>
          </a:solidFill>
          <a:ln w="12700">
            <a:solidFill>
              <a:srgbClr val="E3D9C4"/>
            </a:solidFill>
            <a:prstDash val="solid"/>
          </a:ln>
        </p:spPr>
      </p:sp>
      <p:sp>
        <p:nvSpPr>
          <p:cNvPr id="36" name="Text 34"/>
          <p:cNvSpPr/>
          <p:nvPr/>
        </p:nvSpPr>
        <p:spPr>
          <a:xfrm>
            <a:off x="777240" y="5349240"/>
            <a:ext cx="10607040" cy="822960"/>
          </a:xfrm>
          <a:prstGeom prst="rect">
            <a:avLst/>
          </a:prstGeom>
          <a:noFill/>
          <a:ln/>
        </p:spPr>
        <p:txBody>
          <a:bodyPr wrap="square" rtlCol="0" anchor="ctr"/>
          <a:lstStyle/>
          <a:p>
            <a:pPr marL="0" indent="0">
              <a:lnSpc>
                <a:spcPct val="120000"/>
              </a:lnSpc>
              <a:buNone/>
            </a:pPr>
            <a:r>
              <a:rPr lang="en-US" sz="1200" b="1" dirty="0">
                <a:solidFill>
                  <a:srgbClr val="F9A87B"/>
                </a:solidFill>
                <a:latin typeface="Calibri" pitchFamily="34" charset="0"/>
                <a:ea typeface="Calibri" pitchFamily="34" charset="-122"/>
                <a:cs typeface="Calibri" pitchFamily="34" charset="-120"/>
              </a:rPr>
              <a:t>Management takeaway:  </a:t>
            </a:r>
            <a:r>
              <a:rPr lang="en-US" sz="1200" dirty="0">
                <a:solidFill>
                  <a:srgbClr val="F4EEDE"/>
                </a:solidFill>
                <a:latin typeface="Calibri" pitchFamily="34" charset="0"/>
                <a:ea typeface="Calibri" pitchFamily="34" charset="-122"/>
                <a:cs typeface="Calibri" pitchFamily="34" charset="-120"/>
              </a:rPr>
              <a:t>Comply360 turns DPDP from a recurring scramble into a governed operating system — with clear owners, measurable posture and reusable evidence.</a:t>
            </a:r>
            <a:endParaRPr lang="en-US" sz="1200" dirty="0"/>
          </a:p>
        </p:txBody>
      </p:sp>
      <p:sp>
        <p:nvSpPr>
          <p:cNvPr id="37" name="Text 35"/>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8" name="Text 36"/>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What Benefits from AI</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Human-in-the-loop automation across the compliance workflow.</a:t>
            </a:r>
            <a:endParaRPr lang="en-US" sz="1400" dirty="0"/>
          </a:p>
        </p:txBody>
      </p:sp>
      <p:sp>
        <p:nvSpPr>
          <p:cNvPr id="4" name="Shape 2"/>
          <p:cNvSpPr/>
          <p:nvPr/>
        </p:nvSpPr>
        <p:spPr>
          <a:xfrm>
            <a:off x="548640" y="1828800"/>
            <a:ext cx="3520440" cy="1965960"/>
          </a:xfrm>
          <a:prstGeom prst="roundRect">
            <a:avLst>
              <a:gd name="adj" fmla="val 418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5" name="Text 3"/>
          <p:cNvSpPr/>
          <p:nvPr/>
        </p:nvSpPr>
        <p:spPr>
          <a:xfrm>
            <a:off x="731520" y="1938528"/>
            <a:ext cx="3154680" cy="594360"/>
          </a:xfrm>
          <a:prstGeom prst="rect">
            <a:avLst/>
          </a:prstGeom>
          <a:noFill/>
          <a:ln/>
        </p:spPr>
        <p:txBody>
          <a:bodyPr wrap="square" rtlCol="0" anchor="ctr"/>
          <a:lstStyle/>
          <a:p>
            <a:pPr marL="0" indent="0">
              <a:buNone/>
            </a:pPr>
            <a:r>
              <a:rPr lang="en-US" sz="3400" b="1" dirty="0">
                <a:solidFill>
                  <a:srgbClr val="F26722"/>
                </a:solidFill>
                <a:latin typeface="Cambria" pitchFamily="34" charset="0"/>
                <a:ea typeface="Cambria" pitchFamily="34" charset="-122"/>
                <a:cs typeface="Cambria" pitchFamily="34" charset="-120"/>
              </a:rPr>
              <a:t>70%</a:t>
            </a:r>
            <a:endParaRPr lang="en-US" sz="3400" dirty="0"/>
          </a:p>
        </p:txBody>
      </p:sp>
      <p:sp>
        <p:nvSpPr>
          <p:cNvPr id="6" name="Text 4"/>
          <p:cNvSpPr/>
          <p:nvPr/>
        </p:nvSpPr>
        <p:spPr>
          <a:xfrm>
            <a:off x="731520" y="2542032"/>
            <a:ext cx="3154680" cy="320040"/>
          </a:xfrm>
          <a:prstGeom prst="rect">
            <a:avLst/>
          </a:prstGeom>
          <a:noFill/>
          <a:ln/>
        </p:spPr>
        <p:txBody>
          <a:bodyPr wrap="square" rtlCol="0" anchor="ctr"/>
          <a:lstStyle/>
          <a:p>
            <a:pPr marL="0" indent="0">
              <a:buNone/>
            </a:pPr>
            <a:r>
              <a:rPr lang="en-US" sz="1250" b="1" dirty="0">
                <a:solidFill>
                  <a:srgbClr val="021927"/>
                </a:solidFill>
                <a:latin typeface="Calibri" pitchFamily="34" charset="0"/>
                <a:ea typeface="Calibri" pitchFamily="34" charset="-122"/>
                <a:cs typeface="Calibri" pitchFamily="34" charset="-120"/>
              </a:rPr>
              <a:t>Faster assessment cycles</a:t>
            </a:r>
            <a:endParaRPr lang="en-US" sz="1250" dirty="0"/>
          </a:p>
        </p:txBody>
      </p:sp>
      <p:sp>
        <p:nvSpPr>
          <p:cNvPr id="7" name="Text 5"/>
          <p:cNvSpPr/>
          <p:nvPr/>
        </p:nvSpPr>
        <p:spPr>
          <a:xfrm>
            <a:off x="731520" y="2880360"/>
            <a:ext cx="3154680" cy="822960"/>
          </a:xfrm>
          <a:prstGeom prst="rect">
            <a:avLst/>
          </a:prstGeom>
          <a:noFill/>
          <a:ln/>
        </p:spPr>
        <p:txBody>
          <a:bodyPr wrap="square" rtlCol="0" anchor="ctr"/>
          <a:lstStyle/>
          <a:p>
            <a:pPr marL="0" indent="0">
              <a:lnSpc>
                <a:spcPct val="115000"/>
              </a:lnSpc>
              <a:buNone/>
            </a:pPr>
            <a:r>
              <a:rPr lang="en-US" sz="980" dirty="0">
                <a:solidFill>
                  <a:srgbClr val="4A5A63"/>
                </a:solidFill>
                <a:latin typeface="Calibri" pitchFamily="34" charset="0"/>
                <a:ea typeface="Calibri" pitchFamily="34" charset="-122"/>
                <a:cs typeface="Calibri" pitchFamily="34" charset="-120"/>
              </a:rPr>
              <a:t>AI pre-fills questionnaires from existing ROPA and evidence — analysts review instead of rewrite.</a:t>
            </a:r>
            <a:endParaRPr lang="en-US" sz="980" dirty="0"/>
          </a:p>
        </p:txBody>
      </p:sp>
      <p:sp>
        <p:nvSpPr>
          <p:cNvPr id="8" name="Shape 6"/>
          <p:cNvSpPr/>
          <p:nvPr/>
        </p:nvSpPr>
        <p:spPr>
          <a:xfrm>
            <a:off x="4288536" y="1828800"/>
            <a:ext cx="3520440" cy="1965960"/>
          </a:xfrm>
          <a:prstGeom prst="roundRect">
            <a:avLst>
              <a:gd name="adj" fmla="val 4186"/>
            </a:avLst>
          </a:prstGeom>
          <a:solidFill>
            <a:srgbClr val="021927"/>
          </a:solidFill>
          <a:ln w="12700">
            <a:solidFill>
              <a:srgbClr val="E3D9C4"/>
            </a:solidFill>
            <a:prstDash val="solid"/>
          </a:ln>
          <a:effectLst>
            <a:outerShdw blurRad="101600" dist="25400" dir="5400000" algn="bl" rotWithShape="0">
              <a:srgbClr val="021927">
                <a:alpha val="12000"/>
              </a:srgbClr>
            </a:outerShdw>
          </a:effectLst>
        </p:spPr>
      </p:sp>
      <p:sp>
        <p:nvSpPr>
          <p:cNvPr id="9" name="Text 7"/>
          <p:cNvSpPr/>
          <p:nvPr/>
        </p:nvSpPr>
        <p:spPr>
          <a:xfrm>
            <a:off x="4471416" y="1938528"/>
            <a:ext cx="3154680" cy="594360"/>
          </a:xfrm>
          <a:prstGeom prst="rect">
            <a:avLst/>
          </a:prstGeom>
          <a:noFill/>
          <a:ln/>
        </p:spPr>
        <p:txBody>
          <a:bodyPr wrap="square" rtlCol="0" anchor="ctr"/>
          <a:lstStyle/>
          <a:p>
            <a:pPr marL="0" indent="0">
              <a:buNone/>
            </a:pPr>
            <a:r>
              <a:rPr lang="en-US" sz="3400" b="1" dirty="0">
                <a:solidFill>
                  <a:srgbClr val="F26722"/>
                </a:solidFill>
                <a:latin typeface="Cambria" pitchFamily="34" charset="0"/>
                <a:ea typeface="Cambria" pitchFamily="34" charset="-122"/>
                <a:cs typeface="Cambria" pitchFamily="34" charset="-120"/>
              </a:rPr>
              <a:t>10X</a:t>
            </a:r>
            <a:endParaRPr lang="en-US" sz="3400" dirty="0"/>
          </a:p>
        </p:txBody>
      </p:sp>
      <p:sp>
        <p:nvSpPr>
          <p:cNvPr id="10" name="Text 8"/>
          <p:cNvSpPr/>
          <p:nvPr/>
        </p:nvSpPr>
        <p:spPr>
          <a:xfrm>
            <a:off x="4471416" y="2542032"/>
            <a:ext cx="3154680" cy="320040"/>
          </a:xfrm>
          <a:prstGeom prst="rect">
            <a:avLst/>
          </a:prstGeom>
          <a:noFill/>
          <a:ln/>
        </p:spPr>
        <p:txBody>
          <a:bodyPr wrap="square" rtlCol="0" anchor="ctr"/>
          <a:lstStyle/>
          <a:p>
            <a:pPr marL="0" indent="0">
              <a:buNone/>
            </a:pPr>
            <a:r>
              <a:rPr lang="en-US" sz="1250" b="1" dirty="0">
                <a:solidFill>
                  <a:srgbClr val="F4EEDE"/>
                </a:solidFill>
                <a:latin typeface="Calibri" pitchFamily="34" charset="0"/>
                <a:ea typeface="Calibri" pitchFamily="34" charset="-122"/>
                <a:cs typeface="Calibri" pitchFamily="34" charset="-120"/>
              </a:rPr>
              <a:t>Faster policy drafts</a:t>
            </a:r>
            <a:endParaRPr lang="en-US" sz="1250" dirty="0"/>
          </a:p>
        </p:txBody>
      </p:sp>
      <p:sp>
        <p:nvSpPr>
          <p:cNvPr id="11" name="Text 9"/>
          <p:cNvSpPr/>
          <p:nvPr/>
        </p:nvSpPr>
        <p:spPr>
          <a:xfrm>
            <a:off x="4471416" y="2880360"/>
            <a:ext cx="3154680" cy="822960"/>
          </a:xfrm>
          <a:prstGeom prst="rect">
            <a:avLst/>
          </a:prstGeom>
          <a:noFill/>
          <a:ln/>
        </p:spPr>
        <p:txBody>
          <a:bodyPr wrap="square" rtlCol="0" anchor="ctr"/>
          <a:lstStyle/>
          <a:p>
            <a:pPr marL="0" indent="0">
              <a:lnSpc>
                <a:spcPct val="115000"/>
              </a:lnSpc>
              <a:buNone/>
            </a:pPr>
            <a:r>
              <a:rPr lang="en-US" sz="980" dirty="0">
                <a:solidFill>
                  <a:srgbClr val="C9D2D6"/>
                </a:solidFill>
                <a:latin typeface="Calibri" pitchFamily="34" charset="0"/>
                <a:ea typeface="Calibri" pitchFamily="34" charset="-122"/>
                <a:cs typeface="Calibri" pitchFamily="34" charset="-120"/>
              </a:rPr>
              <a:t>First-draft privacy, retention and vendor policies tailored to your processing profile, in minutes.</a:t>
            </a:r>
            <a:endParaRPr lang="en-US" sz="980" dirty="0"/>
          </a:p>
        </p:txBody>
      </p:sp>
      <p:sp>
        <p:nvSpPr>
          <p:cNvPr id="12" name="Shape 10"/>
          <p:cNvSpPr/>
          <p:nvPr/>
        </p:nvSpPr>
        <p:spPr>
          <a:xfrm>
            <a:off x="8028432" y="1828800"/>
            <a:ext cx="3520440" cy="1965960"/>
          </a:xfrm>
          <a:prstGeom prst="roundRect">
            <a:avLst>
              <a:gd name="adj" fmla="val 418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3" name="Text 11"/>
          <p:cNvSpPr/>
          <p:nvPr/>
        </p:nvSpPr>
        <p:spPr>
          <a:xfrm>
            <a:off x="8211312" y="1938528"/>
            <a:ext cx="3154680" cy="594360"/>
          </a:xfrm>
          <a:prstGeom prst="rect">
            <a:avLst/>
          </a:prstGeom>
          <a:noFill/>
          <a:ln/>
        </p:spPr>
        <p:txBody>
          <a:bodyPr wrap="square" rtlCol="0" anchor="ctr"/>
          <a:lstStyle/>
          <a:p>
            <a:pPr marL="0" indent="0">
              <a:buNone/>
            </a:pPr>
            <a:r>
              <a:rPr lang="en-US" sz="3400" b="1" dirty="0">
                <a:solidFill>
                  <a:srgbClr val="F26722"/>
                </a:solidFill>
                <a:latin typeface="Cambria" pitchFamily="34" charset="0"/>
                <a:ea typeface="Cambria" pitchFamily="34" charset="-122"/>
                <a:cs typeface="Cambria" pitchFamily="34" charset="-120"/>
              </a:rPr>
              <a:t>40%</a:t>
            </a:r>
            <a:endParaRPr lang="en-US" sz="3400" dirty="0"/>
          </a:p>
        </p:txBody>
      </p:sp>
      <p:sp>
        <p:nvSpPr>
          <p:cNvPr id="14" name="Text 12"/>
          <p:cNvSpPr/>
          <p:nvPr/>
        </p:nvSpPr>
        <p:spPr>
          <a:xfrm>
            <a:off x="8211312" y="2542032"/>
            <a:ext cx="3154680" cy="320040"/>
          </a:xfrm>
          <a:prstGeom prst="rect">
            <a:avLst/>
          </a:prstGeom>
          <a:noFill/>
          <a:ln/>
        </p:spPr>
        <p:txBody>
          <a:bodyPr wrap="square" rtlCol="0" anchor="ctr"/>
          <a:lstStyle/>
          <a:p>
            <a:pPr marL="0" indent="0">
              <a:buNone/>
            </a:pPr>
            <a:r>
              <a:rPr lang="en-US" sz="1250" b="1" dirty="0">
                <a:solidFill>
                  <a:srgbClr val="021927"/>
                </a:solidFill>
                <a:latin typeface="Calibri" pitchFamily="34" charset="0"/>
                <a:ea typeface="Calibri" pitchFamily="34" charset="-122"/>
                <a:cs typeface="Calibri" pitchFamily="34" charset="-120"/>
              </a:rPr>
              <a:t>Lower programme cost</a:t>
            </a:r>
            <a:endParaRPr lang="en-US" sz="1250" dirty="0"/>
          </a:p>
        </p:txBody>
      </p:sp>
      <p:sp>
        <p:nvSpPr>
          <p:cNvPr id="15" name="Text 13"/>
          <p:cNvSpPr/>
          <p:nvPr/>
        </p:nvSpPr>
        <p:spPr>
          <a:xfrm>
            <a:off x="8211312" y="2880360"/>
            <a:ext cx="3154680" cy="822960"/>
          </a:xfrm>
          <a:prstGeom prst="rect">
            <a:avLst/>
          </a:prstGeom>
          <a:noFill/>
          <a:ln/>
        </p:spPr>
        <p:txBody>
          <a:bodyPr wrap="square" rtlCol="0" anchor="ctr"/>
          <a:lstStyle/>
          <a:p>
            <a:pPr marL="0" indent="0">
              <a:lnSpc>
                <a:spcPct val="115000"/>
              </a:lnSpc>
              <a:buNone/>
            </a:pPr>
            <a:r>
              <a:rPr lang="en-US" sz="980" dirty="0">
                <a:solidFill>
                  <a:srgbClr val="4A5A63"/>
                </a:solidFill>
                <a:latin typeface="Calibri" pitchFamily="34" charset="0"/>
                <a:ea typeface="Calibri" pitchFamily="34" charset="-122"/>
                <a:cs typeface="Calibri" pitchFamily="34" charset="-120"/>
              </a:rPr>
              <a:t>Fewer consultant hours, less manual coordination, one system replacing tool sprawl.</a:t>
            </a:r>
            <a:endParaRPr lang="en-US" sz="980" dirty="0"/>
          </a:p>
        </p:txBody>
      </p:sp>
      <p:sp>
        <p:nvSpPr>
          <p:cNvPr id="16" name="Text 14"/>
          <p:cNvSpPr/>
          <p:nvPr/>
        </p:nvSpPr>
        <p:spPr>
          <a:xfrm>
            <a:off x="548640" y="4069080"/>
            <a:ext cx="7315200" cy="365760"/>
          </a:xfrm>
          <a:prstGeom prst="rect">
            <a:avLst/>
          </a:prstGeom>
          <a:noFill/>
          <a:ln/>
        </p:spPr>
        <p:txBody>
          <a:bodyPr wrap="square" rtlCol="0" anchor="ctr"/>
          <a:lstStyle/>
          <a:p>
            <a:pPr marL="0" indent="0">
              <a:buNone/>
            </a:pPr>
            <a:r>
              <a:rPr lang="en-US" sz="1500" b="1" dirty="0">
                <a:solidFill>
                  <a:srgbClr val="021927"/>
                </a:solidFill>
                <a:latin typeface="Cambria" pitchFamily="34" charset="0"/>
                <a:ea typeface="Cambria" pitchFamily="34" charset="-122"/>
                <a:cs typeface="Cambria" pitchFamily="34" charset="-120"/>
              </a:rPr>
              <a:t>Responsible AI, by Design</a:t>
            </a:r>
            <a:endParaRPr lang="en-US" sz="1500" dirty="0"/>
          </a:p>
        </p:txBody>
      </p:sp>
      <p:sp>
        <p:nvSpPr>
          <p:cNvPr id="17" name="Shape 15"/>
          <p:cNvSpPr/>
          <p:nvPr/>
        </p:nvSpPr>
        <p:spPr>
          <a:xfrm>
            <a:off x="548640" y="4599432"/>
            <a:ext cx="91440" cy="91440"/>
          </a:xfrm>
          <a:prstGeom prst="ellipse">
            <a:avLst/>
          </a:prstGeom>
          <a:solidFill>
            <a:srgbClr val="F26722"/>
          </a:solidFill>
          <a:ln/>
        </p:spPr>
      </p:sp>
      <p:sp>
        <p:nvSpPr>
          <p:cNvPr id="18" name="Text 16"/>
          <p:cNvSpPr/>
          <p:nvPr/>
        </p:nvSpPr>
        <p:spPr>
          <a:xfrm>
            <a:off x="740664" y="4393692"/>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AI-recommended, actionable insights</a:t>
            </a:r>
            <a:endParaRPr lang="en-US" sz="1030" dirty="0"/>
          </a:p>
        </p:txBody>
      </p:sp>
      <p:sp>
        <p:nvSpPr>
          <p:cNvPr id="19" name="Shape 17"/>
          <p:cNvSpPr/>
          <p:nvPr/>
        </p:nvSpPr>
        <p:spPr>
          <a:xfrm>
            <a:off x="4315968" y="4599432"/>
            <a:ext cx="91440" cy="91440"/>
          </a:xfrm>
          <a:prstGeom prst="ellipse">
            <a:avLst/>
          </a:prstGeom>
          <a:solidFill>
            <a:srgbClr val="F26722"/>
          </a:solidFill>
          <a:ln/>
        </p:spPr>
      </p:sp>
      <p:sp>
        <p:nvSpPr>
          <p:cNvPr id="20" name="Text 18"/>
          <p:cNvSpPr/>
          <p:nvPr/>
        </p:nvSpPr>
        <p:spPr>
          <a:xfrm>
            <a:off x="4507992" y="4393692"/>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Intelligent gap detection before findings appear</a:t>
            </a:r>
            <a:endParaRPr lang="en-US" sz="1030" dirty="0"/>
          </a:p>
        </p:txBody>
      </p:sp>
      <p:sp>
        <p:nvSpPr>
          <p:cNvPr id="21" name="Shape 19"/>
          <p:cNvSpPr/>
          <p:nvPr/>
        </p:nvSpPr>
        <p:spPr>
          <a:xfrm>
            <a:off x="8083296" y="4599432"/>
            <a:ext cx="91440" cy="91440"/>
          </a:xfrm>
          <a:prstGeom prst="ellipse">
            <a:avLst/>
          </a:prstGeom>
          <a:solidFill>
            <a:srgbClr val="F26722"/>
          </a:solidFill>
          <a:ln/>
        </p:spPr>
      </p:sp>
      <p:sp>
        <p:nvSpPr>
          <p:cNvPr id="22" name="Text 20"/>
          <p:cNvSpPr/>
          <p:nvPr/>
        </p:nvSpPr>
        <p:spPr>
          <a:xfrm>
            <a:off x="8284464" y="4402836"/>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AI usage view &amp; token savings</a:t>
            </a:r>
            <a:endParaRPr lang="en-US" sz="1030" dirty="0"/>
          </a:p>
        </p:txBody>
      </p:sp>
      <p:sp>
        <p:nvSpPr>
          <p:cNvPr id="23" name="Shape 21"/>
          <p:cNvSpPr/>
          <p:nvPr/>
        </p:nvSpPr>
        <p:spPr>
          <a:xfrm>
            <a:off x="548640" y="5166360"/>
            <a:ext cx="91440" cy="91440"/>
          </a:xfrm>
          <a:prstGeom prst="ellipse">
            <a:avLst/>
          </a:prstGeom>
          <a:solidFill>
            <a:srgbClr val="F26722"/>
          </a:solidFill>
          <a:ln/>
        </p:spPr>
      </p:sp>
      <p:sp>
        <p:nvSpPr>
          <p:cNvPr id="24" name="Text 22"/>
          <p:cNvSpPr/>
          <p:nvPr/>
        </p:nvSpPr>
        <p:spPr>
          <a:xfrm>
            <a:off x="749808" y="4965192"/>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Evidence summarisation for decision-ready reviews</a:t>
            </a:r>
            <a:endParaRPr lang="en-US" sz="1030" dirty="0"/>
          </a:p>
        </p:txBody>
      </p:sp>
      <p:sp>
        <p:nvSpPr>
          <p:cNvPr id="25" name="Shape 23"/>
          <p:cNvSpPr/>
          <p:nvPr/>
        </p:nvSpPr>
        <p:spPr>
          <a:xfrm>
            <a:off x="4315968" y="5166360"/>
            <a:ext cx="91440" cy="91440"/>
          </a:xfrm>
          <a:prstGeom prst="ellipse">
            <a:avLst/>
          </a:prstGeom>
          <a:solidFill>
            <a:srgbClr val="F26722"/>
          </a:solidFill>
          <a:ln/>
        </p:spPr>
      </p:sp>
      <p:sp>
        <p:nvSpPr>
          <p:cNvPr id="26" name="Text 24"/>
          <p:cNvSpPr/>
          <p:nvPr/>
        </p:nvSpPr>
        <p:spPr>
          <a:xfrm>
            <a:off x="4517136" y="4956048"/>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Human-in-the-loop by design</a:t>
            </a:r>
            <a:endParaRPr lang="en-US" sz="1030" dirty="0"/>
          </a:p>
        </p:txBody>
      </p:sp>
      <p:sp>
        <p:nvSpPr>
          <p:cNvPr id="27" name="Shape 25"/>
          <p:cNvSpPr/>
          <p:nvPr/>
        </p:nvSpPr>
        <p:spPr>
          <a:xfrm>
            <a:off x="8083296" y="5166360"/>
            <a:ext cx="91440" cy="91440"/>
          </a:xfrm>
          <a:prstGeom prst="ellipse">
            <a:avLst/>
          </a:prstGeom>
          <a:solidFill>
            <a:srgbClr val="F26722"/>
          </a:solidFill>
          <a:ln/>
        </p:spPr>
      </p:sp>
      <p:sp>
        <p:nvSpPr>
          <p:cNvPr id="28" name="Text 26"/>
          <p:cNvSpPr/>
          <p:nvPr/>
        </p:nvSpPr>
        <p:spPr>
          <a:xfrm>
            <a:off x="8284464" y="4960620"/>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Board packs pull from a living system of record</a:t>
            </a:r>
            <a:endParaRPr lang="en-US" sz="1030" dirty="0"/>
          </a:p>
        </p:txBody>
      </p:sp>
      <p:sp>
        <p:nvSpPr>
          <p:cNvPr id="29" name="Shape 27"/>
          <p:cNvSpPr/>
          <p:nvPr/>
        </p:nvSpPr>
        <p:spPr>
          <a:xfrm>
            <a:off x="548640" y="5733288"/>
            <a:ext cx="91440" cy="91440"/>
          </a:xfrm>
          <a:prstGeom prst="ellipse">
            <a:avLst/>
          </a:prstGeom>
          <a:solidFill>
            <a:srgbClr val="F26722"/>
          </a:solidFill>
          <a:ln/>
        </p:spPr>
      </p:sp>
      <p:sp>
        <p:nvSpPr>
          <p:cNvPr id="30" name="Text 28"/>
          <p:cNvSpPr/>
          <p:nvPr/>
        </p:nvSpPr>
        <p:spPr>
          <a:xfrm>
            <a:off x="749808" y="5527548"/>
            <a:ext cx="3383280" cy="502920"/>
          </a:xfrm>
          <a:prstGeom prst="rect">
            <a:avLst/>
          </a:prstGeom>
          <a:noFill/>
          <a:ln/>
        </p:spPr>
        <p:txBody>
          <a:bodyPr wrap="square" rtlCol="0" anchor="ctr"/>
          <a:lstStyle/>
          <a:p>
            <a:pPr marL="0" indent="0">
              <a:lnSpc>
                <a:spcPct val="110000"/>
              </a:lnSpc>
              <a:buNone/>
            </a:pPr>
            <a:r>
              <a:rPr lang="en-US" sz="1030" dirty="0">
                <a:solidFill>
                  <a:srgbClr val="021927"/>
                </a:solidFill>
                <a:latin typeface="Calibri" pitchFamily="34" charset="0"/>
                <a:ea typeface="Calibri" pitchFamily="34" charset="-122"/>
                <a:cs typeface="Calibri" pitchFamily="34" charset="-120"/>
              </a:rPr>
              <a:t>Context-aware drafts from your ROPA</a:t>
            </a:r>
            <a:endParaRPr lang="en-US" sz="1030" dirty="0"/>
          </a:p>
        </p:txBody>
      </p:sp>
      <p:sp>
        <p:nvSpPr>
          <p:cNvPr id="31" name="Text 29"/>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2" name="Text 3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THE DECISION</a:t>
            </a:r>
            <a:endParaRPr lang="en-US" sz="1200" dirty="0"/>
          </a:p>
        </p:txBody>
      </p:sp>
      <p:sp>
        <p:nvSpPr>
          <p:cNvPr id="3" name="Text 1"/>
          <p:cNvSpPr/>
          <p:nvPr/>
        </p:nvSpPr>
        <p:spPr>
          <a:xfrm>
            <a:off x="548640" y="749808"/>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Build vs. Buy</a:t>
            </a:r>
            <a:endParaRPr lang="en-US" sz="3200" dirty="0"/>
          </a:p>
        </p:txBody>
      </p:sp>
      <p:sp>
        <p:nvSpPr>
          <p:cNvPr id="4" name="Text 2"/>
          <p:cNvSpPr/>
          <p:nvPr/>
        </p:nvSpPr>
        <p:spPr>
          <a:xfrm>
            <a:off x="548640" y="1417320"/>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What it actually takes to cover consent, discovery, ROPA, PIA, TPRM and breach in-house.</a:t>
            </a:r>
            <a:endParaRPr lang="en-US" sz="1400" dirty="0"/>
          </a:p>
        </p:txBody>
      </p:sp>
      <p:sp>
        <p:nvSpPr>
          <p:cNvPr id="5" name="Shape 3"/>
          <p:cNvSpPr/>
          <p:nvPr/>
        </p:nvSpPr>
        <p:spPr>
          <a:xfrm>
            <a:off x="548640" y="1965960"/>
            <a:ext cx="5440680" cy="3977640"/>
          </a:xfrm>
          <a:prstGeom prst="roundRect">
            <a:avLst>
              <a:gd name="adj" fmla="val 2069"/>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6" name="Text 4"/>
          <p:cNvSpPr/>
          <p:nvPr/>
        </p:nvSpPr>
        <p:spPr>
          <a:xfrm>
            <a:off x="777240" y="2148840"/>
            <a:ext cx="4983480" cy="320040"/>
          </a:xfrm>
          <a:prstGeom prst="rect">
            <a:avLst/>
          </a:prstGeom>
          <a:noFill/>
          <a:ln/>
        </p:spPr>
        <p:txBody>
          <a:bodyPr wrap="square" rtlCol="0" anchor="ctr"/>
          <a:lstStyle/>
          <a:p>
            <a:pPr marL="0" indent="0">
              <a:buNone/>
            </a:pPr>
            <a:r>
              <a:rPr lang="en-US" sz="1100" b="1" kern="0" spc="200" dirty="0">
                <a:solidFill>
                  <a:srgbClr val="4A5A63"/>
                </a:solidFill>
                <a:latin typeface="Calibri" pitchFamily="34" charset="0"/>
                <a:ea typeface="Calibri" pitchFamily="34" charset="-122"/>
                <a:cs typeface="Calibri" pitchFamily="34" charset="-120"/>
              </a:rPr>
              <a:t>BUILD</a:t>
            </a:r>
            <a:endParaRPr lang="en-US" sz="1100" dirty="0"/>
          </a:p>
        </p:txBody>
      </p:sp>
      <p:sp>
        <p:nvSpPr>
          <p:cNvPr id="7" name="Text 5"/>
          <p:cNvSpPr/>
          <p:nvPr/>
        </p:nvSpPr>
        <p:spPr>
          <a:xfrm>
            <a:off x="777240" y="2468880"/>
            <a:ext cx="4983480" cy="411480"/>
          </a:xfrm>
          <a:prstGeom prst="rect">
            <a:avLst/>
          </a:prstGeom>
          <a:noFill/>
          <a:ln/>
        </p:spPr>
        <p:txBody>
          <a:bodyPr wrap="square" rtlCol="0" anchor="ctr"/>
          <a:lstStyle/>
          <a:p>
            <a:pPr marL="0" indent="0">
              <a:buNone/>
            </a:pPr>
            <a:r>
              <a:rPr lang="en-US" sz="1800" b="1" dirty="0">
                <a:solidFill>
                  <a:srgbClr val="021927"/>
                </a:solidFill>
                <a:latin typeface="Cambria" pitchFamily="34" charset="0"/>
                <a:ea typeface="Cambria" pitchFamily="34" charset="-122"/>
                <a:cs typeface="Cambria" pitchFamily="34" charset="-120"/>
              </a:rPr>
              <a:t>Internal Platform</a:t>
            </a:r>
            <a:endParaRPr lang="en-US" sz="1800" dirty="0"/>
          </a:p>
        </p:txBody>
      </p:sp>
      <p:sp>
        <p:nvSpPr>
          <p:cNvPr id="8" name="Text 6"/>
          <p:cNvSpPr/>
          <p:nvPr/>
        </p:nvSpPr>
        <p:spPr>
          <a:xfrm>
            <a:off x="777240" y="3017520"/>
            <a:ext cx="320040" cy="548640"/>
          </a:xfrm>
          <a:prstGeom prst="rect">
            <a:avLst/>
          </a:prstGeom>
          <a:noFill/>
          <a:ln/>
        </p:spPr>
        <p:txBody>
          <a:bodyPr wrap="square" rtlCol="0" anchor="ctr"/>
          <a:lstStyle/>
          <a:p>
            <a:pPr marL="0" indent="0">
              <a:buNone/>
            </a:pPr>
            <a:r>
              <a:rPr lang="en-US" sz="1300" b="1" dirty="0">
                <a:solidFill>
                  <a:srgbClr val="4A5A63"/>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097280" y="3017520"/>
            <a:ext cx="4617720" cy="548640"/>
          </a:xfrm>
          <a:prstGeom prst="rect">
            <a:avLst/>
          </a:prstGeom>
          <a:noFill/>
          <a:ln/>
        </p:spPr>
        <p:txBody>
          <a:bodyPr wrap="square" rtlCol="0" anchor="ctr"/>
          <a:lstStyle/>
          <a:p>
            <a:pPr marL="0" indent="0">
              <a:lnSpc>
                <a:spcPct val="115000"/>
              </a:lnSpc>
              <a:buNone/>
            </a:pPr>
            <a:r>
              <a:rPr lang="en-US" sz="1050" dirty="0">
                <a:solidFill>
                  <a:srgbClr val="4A5A63"/>
                </a:solidFill>
                <a:latin typeface="Calibri" pitchFamily="34" charset="0"/>
                <a:ea typeface="Calibri" pitchFamily="34" charset="-122"/>
                <a:cs typeface="Calibri" pitchFamily="34" charset="-120"/>
              </a:rPr>
              <a:t>18–36 months to cover consent + discovery + ROPA + PIA + TPRM + breach</a:t>
            </a:r>
            <a:endParaRPr lang="en-US" sz="1050" dirty="0"/>
          </a:p>
        </p:txBody>
      </p:sp>
      <p:sp>
        <p:nvSpPr>
          <p:cNvPr id="10" name="Text 8"/>
          <p:cNvSpPr/>
          <p:nvPr/>
        </p:nvSpPr>
        <p:spPr>
          <a:xfrm>
            <a:off x="777240" y="3593592"/>
            <a:ext cx="320040" cy="548640"/>
          </a:xfrm>
          <a:prstGeom prst="rect">
            <a:avLst/>
          </a:prstGeom>
          <a:noFill/>
          <a:ln/>
        </p:spPr>
        <p:txBody>
          <a:bodyPr wrap="square" rtlCol="0" anchor="ctr"/>
          <a:lstStyle/>
          <a:p>
            <a:pPr marL="0" indent="0">
              <a:buNone/>
            </a:pPr>
            <a:r>
              <a:rPr lang="en-US" sz="1300" b="1" dirty="0">
                <a:solidFill>
                  <a:srgbClr val="4A5A63"/>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097280" y="3593592"/>
            <a:ext cx="4617720" cy="548640"/>
          </a:xfrm>
          <a:prstGeom prst="rect">
            <a:avLst/>
          </a:prstGeom>
          <a:noFill/>
          <a:ln/>
        </p:spPr>
        <p:txBody>
          <a:bodyPr wrap="square" rtlCol="0" anchor="ctr"/>
          <a:lstStyle/>
          <a:p>
            <a:pPr marL="0" indent="0">
              <a:lnSpc>
                <a:spcPct val="115000"/>
              </a:lnSpc>
              <a:buNone/>
            </a:pPr>
            <a:r>
              <a:rPr lang="en-US" sz="1050" dirty="0">
                <a:solidFill>
                  <a:srgbClr val="4A5A63"/>
                </a:solidFill>
                <a:latin typeface="Calibri" pitchFamily="34" charset="0"/>
                <a:ea typeface="Calibri" pitchFamily="34" charset="-122"/>
                <a:cs typeface="Calibri" pitchFamily="34" charset="-120"/>
              </a:rPr>
              <a:t>Ongoing engineering for connectors, classifiers and policy engines</a:t>
            </a:r>
            <a:endParaRPr lang="en-US" sz="1050" dirty="0"/>
          </a:p>
        </p:txBody>
      </p:sp>
      <p:sp>
        <p:nvSpPr>
          <p:cNvPr id="12" name="Text 10"/>
          <p:cNvSpPr/>
          <p:nvPr/>
        </p:nvSpPr>
        <p:spPr>
          <a:xfrm>
            <a:off x="777240" y="4169664"/>
            <a:ext cx="320040" cy="548640"/>
          </a:xfrm>
          <a:prstGeom prst="rect">
            <a:avLst/>
          </a:prstGeom>
          <a:noFill/>
          <a:ln/>
        </p:spPr>
        <p:txBody>
          <a:bodyPr wrap="square" rtlCol="0" anchor="ctr"/>
          <a:lstStyle/>
          <a:p>
            <a:pPr marL="0" indent="0">
              <a:buNone/>
            </a:pPr>
            <a:r>
              <a:rPr lang="en-US" sz="1300" b="1" dirty="0">
                <a:solidFill>
                  <a:srgbClr val="4A5A63"/>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097280" y="4169664"/>
            <a:ext cx="4617720" cy="548640"/>
          </a:xfrm>
          <a:prstGeom prst="rect">
            <a:avLst/>
          </a:prstGeom>
          <a:noFill/>
          <a:ln/>
        </p:spPr>
        <p:txBody>
          <a:bodyPr wrap="square" rtlCol="0" anchor="ctr"/>
          <a:lstStyle/>
          <a:p>
            <a:pPr marL="0" indent="0">
              <a:lnSpc>
                <a:spcPct val="115000"/>
              </a:lnSpc>
              <a:buNone/>
            </a:pPr>
            <a:r>
              <a:rPr lang="en-US" sz="1050" dirty="0">
                <a:solidFill>
                  <a:srgbClr val="4A5A63"/>
                </a:solidFill>
                <a:latin typeface="Calibri" pitchFamily="34" charset="0"/>
                <a:ea typeface="Calibri" pitchFamily="34" charset="-122"/>
                <a:cs typeface="Calibri" pitchFamily="34" charset="-120"/>
              </a:rPr>
              <a:t>Regulation / rule changes force a perpetual backlog</a:t>
            </a:r>
            <a:endParaRPr lang="en-US" sz="1050" dirty="0"/>
          </a:p>
        </p:txBody>
      </p:sp>
      <p:sp>
        <p:nvSpPr>
          <p:cNvPr id="14" name="Text 12"/>
          <p:cNvSpPr/>
          <p:nvPr/>
        </p:nvSpPr>
        <p:spPr>
          <a:xfrm>
            <a:off x="777240" y="4745736"/>
            <a:ext cx="320040" cy="548640"/>
          </a:xfrm>
          <a:prstGeom prst="rect">
            <a:avLst/>
          </a:prstGeom>
          <a:noFill/>
          <a:ln/>
        </p:spPr>
        <p:txBody>
          <a:bodyPr wrap="square" rtlCol="0" anchor="ctr"/>
          <a:lstStyle/>
          <a:p>
            <a:pPr marL="0" indent="0">
              <a:buNone/>
            </a:pPr>
            <a:r>
              <a:rPr lang="en-US" sz="1300" b="1" dirty="0">
                <a:solidFill>
                  <a:srgbClr val="4A5A63"/>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097280" y="4745736"/>
            <a:ext cx="4617720" cy="548640"/>
          </a:xfrm>
          <a:prstGeom prst="rect">
            <a:avLst/>
          </a:prstGeom>
          <a:noFill/>
          <a:ln/>
        </p:spPr>
        <p:txBody>
          <a:bodyPr wrap="square" rtlCol="0" anchor="ctr"/>
          <a:lstStyle/>
          <a:p>
            <a:pPr marL="0" indent="0">
              <a:lnSpc>
                <a:spcPct val="115000"/>
              </a:lnSpc>
              <a:buNone/>
            </a:pPr>
            <a:r>
              <a:rPr lang="en-US" sz="1050" dirty="0">
                <a:solidFill>
                  <a:srgbClr val="4A5A63"/>
                </a:solidFill>
                <a:latin typeface="Calibri" pitchFamily="34" charset="0"/>
                <a:ea typeface="Calibri" pitchFamily="34" charset="-122"/>
                <a:cs typeface="Calibri" pitchFamily="34" charset="-120"/>
              </a:rPr>
              <a:t>Opportunity cost: core product talent diverted</a:t>
            </a:r>
            <a:endParaRPr lang="en-US" sz="1050" dirty="0"/>
          </a:p>
        </p:txBody>
      </p:sp>
      <p:sp>
        <p:nvSpPr>
          <p:cNvPr id="16" name="Text 14"/>
          <p:cNvSpPr/>
          <p:nvPr/>
        </p:nvSpPr>
        <p:spPr>
          <a:xfrm>
            <a:off x="777240" y="5321808"/>
            <a:ext cx="320040" cy="548640"/>
          </a:xfrm>
          <a:prstGeom prst="rect">
            <a:avLst/>
          </a:prstGeom>
          <a:noFill/>
          <a:ln/>
        </p:spPr>
        <p:txBody>
          <a:bodyPr wrap="square" rtlCol="0" anchor="ctr"/>
          <a:lstStyle/>
          <a:p>
            <a:pPr marL="0" indent="0">
              <a:buNone/>
            </a:pPr>
            <a:r>
              <a:rPr lang="en-US" sz="1300" b="1" dirty="0">
                <a:solidFill>
                  <a:srgbClr val="4A5A63"/>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097280" y="5321808"/>
            <a:ext cx="4617720" cy="548640"/>
          </a:xfrm>
          <a:prstGeom prst="rect">
            <a:avLst/>
          </a:prstGeom>
          <a:noFill/>
          <a:ln/>
        </p:spPr>
        <p:txBody>
          <a:bodyPr wrap="square" rtlCol="0" anchor="ctr"/>
          <a:lstStyle/>
          <a:p>
            <a:pPr marL="0" indent="0">
              <a:lnSpc>
                <a:spcPct val="115000"/>
              </a:lnSpc>
              <a:buNone/>
            </a:pPr>
            <a:r>
              <a:rPr lang="en-US" sz="1050" dirty="0">
                <a:solidFill>
                  <a:srgbClr val="4A5A63"/>
                </a:solidFill>
                <a:latin typeface="Calibri" pitchFamily="34" charset="0"/>
                <a:ea typeface="Calibri" pitchFamily="34" charset="-122"/>
                <a:cs typeface="Calibri" pitchFamily="34" charset="-120"/>
              </a:rPr>
              <a:t>Hidden cost: 8–15 FTEs across engineering, privacy and SecOps</a:t>
            </a:r>
            <a:endParaRPr lang="en-US" sz="1050" dirty="0"/>
          </a:p>
        </p:txBody>
      </p:sp>
      <p:sp>
        <p:nvSpPr>
          <p:cNvPr id="18" name="Shape 16"/>
          <p:cNvSpPr/>
          <p:nvPr/>
        </p:nvSpPr>
        <p:spPr>
          <a:xfrm>
            <a:off x="6199632" y="1892808"/>
            <a:ext cx="5440680" cy="4123944"/>
          </a:xfrm>
          <a:prstGeom prst="roundRect">
            <a:avLst>
              <a:gd name="adj" fmla="val 1996"/>
            </a:avLst>
          </a:prstGeom>
          <a:solidFill>
            <a:srgbClr val="021927"/>
          </a:solidFill>
          <a:ln w="12700">
            <a:solidFill>
              <a:srgbClr val="E3D9C4"/>
            </a:solidFill>
            <a:prstDash val="solid"/>
          </a:ln>
          <a:effectLst>
            <a:outerShdw blurRad="101600" dist="25400" dir="5400000" algn="bl" rotWithShape="0">
              <a:srgbClr val="021927">
                <a:alpha val="12000"/>
              </a:srgbClr>
            </a:outerShdw>
          </a:effectLst>
        </p:spPr>
      </p:sp>
      <p:sp>
        <p:nvSpPr>
          <p:cNvPr id="19" name="Text 17"/>
          <p:cNvSpPr/>
          <p:nvPr/>
        </p:nvSpPr>
        <p:spPr>
          <a:xfrm>
            <a:off x="6428232" y="2093976"/>
            <a:ext cx="4983480" cy="320040"/>
          </a:xfrm>
          <a:prstGeom prst="rect">
            <a:avLst/>
          </a:prstGeom>
          <a:noFill/>
          <a:ln/>
        </p:spPr>
        <p:txBody>
          <a:bodyPr wrap="square" rtlCol="0" anchor="ctr"/>
          <a:lstStyle/>
          <a:p>
            <a:pPr marL="0" indent="0">
              <a:buNone/>
            </a:pPr>
            <a:r>
              <a:rPr lang="en-US" sz="1100" b="1" kern="0" spc="200" dirty="0">
                <a:solidFill>
                  <a:srgbClr val="F9A87B"/>
                </a:solidFill>
                <a:latin typeface="Calibri" pitchFamily="34" charset="0"/>
                <a:ea typeface="Calibri" pitchFamily="34" charset="-122"/>
                <a:cs typeface="Calibri" pitchFamily="34" charset="-120"/>
              </a:rPr>
              <a:t>BUY Comply360</a:t>
            </a:r>
            <a:endParaRPr lang="en-US" sz="1100" dirty="0"/>
          </a:p>
        </p:txBody>
      </p:sp>
      <p:sp>
        <p:nvSpPr>
          <p:cNvPr id="20" name="Text 18"/>
          <p:cNvSpPr/>
          <p:nvPr/>
        </p:nvSpPr>
        <p:spPr>
          <a:xfrm>
            <a:off x="6428232" y="2414016"/>
            <a:ext cx="4983480" cy="411480"/>
          </a:xfrm>
          <a:prstGeom prst="rect">
            <a:avLst/>
          </a:prstGeom>
          <a:noFill/>
          <a:ln/>
        </p:spPr>
        <p:txBody>
          <a:bodyPr wrap="square" rtlCol="0" anchor="ctr"/>
          <a:lstStyle/>
          <a:p>
            <a:pPr marL="0" indent="0">
              <a:buNone/>
            </a:pPr>
            <a:r>
              <a:rPr lang="en-US" sz="1800" b="1" dirty="0">
                <a:solidFill>
                  <a:srgbClr val="F4EEDE"/>
                </a:solidFill>
                <a:latin typeface="Cambria" pitchFamily="34" charset="0"/>
                <a:ea typeface="Cambria" pitchFamily="34" charset="-122"/>
                <a:cs typeface="Cambria" pitchFamily="34" charset="-120"/>
              </a:rPr>
              <a:t>Purpose-Built AI Platform</a:t>
            </a:r>
            <a:endParaRPr lang="en-US" sz="1800" dirty="0"/>
          </a:p>
        </p:txBody>
      </p:sp>
      <p:sp>
        <p:nvSpPr>
          <p:cNvPr id="21" name="Text 19"/>
          <p:cNvSpPr/>
          <p:nvPr/>
        </p:nvSpPr>
        <p:spPr>
          <a:xfrm>
            <a:off x="6428232" y="2980944"/>
            <a:ext cx="320040" cy="548640"/>
          </a:xfrm>
          <a:prstGeom prst="rect">
            <a:avLst/>
          </a:prstGeom>
          <a:noFill/>
          <a:ln/>
        </p:spPr>
        <p:txBody>
          <a:bodyPr wrap="square" rtlCol="0" anchor="ctr"/>
          <a:lstStyle/>
          <a:p>
            <a:pPr marL="0" indent="0">
              <a:buNone/>
            </a:pPr>
            <a:r>
              <a:rPr lang="en-US" sz="1300" b="1" dirty="0">
                <a:solidFill>
                  <a:srgbClr val="F26722"/>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6748272" y="2980944"/>
            <a:ext cx="4617720" cy="548640"/>
          </a:xfrm>
          <a:prstGeom prst="rect">
            <a:avLst/>
          </a:prstGeom>
          <a:noFill/>
          <a:ln/>
        </p:spPr>
        <p:txBody>
          <a:bodyPr wrap="square" rtlCol="0" anchor="ctr"/>
          <a:lstStyle/>
          <a:p>
            <a:pPr marL="0" indent="0">
              <a:lnSpc>
                <a:spcPct val="115000"/>
              </a:lnSpc>
              <a:buNone/>
            </a:pPr>
            <a:r>
              <a:rPr lang="en-US" sz="1050" dirty="0">
                <a:solidFill>
                  <a:srgbClr val="F4EEDE"/>
                </a:solidFill>
                <a:latin typeface="Calibri" pitchFamily="34" charset="0"/>
                <a:ea typeface="Calibri" pitchFamily="34" charset="-122"/>
                <a:cs typeface="Calibri" pitchFamily="34" charset="-120"/>
              </a:rPr>
              <a:t>Months to first demonstrable posture — not years</a:t>
            </a:r>
            <a:endParaRPr lang="en-US" sz="1050" dirty="0"/>
          </a:p>
        </p:txBody>
      </p:sp>
      <p:sp>
        <p:nvSpPr>
          <p:cNvPr id="23" name="Text 21"/>
          <p:cNvSpPr/>
          <p:nvPr/>
        </p:nvSpPr>
        <p:spPr>
          <a:xfrm>
            <a:off x="6428232" y="3557016"/>
            <a:ext cx="320040" cy="548640"/>
          </a:xfrm>
          <a:prstGeom prst="rect">
            <a:avLst/>
          </a:prstGeom>
          <a:noFill/>
          <a:ln/>
        </p:spPr>
        <p:txBody>
          <a:bodyPr wrap="square" rtlCol="0" anchor="ctr"/>
          <a:lstStyle/>
          <a:p>
            <a:pPr marL="0" indent="0">
              <a:buNone/>
            </a:pPr>
            <a:r>
              <a:rPr lang="en-US" sz="1300" b="1" dirty="0">
                <a:solidFill>
                  <a:srgbClr val="F26722"/>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6748272" y="3557016"/>
            <a:ext cx="4617720" cy="548640"/>
          </a:xfrm>
          <a:prstGeom prst="rect">
            <a:avLst/>
          </a:prstGeom>
          <a:noFill/>
          <a:ln/>
        </p:spPr>
        <p:txBody>
          <a:bodyPr wrap="square" rtlCol="0" anchor="ctr"/>
          <a:lstStyle/>
          <a:p>
            <a:pPr marL="0" indent="0">
              <a:lnSpc>
                <a:spcPct val="115000"/>
              </a:lnSpc>
              <a:buNone/>
            </a:pPr>
            <a:r>
              <a:rPr lang="en-US" sz="1050" dirty="0">
                <a:solidFill>
                  <a:srgbClr val="F4EEDE"/>
                </a:solidFill>
                <a:latin typeface="Calibri" pitchFamily="34" charset="0"/>
                <a:ea typeface="Calibri" pitchFamily="34" charset="-122"/>
                <a:cs typeface="Calibri" pitchFamily="34" charset="-120"/>
              </a:rPr>
              <a:t>India-aligned DPDP modules out of the box</a:t>
            </a:r>
            <a:endParaRPr lang="en-US" sz="1050" dirty="0"/>
          </a:p>
        </p:txBody>
      </p:sp>
      <p:sp>
        <p:nvSpPr>
          <p:cNvPr id="25" name="Text 23"/>
          <p:cNvSpPr/>
          <p:nvPr/>
        </p:nvSpPr>
        <p:spPr>
          <a:xfrm>
            <a:off x="6428232" y="4133088"/>
            <a:ext cx="320040" cy="548640"/>
          </a:xfrm>
          <a:prstGeom prst="rect">
            <a:avLst/>
          </a:prstGeom>
          <a:noFill/>
          <a:ln/>
        </p:spPr>
        <p:txBody>
          <a:bodyPr wrap="square" rtlCol="0" anchor="ctr"/>
          <a:lstStyle/>
          <a:p>
            <a:pPr marL="0" indent="0">
              <a:buNone/>
            </a:pPr>
            <a:r>
              <a:rPr lang="en-US" sz="1300" b="1" dirty="0">
                <a:solidFill>
                  <a:srgbClr val="F26722"/>
                </a:solidFill>
                <a:latin typeface="Calibri" pitchFamily="34" charset="0"/>
                <a:ea typeface="Calibri" pitchFamily="34" charset="-122"/>
                <a:cs typeface="Calibri" pitchFamily="34" charset="-120"/>
              </a:rPr>
              <a:t>✓</a:t>
            </a:r>
            <a:endParaRPr lang="en-US" sz="1300" dirty="0"/>
          </a:p>
        </p:txBody>
      </p:sp>
      <p:sp>
        <p:nvSpPr>
          <p:cNvPr id="26" name="Text 24"/>
          <p:cNvSpPr/>
          <p:nvPr/>
        </p:nvSpPr>
        <p:spPr>
          <a:xfrm>
            <a:off x="6748272" y="4133088"/>
            <a:ext cx="4617720" cy="548640"/>
          </a:xfrm>
          <a:prstGeom prst="rect">
            <a:avLst/>
          </a:prstGeom>
          <a:noFill/>
          <a:ln/>
        </p:spPr>
        <p:txBody>
          <a:bodyPr wrap="square" rtlCol="0" anchor="ctr"/>
          <a:lstStyle/>
          <a:p>
            <a:pPr marL="0" indent="0">
              <a:lnSpc>
                <a:spcPct val="115000"/>
              </a:lnSpc>
              <a:buNone/>
            </a:pPr>
            <a:r>
              <a:rPr lang="en-US" sz="1050" dirty="0">
                <a:solidFill>
                  <a:srgbClr val="F4EEDE"/>
                </a:solidFill>
                <a:latin typeface="Calibri" pitchFamily="34" charset="0"/>
                <a:ea typeface="Calibri" pitchFamily="34" charset="-122"/>
                <a:cs typeface="Calibri" pitchFamily="34" charset="-120"/>
              </a:rPr>
              <a:t>AI assessments, policies and gap detection from day one</a:t>
            </a:r>
            <a:endParaRPr lang="en-US" sz="1050" dirty="0"/>
          </a:p>
        </p:txBody>
      </p:sp>
      <p:sp>
        <p:nvSpPr>
          <p:cNvPr id="27" name="Text 25"/>
          <p:cNvSpPr/>
          <p:nvPr/>
        </p:nvSpPr>
        <p:spPr>
          <a:xfrm>
            <a:off x="6428232" y="4709160"/>
            <a:ext cx="320040" cy="548640"/>
          </a:xfrm>
          <a:prstGeom prst="rect">
            <a:avLst/>
          </a:prstGeom>
          <a:noFill/>
          <a:ln/>
        </p:spPr>
        <p:txBody>
          <a:bodyPr wrap="square" rtlCol="0" anchor="ctr"/>
          <a:lstStyle/>
          <a:p>
            <a:pPr marL="0" indent="0">
              <a:buNone/>
            </a:pPr>
            <a:r>
              <a:rPr lang="en-US" sz="1300" b="1" dirty="0">
                <a:solidFill>
                  <a:srgbClr val="F26722"/>
                </a:solidFill>
                <a:latin typeface="Calibri" pitchFamily="34" charset="0"/>
                <a:ea typeface="Calibri" pitchFamily="34" charset="-122"/>
                <a:cs typeface="Calibri" pitchFamily="34" charset="-120"/>
              </a:rPr>
              <a:t>✓</a:t>
            </a:r>
            <a:endParaRPr lang="en-US" sz="1300" dirty="0"/>
          </a:p>
        </p:txBody>
      </p:sp>
      <p:sp>
        <p:nvSpPr>
          <p:cNvPr id="28" name="Text 26"/>
          <p:cNvSpPr/>
          <p:nvPr/>
        </p:nvSpPr>
        <p:spPr>
          <a:xfrm>
            <a:off x="6748272" y="4709160"/>
            <a:ext cx="4617720" cy="548640"/>
          </a:xfrm>
          <a:prstGeom prst="rect">
            <a:avLst/>
          </a:prstGeom>
          <a:noFill/>
          <a:ln/>
        </p:spPr>
        <p:txBody>
          <a:bodyPr wrap="square" rtlCol="0" anchor="ctr"/>
          <a:lstStyle/>
          <a:p>
            <a:pPr marL="0" indent="0">
              <a:lnSpc>
                <a:spcPct val="115000"/>
              </a:lnSpc>
              <a:buNone/>
            </a:pPr>
            <a:r>
              <a:rPr lang="en-US" sz="1050" dirty="0">
                <a:solidFill>
                  <a:srgbClr val="F4EEDE"/>
                </a:solidFill>
                <a:latin typeface="Calibri" pitchFamily="34" charset="0"/>
                <a:ea typeface="Calibri" pitchFamily="34" charset="-122"/>
                <a:cs typeface="Calibri" pitchFamily="34" charset="-120"/>
              </a:rPr>
              <a:t>Vendor roadmap absorbs Act / rule updates</a:t>
            </a:r>
            <a:endParaRPr lang="en-US" sz="1050" dirty="0"/>
          </a:p>
        </p:txBody>
      </p:sp>
      <p:sp>
        <p:nvSpPr>
          <p:cNvPr id="29" name="Text 27"/>
          <p:cNvSpPr/>
          <p:nvPr/>
        </p:nvSpPr>
        <p:spPr>
          <a:xfrm>
            <a:off x="6428232" y="5285232"/>
            <a:ext cx="320040" cy="548640"/>
          </a:xfrm>
          <a:prstGeom prst="rect">
            <a:avLst/>
          </a:prstGeom>
          <a:noFill/>
          <a:ln/>
        </p:spPr>
        <p:txBody>
          <a:bodyPr wrap="square" rtlCol="0" anchor="ctr"/>
          <a:lstStyle/>
          <a:p>
            <a:pPr marL="0" indent="0">
              <a:buNone/>
            </a:pPr>
            <a:r>
              <a:rPr lang="en-US" sz="1300" b="1" dirty="0">
                <a:solidFill>
                  <a:srgbClr val="F26722"/>
                </a:solidFill>
                <a:latin typeface="Calibri" pitchFamily="34" charset="0"/>
                <a:ea typeface="Calibri" pitchFamily="34" charset="-122"/>
                <a:cs typeface="Calibri" pitchFamily="34" charset="-120"/>
              </a:rPr>
              <a:t>✓</a:t>
            </a:r>
            <a:endParaRPr lang="en-US" sz="1300" dirty="0"/>
          </a:p>
        </p:txBody>
      </p:sp>
      <p:sp>
        <p:nvSpPr>
          <p:cNvPr id="30" name="Text 28"/>
          <p:cNvSpPr/>
          <p:nvPr/>
        </p:nvSpPr>
        <p:spPr>
          <a:xfrm>
            <a:off x="6748272" y="5285232"/>
            <a:ext cx="4617720" cy="548640"/>
          </a:xfrm>
          <a:prstGeom prst="rect">
            <a:avLst/>
          </a:prstGeom>
          <a:noFill/>
          <a:ln/>
        </p:spPr>
        <p:txBody>
          <a:bodyPr wrap="square" rtlCol="0" anchor="ctr"/>
          <a:lstStyle/>
          <a:p>
            <a:pPr marL="0" indent="0">
              <a:lnSpc>
                <a:spcPct val="115000"/>
              </a:lnSpc>
              <a:buNone/>
            </a:pPr>
            <a:r>
              <a:rPr lang="en-US" sz="1050" dirty="0">
                <a:solidFill>
                  <a:srgbClr val="F4EEDE"/>
                </a:solidFill>
                <a:latin typeface="Calibri" pitchFamily="34" charset="0"/>
                <a:ea typeface="Calibri" pitchFamily="34" charset="-122"/>
                <a:cs typeface="Calibri" pitchFamily="34" charset="-120"/>
              </a:rPr>
              <a:t>Your team configures and governs — doesn't reinvent plumbing</a:t>
            </a:r>
            <a:endParaRPr lang="en-US" sz="1050" dirty="0"/>
          </a:p>
        </p:txBody>
      </p:sp>
      <p:sp>
        <p:nvSpPr>
          <p:cNvPr id="31" name="Text 29"/>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2" name="Text 30"/>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Implementation Roadmap</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Four phases from foundation to AI-assisted, steady-state operations.</a:t>
            </a:r>
            <a:endParaRPr lang="en-US" sz="1400" dirty="0"/>
          </a:p>
        </p:txBody>
      </p:sp>
      <p:sp>
        <p:nvSpPr>
          <p:cNvPr id="4" name="Shape 2"/>
          <p:cNvSpPr/>
          <p:nvPr/>
        </p:nvSpPr>
        <p:spPr>
          <a:xfrm>
            <a:off x="548640" y="1828800"/>
            <a:ext cx="2651760" cy="4114800"/>
          </a:xfrm>
          <a:prstGeom prst="roundRect">
            <a:avLst>
              <a:gd name="adj" fmla="val 3103"/>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5" name="Text 3"/>
          <p:cNvSpPr/>
          <p:nvPr/>
        </p:nvSpPr>
        <p:spPr>
          <a:xfrm>
            <a:off x="713232" y="1975104"/>
            <a:ext cx="2322576" cy="274320"/>
          </a:xfrm>
          <a:prstGeom prst="rect">
            <a:avLst/>
          </a:prstGeom>
          <a:noFill/>
          <a:ln/>
        </p:spPr>
        <p:txBody>
          <a:bodyPr wrap="square" rtlCol="0" anchor="ctr"/>
          <a:lstStyle/>
          <a:p>
            <a:pPr marL="0" indent="0">
              <a:buNone/>
            </a:pPr>
            <a:r>
              <a:rPr lang="en-US" sz="1000" b="1" kern="0" spc="150" dirty="0">
                <a:solidFill>
                  <a:srgbClr val="F26722"/>
                </a:solidFill>
                <a:latin typeface="Calibri" pitchFamily="34" charset="0"/>
                <a:ea typeface="Calibri" pitchFamily="34" charset="-122"/>
                <a:cs typeface="Calibri" pitchFamily="34" charset="-120"/>
              </a:rPr>
              <a:t>PHASE 0</a:t>
            </a:r>
            <a:endParaRPr lang="en-US" sz="1000" dirty="0"/>
          </a:p>
        </p:txBody>
      </p:sp>
      <p:sp>
        <p:nvSpPr>
          <p:cNvPr id="6" name="Text 4"/>
          <p:cNvSpPr/>
          <p:nvPr/>
        </p:nvSpPr>
        <p:spPr>
          <a:xfrm>
            <a:off x="713232" y="2249424"/>
            <a:ext cx="2322576" cy="502920"/>
          </a:xfrm>
          <a:prstGeom prst="rect">
            <a:avLst/>
          </a:prstGeom>
          <a:noFill/>
          <a:ln/>
        </p:spPr>
        <p:txBody>
          <a:bodyPr wrap="square" rtlCol="0" anchor="ctr"/>
          <a:lstStyle/>
          <a:p>
            <a:pPr marL="0" indent="0">
              <a:lnSpc>
                <a:spcPct val="100000"/>
              </a:lnSpc>
              <a:buNone/>
            </a:pPr>
            <a:r>
              <a:rPr lang="en-US" sz="1450" b="1" dirty="0">
                <a:solidFill>
                  <a:srgbClr val="021927"/>
                </a:solidFill>
                <a:latin typeface="Cambria" pitchFamily="34" charset="0"/>
                <a:ea typeface="Cambria" pitchFamily="34" charset="-122"/>
                <a:cs typeface="Cambria" pitchFamily="34" charset="-120"/>
              </a:rPr>
              <a:t>Foundation</a:t>
            </a:r>
            <a:endParaRPr lang="en-US" sz="1450" dirty="0"/>
          </a:p>
        </p:txBody>
      </p:sp>
      <p:sp>
        <p:nvSpPr>
          <p:cNvPr id="7" name="Shape 5"/>
          <p:cNvSpPr/>
          <p:nvPr/>
        </p:nvSpPr>
        <p:spPr>
          <a:xfrm>
            <a:off x="713232" y="2944368"/>
            <a:ext cx="73152" cy="73152"/>
          </a:xfrm>
          <a:prstGeom prst="ellipse">
            <a:avLst/>
          </a:prstGeom>
          <a:solidFill>
            <a:srgbClr val="F26722"/>
          </a:solidFill>
          <a:ln/>
        </p:spPr>
      </p:sp>
      <p:sp>
        <p:nvSpPr>
          <p:cNvPr id="9" name="Shape 7"/>
          <p:cNvSpPr/>
          <p:nvPr/>
        </p:nvSpPr>
        <p:spPr>
          <a:xfrm>
            <a:off x="713232" y="3493008"/>
            <a:ext cx="73152" cy="73152"/>
          </a:xfrm>
          <a:prstGeom prst="ellipse">
            <a:avLst/>
          </a:prstGeom>
          <a:solidFill>
            <a:srgbClr val="F26722"/>
          </a:solidFill>
          <a:ln/>
        </p:spPr>
      </p:sp>
      <p:sp>
        <p:nvSpPr>
          <p:cNvPr id="11" name="Shape 9"/>
          <p:cNvSpPr/>
          <p:nvPr/>
        </p:nvSpPr>
        <p:spPr>
          <a:xfrm>
            <a:off x="713232" y="4041648"/>
            <a:ext cx="73152" cy="73152"/>
          </a:xfrm>
          <a:prstGeom prst="ellipse">
            <a:avLst/>
          </a:prstGeom>
          <a:solidFill>
            <a:srgbClr val="F26722"/>
          </a:solidFill>
          <a:ln/>
        </p:spPr>
      </p:sp>
      <p:sp>
        <p:nvSpPr>
          <p:cNvPr id="13" name="Shape 11"/>
          <p:cNvSpPr/>
          <p:nvPr/>
        </p:nvSpPr>
        <p:spPr>
          <a:xfrm>
            <a:off x="713232" y="4590288"/>
            <a:ext cx="73152" cy="73152"/>
          </a:xfrm>
          <a:prstGeom prst="ellipse">
            <a:avLst/>
          </a:prstGeom>
          <a:solidFill>
            <a:srgbClr val="F26722"/>
          </a:solidFill>
          <a:ln/>
        </p:spPr>
      </p:sp>
      <p:grpSp>
        <p:nvGrpSpPr>
          <p:cNvPr id="61" name="Group 60">
            <a:extLst>
              <a:ext uri="{FF2B5EF4-FFF2-40B4-BE49-F238E27FC236}">
                <a16:creationId xmlns:a16="http://schemas.microsoft.com/office/drawing/2014/main" id="{B3D9EAA3-5BC3-79CE-1A05-DDDE8744F40F}"/>
              </a:ext>
            </a:extLst>
          </p:cNvPr>
          <p:cNvGrpSpPr/>
          <p:nvPr/>
        </p:nvGrpSpPr>
        <p:grpSpPr>
          <a:xfrm>
            <a:off x="813816" y="2724912"/>
            <a:ext cx="2157984" cy="2148840"/>
            <a:chOff x="877824" y="2880360"/>
            <a:chExt cx="2157984" cy="2148840"/>
          </a:xfrm>
        </p:grpSpPr>
        <p:sp>
          <p:nvSpPr>
            <p:cNvPr id="8" name="Text 6"/>
            <p:cNvSpPr/>
            <p:nvPr/>
          </p:nvSpPr>
          <p:spPr>
            <a:xfrm>
              <a:off x="877824" y="288036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Scope &amp; data domains</a:t>
              </a:r>
              <a:endParaRPr lang="en-US" sz="960" dirty="0"/>
            </a:p>
          </p:txBody>
        </p:sp>
        <p:sp>
          <p:nvSpPr>
            <p:cNvPr id="10" name="Text 8"/>
            <p:cNvSpPr/>
            <p:nvPr/>
          </p:nvSpPr>
          <p:spPr>
            <a:xfrm>
              <a:off x="877824" y="342900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Connect systems</a:t>
              </a:r>
              <a:endParaRPr lang="en-US" sz="960" dirty="0"/>
            </a:p>
          </p:txBody>
        </p:sp>
        <p:sp>
          <p:nvSpPr>
            <p:cNvPr id="12" name="Text 10"/>
            <p:cNvSpPr/>
            <p:nvPr/>
          </p:nvSpPr>
          <p:spPr>
            <a:xfrm>
              <a:off x="877824" y="397764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Baseline discovery</a:t>
              </a:r>
              <a:endParaRPr lang="en-US" sz="960" dirty="0"/>
            </a:p>
          </p:txBody>
        </p:sp>
        <p:sp>
          <p:nvSpPr>
            <p:cNvPr id="14" name="Text 12"/>
            <p:cNvSpPr/>
            <p:nvPr/>
          </p:nvSpPr>
          <p:spPr>
            <a:xfrm>
              <a:off x="877824" y="452628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Team onboarding</a:t>
              </a:r>
              <a:endParaRPr lang="en-US" sz="960" dirty="0"/>
            </a:p>
          </p:txBody>
        </p:sp>
      </p:grpSp>
      <p:sp>
        <p:nvSpPr>
          <p:cNvPr id="15" name="Shape 13"/>
          <p:cNvSpPr/>
          <p:nvPr/>
        </p:nvSpPr>
        <p:spPr>
          <a:xfrm>
            <a:off x="713232" y="5440680"/>
            <a:ext cx="2322576" cy="0"/>
          </a:xfrm>
          <a:prstGeom prst="line">
            <a:avLst/>
          </a:prstGeom>
          <a:noFill/>
          <a:ln w="12700">
            <a:solidFill>
              <a:srgbClr val="E3D9C4"/>
            </a:solidFill>
            <a:prstDash val="solid"/>
          </a:ln>
        </p:spPr>
      </p:sp>
      <p:sp>
        <p:nvSpPr>
          <p:cNvPr id="16" name="Text 14"/>
          <p:cNvSpPr/>
          <p:nvPr/>
        </p:nvSpPr>
        <p:spPr>
          <a:xfrm>
            <a:off x="713232" y="5522976"/>
            <a:ext cx="2322576" cy="365760"/>
          </a:xfrm>
          <a:prstGeom prst="rect">
            <a:avLst/>
          </a:prstGeom>
          <a:noFill/>
          <a:ln/>
        </p:spPr>
        <p:txBody>
          <a:bodyPr wrap="square" rtlCol="0" anchor="ctr"/>
          <a:lstStyle/>
          <a:p>
            <a:pPr marL="0" indent="0">
              <a:lnSpc>
                <a:spcPct val="105000"/>
              </a:lnSpc>
              <a:buNone/>
            </a:pPr>
            <a:r>
              <a:rPr lang="en-US" sz="930" b="1" i="1" dirty="0">
                <a:solidFill>
                  <a:srgbClr val="C6501A"/>
                </a:solidFill>
                <a:latin typeface="Calibri" pitchFamily="34" charset="0"/>
                <a:ea typeface="Calibri" pitchFamily="34" charset="-122"/>
                <a:cs typeface="Calibri" pitchFamily="34" charset="-120"/>
              </a:rPr>
              <a:t>Onboard — first inventory signal</a:t>
            </a:r>
            <a:endParaRPr lang="en-US" sz="930" dirty="0"/>
          </a:p>
        </p:txBody>
      </p:sp>
      <p:sp>
        <p:nvSpPr>
          <p:cNvPr id="17" name="Text 15"/>
          <p:cNvSpPr/>
          <p:nvPr/>
        </p:nvSpPr>
        <p:spPr>
          <a:xfrm>
            <a:off x="3182112" y="3657600"/>
            <a:ext cx="274320" cy="457200"/>
          </a:xfrm>
          <a:prstGeom prst="rect">
            <a:avLst/>
          </a:prstGeom>
          <a:noFill/>
          <a:ln/>
        </p:spPr>
        <p:txBody>
          <a:bodyPr wrap="square" rtlCol="0" anchor="ctr"/>
          <a:lstStyle/>
          <a:p>
            <a:pPr marL="0" indent="0" algn="ctr">
              <a:buNone/>
            </a:pPr>
            <a:r>
              <a:rPr lang="en-US" sz="1600" b="1" dirty="0">
                <a:solidFill>
                  <a:srgbClr val="F26722"/>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3392424" y="1828800"/>
            <a:ext cx="2651760" cy="4114800"/>
          </a:xfrm>
          <a:prstGeom prst="roundRect">
            <a:avLst>
              <a:gd name="adj" fmla="val 3103"/>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9" name="Text 17"/>
          <p:cNvSpPr/>
          <p:nvPr/>
        </p:nvSpPr>
        <p:spPr>
          <a:xfrm>
            <a:off x="3557016" y="1975104"/>
            <a:ext cx="2322576" cy="274320"/>
          </a:xfrm>
          <a:prstGeom prst="rect">
            <a:avLst/>
          </a:prstGeom>
          <a:noFill/>
          <a:ln/>
        </p:spPr>
        <p:txBody>
          <a:bodyPr wrap="square" rtlCol="0" anchor="ctr"/>
          <a:lstStyle/>
          <a:p>
            <a:pPr marL="0" indent="0">
              <a:buNone/>
            </a:pPr>
            <a:r>
              <a:rPr lang="en-US" sz="1000" b="1" kern="0" spc="150" dirty="0">
                <a:solidFill>
                  <a:srgbClr val="F26722"/>
                </a:solidFill>
                <a:latin typeface="Calibri" pitchFamily="34" charset="0"/>
                <a:ea typeface="Calibri" pitchFamily="34" charset="-122"/>
                <a:cs typeface="Calibri" pitchFamily="34" charset="-120"/>
              </a:rPr>
              <a:t>PHASE 1</a:t>
            </a:r>
            <a:endParaRPr lang="en-US" sz="1000" dirty="0"/>
          </a:p>
        </p:txBody>
      </p:sp>
      <p:sp>
        <p:nvSpPr>
          <p:cNvPr id="20" name="Text 18"/>
          <p:cNvSpPr/>
          <p:nvPr/>
        </p:nvSpPr>
        <p:spPr>
          <a:xfrm>
            <a:off x="3557016" y="2249424"/>
            <a:ext cx="2322576" cy="502920"/>
          </a:xfrm>
          <a:prstGeom prst="rect">
            <a:avLst/>
          </a:prstGeom>
          <a:noFill/>
          <a:ln/>
        </p:spPr>
        <p:txBody>
          <a:bodyPr wrap="square" rtlCol="0" anchor="ctr"/>
          <a:lstStyle/>
          <a:p>
            <a:pPr marL="0" indent="0">
              <a:lnSpc>
                <a:spcPct val="100000"/>
              </a:lnSpc>
              <a:buNone/>
            </a:pPr>
            <a:r>
              <a:rPr lang="en-US" sz="1450" b="1" dirty="0">
                <a:solidFill>
                  <a:srgbClr val="021927"/>
                </a:solidFill>
                <a:latin typeface="Cambria" pitchFamily="34" charset="0"/>
                <a:ea typeface="Cambria" pitchFamily="34" charset="-122"/>
                <a:cs typeface="Cambria" pitchFamily="34" charset="-120"/>
              </a:rPr>
              <a:t>Control Plane Live</a:t>
            </a:r>
            <a:endParaRPr lang="en-US" sz="1450" dirty="0"/>
          </a:p>
        </p:txBody>
      </p:sp>
      <p:sp>
        <p:nvSpPr>
          <p:cNvPr id="21" name="Shape 19"/>
          <p:cNvSpPr/>
          <p:nvPr/>
        </p:nvSpPr>
        <p:spPr>
          <a:xfrm>
            <a:off x="3557016" y="2944368"/>
            <a:ext cx="73152" cy="73152"/>
          </a:xfrm>
          <a:prstGeom prst="ellipse">
            <a:avLst/>
          </a:prstGeom>
          <a:solidFill>
            <a:srgbClr val="F26722"/>
          </a:solidFill>
          <a:ln/>
        </p:spPr>
      </p:sp>
      <p:sp>
        <p:nvSpPr>
          <p:cNvPr id="23" name="Shape 21"/>
          <p:cNvSpPr/>
          <p:nvPr/>
        </p:nvSpPr>
        <p:spPr>
          <a:xfrm>
            <a:off x="3557016" y="3493008"/>
            <a:ext cx="73152" cy="73152"/>
          </a:xfrm>
          <a:prstGeom prst="ellipse">
            <a:avLst/>
          </a:prstGeom>
          <a:solidFill>
            <a:srgbClr val="F26722"/>
          </a:solidFill>
          <a:ln/>
        </p:spPr>
      </p:sp>
      <p:sp>
        <p:nvSpPr>
          <p:cNvPr id="25" name="Shape 23"/>
          <p:cNvSpPr/>
          <p:nvPr/>
        </p:nvSpPr>
        <p:spPr>
          <a:xfrm>
            <a:off x="3557016" y="4041648"/>
            <a:ext cx="73152" cy="73152"/>
          </a:xfrm>
          <a:prstGeom prst="ellipse">
            <a:avLst/>
          </a:prstGeom>
          <a:solidFill>
            <a:srgbClr val="F26722"/>
          </a:solidFill>
          <a:ln/>
        </p:spPr>
      </p:sp>
      <p:sp>
        <p:nvSpPr>
          <p:cNvPr id="27" name="Shape 25"/>
          <p:cNvSpPr/>
          <p:nvPr/>
        </p:nvSpPr>
        <p:spPr>
          <a:xfrm>
            <a:off x="3557016" y="4590288"/>
            <a:ext cx="73152" cy="73152"/>
          </a:xfrm>
          <a:prstGeom prst="ellipse">
            <a:avLst/>
          </a:prstGeom>
          <a:solidFill>
            <a:srgbClr val="F26722"/>
          </a:solidFill>
          <a:ln/>
        </p:spPr>
      </p:sp>
      <p:grpSp>
        <p:nvGrpSpPr>
          <p:cNvPr id="63" name="Group 62">
            <a:extLst>
              <a:ext uri="{FF2B5EF4-FFF2-40B4-BE49-F238E27FC236}">
                <a16:creationId xmlns:a16="http://schemas.microsoft.com/office/drawing/2014/main" id="{40703B80-1413-767C-DCDF-721B3C1723B8}"/>
              </a:ext>
            </a:extLst>
          </p:cNvPr>
          <p:cNvGrpSpPr/>
          <p:nvPr/>
        </p:nvGrpSpPr>
        <p:grpSpPr>
          <a:xfrm>
            <a:off x="3648456" y="2734056"/>
            <a:ext cx="2157984" cy="2148840"/>
            <a:chOff x="3694176" y="2880360"/>
            <a:chExt cx="2157984" cy="2148840"/>
          </a:xfrm>
        </p:grpSpPr>
        <p:grpSp>
          <p:nvGrpSpPr>
            <p:cNvPr id="62" name="Group 61">
              <a:extLst>
                <a:ext uri="{FF2B5EF4-FFF2-40B4-BE49-F238E27FC236}">
                  <a16:creationId xmlns:a16="http://schemas.microsoft.com/office/drawing/2014/main" id="{0E1C4A11-48E1-9850-7790-56D2C98FC850}"/>
                </a:ext>
              </a:extLst>
            </p:cNvPr>
            <p:cNvGrpSpPr/>
            <p:nvPr/>
          </p:nvGrpSpPr>
          <p:grpSpPr>
            <a:xfrm>
              <a:off x="3694176" y="2880360"/>
              <a:ext cx="2157984" cy="1600200"/>
              <a:chOff x="3694176" y="2880360"/>
              <a:chExt cx="2157984" cy="1600200"/>
            </a:xfrm>
          </p:grpSpPr>
          <p:sp>
            <p:nvSpPr>
              <p:cNvPr id="22" name="Text 20"/>
              <p:cNvSpPr/>
              <p:nvPr/>
            </p:nvSpPr>
            <p:spPr>
              <a:xfrm>
                <a:off x="3694176" y="288036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Classification tuned</a:t>
                </a:r>
                <a:endParaRPr lang="en-US" sz="960" dirty="0"/>
              </a:p>
            </p:txBody>
          </p:sp>
          <p:sp>
            <p:nvSpPr>
              <p:cNvPr id="24" name="Text 22"/>
              <p:cNvSpPr/>
              <p:nvPr/>
            </p:nvSpPr>
            <p:spPr>
              <a:xfrm>
                <a:off x="3694176" y="342900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Consent + DSAR live</a:t>
                </a:r>
                <a:endParaRPr lang="en-US" sz="960" dirty="0"/>
              </a:p>
            </p:txBody>
          </p:sp>
          <p:sp>
            <p:nvSpPr>
              <p:cNvPr id="26" name="Text 24"/>
              <p:cNvSpPr/>
              <p:nvPr/>
            </p:nvSpPr>
            <p:spPr>
              <a:xfrm>
                <a:off x="3694176" y="397764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First Gap / PIA run</a:t>
                </a:r>
                <a:endParaRPr lang="en-US" sz="960" dirty="0"/>
              </a:p>
            </p:txBody>
          </p:sp>
        </p:grpSp>
        <p:sp>
          <p:nvSpPr>
            <p:cNvPr id="28" name="Text 26"/>
            <p:cNvSpPr/>
            <p:nvPr/>
          </p:nvSpPr>
          <p:spPr>
            <a:xfrm>
              <a:off x="3694176" y="452628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Board posture view</a:t>
              </a:r>
              <a:endParaRPr lang="en-US" sz="960" dirty="0"/>
            </a:p>
          </p:txBody>
        </p:sp>
      </p:grpSp>
      <p:sp>
        <p:nvSpPr>
          <p:cNvPr id="29" name="Shape 27"/>
          <p:cNvSpPr/>
          <p:nvPr/>
        </p:nvSpPr>
        <p:spPr>
          <a:xfrm>
            <a:off x="3557016" y="5440680"/>
            <a:ext cx="2322576" cy="0"/>
          </a:xfrm>
          <a:prstGeom prst="line">
            <a:avLst/>
          </a:prstGeom>
          <a:noFill/>
          <a:ln w="12700">
            <a:solidFill>
              <a:srgbClr val="E3D9C4"/>
            </a:solidFill>
            <a:prstDash val="solid"/>
          </a:ln>
        </p:spPr>
      </p:sp>
      <p:sp>
        <p:nvSpPr>
          <p:cNvPr id="30" name="Text 28"/>
          <p:cNvSpPr/>
          <p:nvPr/>
        </p:nvSpPr>
        <p:spPr>
          <a:xfrm>
            <a:off x="3557016" y="5522976"/>
            <a:ext cx="2322576" cy="365760"/>
          </a:xfrm>
          <a:prstGeom prst="rect">
            <a:avLst/>
          </a:prstGeom>
          <a:noFill/>
          <a:ln/>
        </p:spPr>
        <p:txBody>
          <a:bodyPr wrap="square" rtlCol="0" anchor="ctr"/>
          <a:lstStyle/>
          <a:p>
            <a:pPr marL="0" indent="0">
              <a:lnSpc>
                <a:spcPct val="105000"/>
              </a:lnSpc>
              <a:buNone/>
            </a:pPr>
            <a:r>
              <a:rPr lang="en-US" sz="930" b="1" i="1" dirty="0">
                <a:solidFill>
                  <a:srgbClr val="C6501A"/>
                </a:solidFill>
                <a:latin typeface="Calibri" pitchFamily="34" charset="0"/>
                <a:ea typeface="Calibri" pitchFamily="34" charset="-122"/>
                <a:cs typeface="Calibri" pitchFamily="34" charset="-120"/>
              </a:rPr>
              <a:t>Get Ready — unified posture narrative</a:t>
            </a:r>
            <a:endParaRPr lang="en-US" sz="930" dirty="0"/>
          </a:p>
        </p:txBody>
      </p:sp>
      <p:sp>
        <p:nvSpPr>
          <p:cNvPr id="31" name="Text 29"/>
          <p:cNvSpPr/>
          <p:nvPr/>
        </p:nvSpPr>
        <p:spPr>
          <a:xfrm>
            <a:off x="5998464" y="3657600"/>
            <a:ext cx="274320" cy="457200"/>
          </a:xfrm>
          <a:prstGeom prst="rect">
            <a:avLst/>
          </a:prstGeom>
          <a:noFill/>
          <a:ln/>
        </p:spPr>
        <p:txBody>
          <a:bodyPr wrap="square" rtlCol="0" anchor="ctr"/>
          <a:lstStyle/>
          <a:p>
            <a:pPr marL="0" indent="0" algn="ctr">
              <a:buNone/>
            </a:pPr>
            <a:r>
              <a:rPr lang="en-US" sz="1600" b="1" dirty="0">
                <a:solidFill>
                  <a:srgbClr val="F26722"/>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6208776" y="1828800"/>
            <a:ext cx="2651760" cy="4114800"/>
          </a:xfrm>
          <a:prstGeom prst="roundRect">
            <a:avLst>
              <a:gd name="adj" fmla="val 3103"/>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33" name="Text 31"/>
          <p:cNvSpPr/>
          <p:nvPr/>
        </p:nvSpPr>
        <p:spPr>
          <a:xfrm>
            <a:off x="6373368" y="1975104"/>
            <a:ext cx="2322576" cy="274320"/>
          </a:xfrm>
          <a:prstGeom prst="rect">
            <a:avLst/>
          </a:prstGeom>
          <a:noFill/>
          <a:ln/>
        </p:spPr>
        <p:txBody>
          <a:bodyPr wrap="square" rtlCol="0" anchor="ctr"/>
          <a:lstStyle/>
          <a:p>
            <a:pPr marL="0" indent="0">
              <a:buNone/>
            </a:pPr>
            <a:r>
              <a:rPr lang="en-US" sz="1000" b="1" kern="0" spc="150" dirty="0">
                <a:solidFill>
                  <a:srgbClr val="F26722"/>
                </a:solidFill>
                <a:latin typeface="Calibri" pitchFamily="34" charset="0"/>
                <a:ea typeface="Calibri" pitchFamily="34" charset="-122"/>
                <a:cs typeface="Calibri" pitchFamily="34" charset="-120"/>
              </a:rPr>
              <a:t>PHASE 2</a:t>
            </a:r>
            <a:endParaRPr lang="en-US" sz="1000" dirty="0"/>
          </a:p>
        </p:txBody>
      </p:sp>
      <p:sp>
        <p:nvSpPr>
          <p:cNvPr id="34" name="Text 32"/>
          <p:cNvSpPr/>
          <p:nvPr/>
        </p:nvSpPr>
        <p:spPr>
          <a:xfrm>
            <a:off x="6373368" y="2249424"/>
            <a:ext cx="2322576" cy="502920"/>
          </a:xfrm>
          <a:prstGeom prst="rect">
            <a:avLst/>
          </a:prstGeom>
          <a:noFill/>
          <a:ln/>
        </p:spPr>
        <p:txBody>
          <a:bodyPr wrap="square" rtlCol="0" anchor="ctr"/>
          <a:lstStyle/>
          <a:p>
            <a:pPr marL="0" indent="0">
              <a:lnSpc>
                <a:spcPct val="100000"/>
              </a:lnSpc>
              <a:buNone/>
            </a:pPr>
            <a:r>
              <a:rPr lang="en-US" sz="1450" b="1" dirty="0">
                <a:solidFill>
                  <a:srgbClr val="021927"/>
                </a:solidFill>
                <a:latin typeface="Cambria" pitchFamily="34" charset="0"/>
                <a:ea typeface="Cambria" pitchFamily="34" charset="-122"/>
                <a:cs typeface="Cambria" pitchFamily="34" charset="-120"/>
              </a:rPr>
              <a:t>Extend the Suite</a:t>
            </a:r>
            <a:endParaRPr lang="en-US" sz="1450" dirty="0"/>
          </a:p>
        </p:txBody>
      </p:sp>
      <p:sp>
        <p:nvSpPr>
          <p:cNvPr id="35" name="Shape 33"/>
          <p:cNvSpPr/>
          <p:nvPr/>
        </p:nvSpPr>
        <p:spPr>
          <a:xfrm>
            <a:off x="6373368" y="2944368"/>
            <a:ext cx="73152" cy="73152"/>
          </a:xfrm>
          <a:prstGeom prst="ellipse">
            <a:avLst/>
          </a:prstGeom>
          <a:solidFill>
            <a:srgbClr val="F26722"/>
          </a:solidFill>
          <a:ln/>
        </p:spPr>
      </p:sp>
      <p:sp>
        <p:nvSpPr>
          <p:cNvPr id="37" name="Shape 35"/>
          <p:cNvSpPr/>
          <p:nvPr/>
        </p:nvSpPr>
        <p:spPr>
          <a:xfrm>
            <a:off x="6373368" y="3493008"/>
            <a:ext cx="73152" cy="73152"/>
          </a:xfrm>
          <a:prstGeom prst="ellipse">
            <a:avLst/>
          </a:prstGeom>
          <a:solidFill>
            <a:srgbClr val="F26722"/>
          </a:solidFill>
          <a:ln/>
        </p:spPr>
      </p:sp>
      <p:sp>
        <p:nvSpPr>
          <p:cNvPr id="39" name="Shape 37"/>
          <p:cNvSpPr/>
          <p:nvPr/>
        </p:nvSpPr>
        <p:spPr>
          <a:xfrm>
            <a:off x="6373368" y="4041648"/>
            <a:ext cx="73152" cy="73152"/>
          </a:xfrm>
          <a:prstGeom prst="ellipse">
            <a:avLst/>
          </a:prstGeom>
          <a:solidFill>
            <a:srgbClr val="F26722"/>
          </a:solidFill>
          <a:ln/>
        </p:spPr>
      </p:sp>
      <p:sp>
        <p:nvSpPr>
          <p:cNvPr id="41" name="Shape 39"/>
          <p:cNvSpPr/>
          <p:nvPr/>
        </p:nvSpPr>
        <p:spPr>
          <a:xfrm>
            <a:off x="6373368" y="4590288"/>
            <a:ext cx="73152" cy="73152"/>
          </a:xfrm>
          <a:prstGeom prst="ellipse">
            <a:avLst/>
          </a:prstGeom>
          <a:solidFill>
            <a:srgbClr val="F26722"/>
          </a:solidFill>
          <a:ln/>
        </p:spPr>
      </p:sp>
      <p:grpSp>
        <p:nvGrpSpPr>
          <p:cNvPr id="64" name="Group 63">
            <a:extLst>
              <a:ext uri="{FF2B5EF4-FFF2-40B4-BE49-F238E27FC236}">
                <a16:creationId xmlns:a16="http://schemas.microsoft.com/office/drawing/2014/main" id="{DA957BCF-ED94-DC1B-88F4-301B00F224CF}"/>
              </a:ext>
            </a:extLst>
          </p:cNvPr>
          <p:cNvGrpSpPr/>
          <p:nvPr/>
        </p:nvGrpSpPr>
        <p:grpSpPr>
          <a:xfrm>
            <a:off x="6446520" y="2734056"/>
            <a:ext cx="2157984" cy="2148840"/>
            <a:chOff x="6510528" y="2880360"/>
            <a:chExt cx="2157984" cy="2148840"/>
          </a:xfrm>
        </p:grpSpPr>
        <p:sp>
          <p:nvSpPr>
            <p:cNvPr id="36" name="Text 34"/>
            <p:cNvSpPr/>
            <p:nvPr/>
          </p:nvSpPr>
          <p:spPr>
            <a:xfrm>
              <a:off x="6510528" y="288036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ROPA industrialised</a:t>
              </a:r>
              <a:endParaRPr lang="en-US" sz="960" dirty="0"/>
            </a:p>
          </p:txBody>
        </p:sp>
        <p:sp>
          <p:nvSpPr>
            <p:cNvPr id="38" name="Text 36"/>
            <p:cNvSpPr/>
            <p:nvPr/>
          </p:nvSpPr>
          <p:spPr>
            <a:xfrm>
              <a:off x="6510528" y="342900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TPRM inventory</a:t>
              </a:r>
              <a:endParaRPr lang="en-US" sz="960" dirty="0"/>
            </a:p>
          </p:txBody>
        </p:sp>
        <p:sp>
          <p:nvSpPr>
            <p:cNvPr id="40" name="Text 38"/>
            <p:cNvSpPr/>
            <p:nvPr/>
          </p:nvSpPr>
          <p:spPr>
            <a:xfrm>
              <a:off x="6510528" y="397764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Policy Store live</a:t>
              </a:r>
              <a:endParaRPr lang="en-US" sz="960" dirty="0"/>
            </a:p>
          </p:txBody>
        </p:sp>
        <p:sp>
          <p:nvSpPr>
            <p:cNvPr id="42" name="Text 40"/>
            <p:cNvSpPr/>
            <p:nvPr/>
          </p:nvSpPr>
          <p:spPr>
            <a:xfrm>
              <a:off x="6510528" y="4526280"/>
              <a:ext cx="2157984" cy="502920"/>
            </a:xfrm>
            <a:prstGeom prst="rect">
              <a:avLst/>
            </a:prstGeom>
            <a:noFill/>
            <a:ln/>
          </p:spPr>
          <p:txBody>
            <a:bodyPr wrap="square" rtlCol="0" anchor="ctr"/>
            <a:lstStyle/>
            <a:p>
              <a:pPr marL="0" indent="0">
                <a:lnSpc>
                  <a:spcPct val="110000"/>
                </a:lnSpc>
                <a:buNone/>
              </a:pPr>
              <a:r>
                <a:rPr lang="en-US" sz="960" dirty="0">
                  <a:solidFill>
                    <a:srgbClr val="4A5A63"/>
                  </a:solidFill>
                  <a:latin typeface="Calibri" pitchFamily="34" charset="0"/>
                  <a:ea typeface="Calibri" pitchFamily="34" charset="-122"/>
                  <a:cs typeface="Calibri" pitchFamily="34" charset="-120"/>
                </a:rPr>
                <a:t>AI-assisted ops habit</a:t>
              </a:r>
              <a:endParaRPr lang="en-US" sz="960" dirty="0"/>
            </a:p>
          </p:txBody>
        </p:sp>
      </p:grpSp>
      <p:sp>
        <p:nvSpPr>
          <p:cNvPr id="43" name="Shape 41"/>
          <p:cNvSpPr/>
          <p:nvPr/>
        </p:nvSpPr>
        <p:spPr>
          <a:xfrm>
            <a:off x="6373368" y="5440680"/>
            <a:ext cx="2322576" cy="0"/>
          </a:xfrm>
          <a:prstGeom prst="line">
            <a:avLst/>
          </a:prstGeom>
          <a:noFill/>
          <a:ln w="12700">
            <a:solidFill>
              <a:srgbClr val="E3D9C4"/>
            </a:solidFill>
            <a:prstDash val="solid"/>
          </a:ln>
        </p:spPr>
      </p:sp>
      <p:sp>
        <p:nvSpPr>
          <p:cNvPr id="44" name="Text 42"/>
          <p:cNvSpPr/>
          <p:nvPr/>
        </p:nvSpPr>
        <p:spPr>
          <a:xfrm>
            <a:off x="6373368" y="5522976"/>
            <a:ext cx="2322576" cy="365760"/>
          </a:xfrm>
          <a:prstGeom prst="rect">
            <a:avLst/>
          </a:prstGeom>
          <a:noFill/>
          <a:ln/>
        </p:spPr>
        <p:txBody>
          <a:bodyPr wrap="square" rtlCol="0" anchor="ctr"/>
          <a:lstStyle/>
          <a:p>
            <a:pPr marL="0" indent="0">
              <a:lnSpc>
                <a:spcPct val="105000"/>
              </a:lnSpc>
              <a:buNone/>
            </a:pPr>
            <a:r>
              <a:rPr lang="en-US" sz="930" b="1" i="1" dirty="0">
                <a:solidFill>
                  <a:srgbClr val="C6501A"/>
                </a:solidFill>
                <a:latin typeface="Calibri" pitchFamily="34" charset="0"/>
                <a:ea typeface="Calibri" pitchFamily="34" charset="-122"/>
                <a:cs typeface="Calibri" pitchFamily="34" charset="-120"/>
              </a:rPr>
              <a:t>Set — full suite adoption</a:t>
            </a:r>
            <a:endParaRPr lang="en-US" sz="930" dirty="0"/>
          </a:p>
        </p:txBody>
      </p:sp>
      <p:sp>
        <p:nvSpPr>
          <p:cNvPr id="45" name="Text 43"/>
          <p:cNvSpPr/>
          <p:nvPr/>
        </p:nvSpPr>
        <p:spPr>
          <a:xfrm>
            <a:off x="8814816" y="3657600"/>
            <a:ext cx="274320" cy="457200"/>
          </a:xfrm>
          <a:prstGeom prst="rect">
            <a:avLst/>
          </a:prstGeom>
          <a:noFill/>
          <a:ln/>
        </p:spPr>
        <p:txBody>
          <a:bodyPr wrap="square" rtlCol="0" anchor="ctr"/>
          <a:lstStyle/>
          <a:p>
            <a:pPr marL="0" indent="0" algn="ctr">
              <a:buNone/>
            </a:pPr>
            <a:r>
              <a:rPr lang="en-US" sz="1600" b="1" dirty="0">
                <a:solidFill>
                  <a:srgbClr val="F26722"/>
                </a:solidFill>
                <a:latin typeface="Calibri" pitchFamily="34" charset="0"/>
                <a:ea typeface="Calibri" pitchFamily="34" charset="-122"/>
                <a:cs typeface="Calibri" pitchFamily="34" charset="-120"/>
              </a:rPr>
              <a:t>→</a:t>
            </a:r>
            <a:endParaRPr lang="en-US" sz="1600" dirty="0"/>
          </a:p>
        </p:txBody>
      </p:sp>
      <p:sp>
        <p:nvSpPr>
          <p:cNvPr id="46" name="Shape 44"/>
          <p:cNvSpPr/>
          <p:nvPr/>
        </p:nvSpPr>
        <p:spPr>
          <a:xfrm>
            <a:off x="9025128" y="1828800"/>
            <a:ext cx="2651760" cy="4114800"/>
          </a:xfrm>
          <a:prstGeom prst="roundRect">
            <a:avLst>
              <a:gd name="adj" fmla="val 3103"/>
            </a:avLst>
          </a:prstGeom>
          <a:solidFill>
            <a:srgbClr val="021927"/>
          </a:solidFill>
          <a:ln w="12700">
            <a:solidFill>
              <a:srgbClr val="E3D9C4"/>
            </a:solidFill>
            <a:prstDash val="solid"/>
          </a:ln>
          <a:effectLst>
            <a:outerShdw blurRad="101600" dist="25400" dir="5400000" algn="bl" rotWithShape="0">
              <a:srgbClr val="021927">
                <a:alpha val="12000"/>
              </a:srgbClr>
            </a:outerShdw>
          </a:effectLst>
        </p:spPr>
      </p:sp>
      <p:sp>
        <p:nvSpPr>
          <p:cNvPr id="47" name="Text 45"/>
          <p:cNvSpPr/>
          <p:nvPr/>
        </p:nvSpPr>
        <p:spPr>
          <a:xfrm>
            <a:off x="9189720" y="1975104"/>
            <a:ext cx="2322576" cy="274320"/>
          </a:xfrm>
          <a:prstGeom prst="rect">
            <a:avLst/>
          </a:prstGeom>
          <a:noFill/>
          <a:ln/>
        </p:spPr>
        <p:txBody>
          <a:bodyPr wrap="square" rtlCol="0" anchor="ctr"/>
          <a:lstStyle/>
          <a:p>
            <a:pPr marL="0" indent="0">
              <a:buNone/>
            </a:pPr>
            <a:r>
              <a:rPr lang="en-US" sz="1000" b="1" kern="0" spc="150" dirty="0">
                <a:solidFill>
                  <a:srgbClr val="F26722"/>
                </a:solidFill>
                <a:latin typeface="Calibri" pitchFamily="34" charset="0"/>
                <a:ea typeface="Calibri" pitchFamily="34" charset="-122"/>
                <a:cs typeface="Calibri" pitchFamily="34" charset="-120"/>
              </a:rPr>
              <a:t>PHASE 3</a:t>
            </a:r>
            <a:endParaRPr lang="en-US" sz="1000" dirty="0"/>
          </a:p>
        </p:txBody>
      </p:sp>
      <p:sp>
        <p:nvSpPr>
          <p:cNvPr id="48" name="Text 46"/>
          <p:cNvSpPr/>
          <p:nvPr/>
        </p:nvSpPr>
        <p:spPr>
          <a:xfrm>
            <a:off x="9189720" y="2249424"/>
            <a:ext cx="2322576" cy="502920"/>
          </a:xfrm>
          <a:prstGeom prst="rect">
            <a:avLst/>
          </a:prstGeom>
          <a:noFill/>
          <a:ln/>
        </p:spPr>
        <p:txBody>
          <a:bodyPr wrap="square" rtlCol="0" anchor="ctr"/>
          <a:lstStyle/>
          <a:p>
            <a:pPr marL="0" indent="0">
              <a:lnSpc>
                <a:spcPct val="100000"/>
              </a:lnSpc>
              <a:buNone/>
            </a:pPr>
            <a:r>
              <a:rPr lang="en-US" sz="1450" b="1" dirty="0">
                <a:solidFill>
                  <a:srgbClr val="F4EEDE"/>
                </a:solidFill>
                <a:latin typeface="Cambria" pitchFamily="34" charset="0"/>
                <a:ea typeface="Cambria" pitchFamily="34" charset="-122"/>
                <a:cs typeface="Cambria" pitchFamily="34" charset="-120"/>
              </a:rPr>
              <a:t>Operate &amp; Optimise</a:t>
            </a:r>
            <a:endParaRPr lang="en-US" sz="1450" dirty="0"/>
          </a:p>
        </p:txBody>
      </p:sp>
      <p:sp>
        <p:nvSpPr>
          <p:cNvPr id="49" name="Shape 47"/>
          <p:cNvSpPr/>
          <p:nvPr/>
        </p:nvSpPr>
        <p:spPr>
          <a:xfrm>
            <a:off x="9189720" y="2944368"/>
            <a:ext cx="73152" cy="73152"/>
          </a:xfrm>
          <a:prstGeom prst="ellipse">
            <a:avLst/>
          </a:prstGeom>
          <a:solidFill>
            <a:srgbClr val="F26722"/>
          </a:solidFill>
          <a:ln/>
        </p:spPr>
      </p:sp>
      <p:sp>
        <p:nvSpPr>
          <p:cNvPr id="51" name="Shape 49"/>
          <p:cNvSpPr/>
          <p:nvPr/>
        </p:nvSpPr>
        <p:spPr>
          <a:xfrm>
            <a:off x="9189720" y="3493008"/>
            <a:ext cx="73152" cy="73152"/>
          </a:xfrm>
          <a:prstGeom prst="ellipse">
            <a:avLst/>
          </a:prstGeom>
          <a:solidFill>
            <a:srgbClr val="F26722"/>
          </a:solidFill>
          <a:ln/>
        </p:spPr>
      </p:sp>
      <p:sp>
        <p:nvSpPr>
          <p:cNvPr id="53" name="Shape 51"/>
          <p:cNvSpPr/>
          <p:nvPr/>
        </p:nvSpPr>
        <p:spPr>
          <a:xfrm>
            <a:off x="9189720" y="4041648"/>
            <a:ext cx="73152" cy="73152"/>
          </a:xfrm>
          <a:prstGeom prst="ellipse">
            <a:avLst/>
          </a:prstGeom>
          <a:solidFill>
            <a:srgbClr val="F26722"/>
          </a:solidFill>
          <a:ln/>
        </p:spPr>
      </p:sp>
      <p:sp>
        <p:nvSpPr>
          <p:cNvPr id="55" name="Shape 53"/>
          <p:cNvSpPr/>
          <p:nvPr/>
        </p:nvSpPr>
        <p:spPr>
          <a:xfrm>
            <a:off x="9189720" y="4590288"/>
            <a:ext cx="73152" cy="73152"/>
          </a:xfrm>
          <a:prstGeom prst="ellipse">
            <a:avLst/>
          </a:prstGeom>
          <a:solidFill>
            <a:srgbClr val="F26722"/>
          </a:solidFill>
          <a:ln/>
        </p:spPr>
      </p:sp>
      <p:grpSp>
        <p:nvGrpSpPr>
          <p:cNvPr id="65" name="Group 64">
            <a:extLst>
              <a:ext uri="{FF2B5EF4-FFF2-40B4-BE49-F238E27FC236}">
                <a16:creationId xmlns:a16="http://schemas.microsoft.com/office/drawing/2014/main" id="{C7BCD86A-73A4-EDB6-5E1B-37251AC3AEFF}"/>
              </a:ext>
            </a:extLst>
          </p:cNvPr>
          <p:cNvGrpSpPr/>
          <p:nvPr/>
        </p:nvGrpSpPr>
        <p:grpSpPr>
          <a:xfrm>
            <a:off x="9253728" y="2715768"/>
            <a:ext cx="2157984" cy="2148840"/>
            <a:chOff x="9326880" y="2880360"/>
            <a:chExt cx="2157984" cy="2148840"/>
          </a:xfrm>
        </p:grpSpPr>
        <p:sp>
          <p:nvSpPr>
            <p:cNvPr id="50" name="Text 48"/>
            <p:cNvSpPr/>
            <p:nvPr/>
          </p:nvSpPr>
          <p:spPr>
            <a:xfrm>
              <a:off x="9326880" y="2880360"/>
              <a:ext cx="2157984" cy="502920"/>
            </a:xfrm>
            <a:prstGeom prst="rect">
              <a:avLst/>
            </a:prstGeom>
            <a:noFill/>
            <a:ln/>
          </p:spPr>
          <p:txBody>
            <a:bodyPr wrap="square" rtlCol="0" anchor="ctr"/>
            <a:lstStyle/>
            <a:p>
              <a:pPr marL="0" indent="0">
                <a:lnSpc>
                  <a:spcPct val="110000"/>
                </a:lnSpc>
                <a:buNone/>
              </a:pPr>
              <a:r>
                <a:rPr lang="en-US" sz="960" dirty="0">
                  <a:solidFill>
                    <a:srgbClr val="C9D2D6"/>
                  </a:solidFill>
                  <a:latin typeface="Calibri" pitchFamily="34" charset="0"/>
                  <a:ea typeface="Calibri" pitchFamily="34" charset="-122"/>
                  <a:cs typeface="Calibri" pitchFamily="34" charset="-120"/>
                </a:rPr>
                <a:t>Continuous monitoring</a:t>
              </a:r>
              <a:endParaRPr lang="en-US" sz="960" dirty="0"/>
            </a:p>
          </p:txBody>
        </p:sp>
        <p:sp>
          <p:nvSpPr>
            <p:cNvPr id="52" name="Text 50"/>
            <p:cNvSpPr/>
            <p:nvPr/>
          </p:nvSpPr>
          <p:spPr>
            <a:xfrm>
              <a:off x="9326880" y="3429000"/>
              <a:ext cx="2157984" cy="502920"/>
            </a:xfrm>
            <a:prstGeom prst="rect">
              <a:avLst/>
            </a:prstGeom>
            <a:noFill/>
            <a:ln/>
          </p:spPr>
          <p:txBody>
            <a:bodyPr wrap="square" rtlCol="0" anchor="ctr"/>
            <a:lstStyle/>
            <a:p>
              <a:pPr marL="0" indent="0">
                <a:lnSpc>
                  <a:spcPct val="110000"/>
                </a:lnSpc>
                <a:buNone/>
              </a:pPr>
              <a:r>
                <a:rPr lang="en-US" sz="960" dirty="0">
                  <a:solidFill>
                    <a:srgbClr val="C9D2D6"/>
                  </a:solidFill>
                  <a:latin typeface="Calibri" pitchFamily="34" charset="0"/>
                  <a:ea typeface="Calibri" pitchFamily="34" charset="-122"/>
                  <a:cs typeface="Calibri" pitchFamily="34" charset="-120"/>
                </a:rPr>
                <a:t>Breach playbooks</a:t>
              </a:r>
              <a:endParaRPr lang="en-US" sz="960" dirty="0"/>
            </a:p>
          </p:txBody>
        </p:sp>
        <p:sp>
          <p:nvSpPr>
            <p:cNvPr id="54" name="Text 52"/>
            <p:cNvSpPr/>
            <p:nvPr/>
          </p:nvSpPr>
          <p:spPr>
            <a:xfrm>
              <a:off x="9326880" y="3977640"/>
              <a:ext cx="2157984" cy="502920"/>
            </a:xfrm>
            <a:prstGeom prst="rect">
              <a:avLst/>
            </a:prstGeom>
            <a:noFill/>
            <a:ln/>
          </p:spPr>
          <p:txBody>
            <a:bodyPr wrap="square" rtlCol="0" anchor="ctr"/>
            <a:lstStyle/>
            <a:p>
              <a:pPr marL="0" indent="0">
                <a:lnSpc>
                  <a:spcPct val="110000"/>
                </a:lnSpc>
                <a:buNone/>
              </a:pPr>
              <a:r>
                <a:rPr lang="en-US" sz="960" dirty="0">
                  <a:solidFill>
                    <a:srgbClr val="C9D2D6"/>
                  </a:solidFill>
                  <a:latin typeface="Calibri" pitchFamily="34" charset="0"/>
                  <a:ea typeface="Calibri" pitchFamily="34" charset="-122"/>
                  <a:cs typeface="Calibri" pitchFamily="34" charset="-120"/>
                </a:rPr>
                <a:t>KPI dashboards</a:t>
              </a:r>
              <a:endParaRPr lang="en-US" sz="960" dirty="0"/>
            </a:p>
          </p:txBody>
        </p:sp>
        <p:sp>
          <p:nvSpPr>
            <p:cNvPr id="56" name="Text 54"/>
            <p:cNvSpPr/>
            <p:nvPr/>
          </p:nvSpPr>
          <p:spPr>
            <a:xfrm>
              <a:off x="9326880" y="4526280"/>
              <a:ext cx="2157984" cy="502920"/>
            </a:xfrm>
            <a:prstGeom prst="rect">
              <a:avLst/>
            </a:prstGeom>
            <a:noFill/>
            <a:ln/>
          </p:spPr>
          <p:txBody>
            <a:bodyPr wrap="square" rtlCol="0" anchor="ctr"/>
            <a:lstStyle/>
            <a:p>
              <a:pPr marL="0" indent="0">
                <a:lnSpc>
                  <a:spcPct val="110000"/>
                </a:lnSpc>
                <a:buNone/>
              </a:pPr>
              <a:r>
                <a:rPr lang="en-US" sz="960" dirty="0">
                  <a:solidFill>
                    <a:srgbClr val="C9D2D6"/>
                  </a:solidFill>
                  <a:latin typeface="Calibri" pitchFamily="34" charset="0"/>
                  <a:ea typeface="Calibri" pitchFamily="34" charset="-122"/>
                  <a:cs typeface="Calibri" pitchFamily="34" charset="-120"/>
                </a:rPr>
                <a:t>Programme cost-down</a:t>
              </a:r>
              <a:endParaRPr lang="en-US" sz="960" dirty="0"/>
            </a:p>
          </p:txBody>
        </p:sp>
      </p:grpSp>
      <p:sp>
        <p:nvSpPr>
          <p:cNvPr id="57" name="Shape 55"/>
          <p:cNvSpPr/>
          <p:nvPr/>
        </p:nvSpPr>
        <p:spPr>
          <a:xfrm>
            <a:off x="9189720" y="5440680"/>
            <a:ext cx="2322576" cy="0"/>
          </a:xfrm>
          <a:prstGeom prst="line">
            <a:avLst/>
          </a:prstGeom>
          <a:noFill/>
          <a:ln w="12700">
            <a:solidFill>
              <a:srgbClr val="1B4258"/>
            </a:solidFill>
            <a:prstDash val="solid"/>
          </a:ln>
        </p:spPr>
      </p:sp>
      <p:sp>
        <p:nvSpPr>
          <p:cNvPr id="58" name="Text 56"/>
          <p:cNvSpPr/>
          <p:nvPr/>
        </p:nvSpPr>
        <p:spPr>
          <a:xfrm>
            <a:off x="9189720" y="5522976"/>
            <a:ext cx="2322576" cy="365760"/>
          </a:xfrm>
          <a:prstGeom prst="rect">
            <a:avLst/>
          </a:prstGeom>
          <a:noFill/>
          <a:ln/>
        </p:spPr>
        <p:txBody>
          <a:bodyPr wrap="square" rtlCol="0" anchor="ctr"/>
          <a:lstStyle/>
          <a:p>
            <a:pPr marL="0" indent="0">
              <a:lnSpc>
                <a:spcPct val="105000"/>
              </a:lnSpc>
              <a:buNone/>
            </a:pPr>
            <a:r>
              <a:rPr lang="en-US" sz="930" b="1" i="1" dirty="0">
                <a:solidFill>
                  <a:srgbClr val="F9A87B"/>
                </a:solidFill>
                <a:latin typeface="Calibri" pitchFamily="34" charset="0"/>
                <a:ea typeface="Calibri" pitchFamily="34" charset="-122"/>
                <a:cs typeface="Calibri" pitchFamily="34" charset="-120"/>
              </a:rPr>
              <a:t>Go — AI-assisted operations</a:t>
            </a:r>
            <a:endParaRPr lang="en-US" sz="930" dirty="0"/>
          </a:p>
        </p:txBody>
      </p:sp>
      <p:sp>
        <p:nvSpPr>
          <p:cNvPr id="59" name="Text 57"/>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60" name="Text 5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502920"/>
            <a:ext cx="1024128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Built to Fit Your Sector</a:t>
            </a:r>
            <a:endParaRPr lang="en-US" sz="3200" dirty="0"/>
          </a:p>
        </p:txBody>
      </p:sp>
      <p:sp>
        <p:nvSpPr>
          <p:cNvPr id="3" name="Text 1"/>
          <p:cNvSpPr/>
          <p:nvPr/>
        </p:nvSpPr>
        <p:spPr>
          <a:xfrm>
            <a:off x="548640" y="1170432"/>
            <a:ext cx="1060704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The same core platform, tuned to sector-specific data and consent patterns.</a:t>
            </a:r>
            <a:endParaRPr lang="en-US" sz="1400" dirty="0"/>
          </a:p>
        </p:txBody>
      </p:sp>
      <p:sp>
        <p:nvSpPr>
          <p:cNvPr id="4" name="Shape 2"/>
          <p:cNvSpPr/>
          <p:nvPr/>
        </p:nvSpPr>
        <p:spPr>
          <a:xfrm>
            <a:off x="548640" y="1965960"/>
            <a:ext cx="3520440" cy="1965960"/>
          </a:xfrm>
          <a:prstGeom prst="roundRect">
            <a:avLst>
              <a:gd name="adj" fmla="val 418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5" name="Shape 3"/>
          <p:cNvSpPr/>
          <p:nvPr/>
        </p:nvSpPr>
        <p:spPr>
          <a:xfrm>
            <a:off x="749808" y="2148840"/>
            <a:ext cx="502920" cy="502920"/>
          </a:xfrm>
          <a:prstGeom prst="ellipse">
            <a:avLst/>
          </a:prstGeom>
          <a:solidFill>
            <a:srgbClr val="F26722"/>
          </a:solidFill>
          <a:ln/>
        </p:spPr>
      </p:sp>
      <p:sp>
        <p:nvSpPr>
          <p:cNvPr id="6" name="Text 4"/>
          <p:cNvSpPr/>
          <p:nvPr/>
        </p:nvSpPr>
        <p:spPr>
          <a:xfrm>
            <a:off x="749808" y="21488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7" name="Text 5"/>
          <p:cNvSpPr/>
          <p:nvPr/>
        </p:nvSpPr>
        <p:spPr>
          <a:xfrm>
            <a:off x="1389888" y="2167128"/>
            <a:ext cx="2514600" cy="457200"/>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BFSI</a:t>
            </a:r>
            <a:endParaRPr lang="en-US" sz="1400" dirty="0"/>
          </a:p>
        </p:txBody>
      </p:sp>
      <p:sp>
        <p:nvSpPr>
          <p:cNvPr id="8" name="Text 6"/>
          <p:cNvSpPr/>
          <p:nvPr/>
        </p:nvSpPr>
        <p:spPr>
          <a:xfrm>
            <a:off x="749808" y="2834640"/>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KYC data, transaction records, high-volume consent flows</a:t>
            </a:r>
            <a:endParaRPr lang="en-US" sz="1030" dirty="0"/>
          </a:p>
        </p:txBody>
      </p:sp>
      <p:sp>
        <p:nvSpPr>
          <p:cNvPr id="9" name="Shape 7"/>
          <p:cNvSpPr/>
          <p:nvPr/>
        </p:nvSpPr>
        <p:spPr>
          <a:xfrm>
            <a:off x="4288536" y="1965960"/>
            <a:ext cx="3520440" cy="1965960"/>
          </a:xfrm>
          <a:prstGeom prst="roundRect">
            <a:avLst>
              <a:gd name="adj" fmla="val 418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0" name="Shape 8"/>
          <p:cNvSpPr/>
          <p:nvPr/>
        </p:nvSpPr>
        <p:spPr>
          <a:xfrm>
            <a:off x="4489704" y="2148840"/>
            <a:ext cx="502920" cy="502920"/>
          </a:xfrm>
          <a:prstGeom prst="ellipse">
            <a:avLst/>
          </a:prstGeom>
          <a:solidFill>
            <a:srgbClr val="F26722"/>
          </a:solidFill>
          <a:ln/>
        </p:spPr>
      </p:sp>
      <p:sp>
        <p:nvSpPr>
          <p:cNvPr id="11" name="Text 9"/>
          <p:cNvSpPr/>
          <p:nvPr/>
        </p:nvSpPr>
        <p:spPr>
          <a:xfrm>
            <a:off x="4489704" y="21488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H</a:t>
            </a:r>
            <a:endParaRPr lang="en-US" sz="1800" dirty="0"/>
          </a:p>
        </p:txBody>
      </p:sp>
      <p:sp>
        <p:nvSpPr>
          <p:cNvPr id="12" name="Text 10"/>
          <p:cNvSpPr/>
          <p:nvPr/>
        </p:nvSpPr>
        <p:spPr>
          <a:xfrm>
            <a:off x="5129784" y="2167128"/>
            <a:ext cx="2514600" cy="457200"/>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Healthcare</a:t>
            </a:r>
            <a:endParaRPr lang="en-US" sz="1400" dirty="0"/>
          </a:p>
        </p:txBody>
      </p:sp>
      <p:sp>
        <p:nvSpPr>
          <p:cNvPr id="13" name="Text 11"/>
          <p:cNvSpPr/>
          <p:nvPr/>
        </p:nvSpPr>
        <p:spPr>
          <a:xfrm>
            <a:off x="4489704" y="2834640"/>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Patient data, provider networks, sensitive-processing rigor</a:t>
            </a:r>
            <a:endParaRPr lang="en-US" sz="1030" dirty="0"/>
          </a:p>
        </p:txBody>
      </p:sp>
      <p:sp>
        <p:nvSpPr>
          <p:cNvPr id="14" name="Shape 12"/>
          <p:cNvSpPr/>
          <p:nvPr/>
        </p:nvSpPr>
        <p:spPr>
          <a:xfrm>
            <a:off x="8028432" y="1965960"/>
            <a:ext cx="3520440" cy="1965960"/>
          </a:xfrm>
          <a:prstGeom prst="roundRect">
            <a:avLst>
              <a:gd name="adj" fmla="val 4186"/>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5" name="Shape 13"/>
          <p:cNvSpPr/>
          <p:nvPr/>
        </p:nvSpPr>
        <p:spPr>
          <a:xfrm>
            <a:off x="8229600" y="2148840"/>
            <a:ext cx="502920" cy="502920"/>
          </a:xfrm>
          <a:prstGeom prst="ellipse">
            <a:avLst/>
          </a:prstGeom>
          <a:solidFill>
            <a:srgbClr val="F26722"/>
          </a:solidFill>
          <a:ln/>
        </p:spPr>
      </p:sp>
      <p:sp>
        <p:nvSpPr>
          <p:cNvPr id="16" name="Text 14"/>
          <p:cNvSpPr/>
          <p:nvPr/>
        </p:nvSpPr>
        <p:spPr>
          <a:xfrm>
            <a:off x="8229600" y="2148840"/>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a:t>
            </a:r>
            <a:endParaRPr lang="en-US" sz="1800" dirty="0"/>
          </a:p>
        </p:txBody>
      </p:sp>
      <p:sp>
        <p:nvSpPr>
          <p:cNvPr id="17" name="Text 15"/>
          <p:cNvSpPr/>
          <p:nvPr/>
        </p:nvSpPr>
        <p:spPr>
          <a:xfrm>
            <a:off x="8869680" y="2167128"/>
            <a:ext cx="2514600" cy="457200"/>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E-commerce &amp; Retail</a:t>
            </a:r>
            <a:endParaRPr lang="en-US" sz="1400" dirty="0"/>
          </a:p>
        </p:txBody>
      </p:sp>
      <p:sp>
        <p:nvSpPr>
          <p:cNvPr id="18" name="Text 16"/>
          <p:cNvSpPr/>
          <p:nvPr/>
        </p:nvSpPr>
        <p:spPr>
          <a:xfrm>
            <a:off x="8229600" y="2834640"/>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Marketing consent, loyalty programmes, cross-border catalogues</a:t>
            </a:r>
            <a:endParaRPr lang="en-US" sz="1030" dirty="0"/>
          </a:p>
        </p:txBody>
      </p:sp>
      <p:sp>
        <p:nvSpPr>
          <p:cNvPr id="19" name="Shape 17"/>
          <p:cNvSpPr/>
          <p:nvPr/>
        </p:nvSpPr>
        <p:spPr>
          <a:xfrm>
            <a:off x="548640" y="4151376"/>
            <a:ext cx="3520440" cy="1965960"/>
          </a:xfrm>
          <a:prstGeom prst="roundRect">
            <a:avLst>
              <a:gd name="adj" fmla="val 4186"/>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20" name="Shape 18"/>
          <p:cNvSpPr/>
          <p:nvPr/>
        </p:nvSpPr>
        <p:spPr>
          <a:xfrm>
            <a:off x="749808" y="4334256"/>
            <a:ext cx="502920" cy="502920"/>
          </a:xfrm>
          <a:prstGeom prst="ellipse">
            <a:avLst/>
          </a:prstGeom>
          <a:solidFill>
            <a:srgbClr val="F26722"/>
          </a:solidFill>
          <a:ln/>
        </p:spPr>
      </p:sp>
      <p:sp>
        <p:nvSpPr>
          <p:cNvPr id="21" name="Text 19"/>
          <p:cNvSpPr/>
          <p:nvPr/>
        </p:nvSpPr>
        <p:spPr>
          <a:xfrm>
            <a:off x="749808" y="4334256"/>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E</a:t>
            </a:r>
            <a:endParaRPr lang="en-US" sz="1800" dirty="0"/>
          </a:p>
        </p:txBody>
      </p:sp>
      <p:sp>
        <p:nvSpPr>
          <p:cNvPr id="22" name="Text 20"/>
          <p:cNvSpPr/>
          <p:nvPr/>
        </p:nvSpPr>
        <p:spPr>
          <a:xfrm>
            <a:off x="1389888" y="4352544"/>
            <a:ext cx="2514600" cy="457200"/>
          </a:xfrm>
          <a:prstGeom prst="rect">
            <a:avLst/>
          </a:prstGeom>
          <a:noFill/>
          <a:ln/>
        </p:spPr>
        <p:txBody>
          <a:bodyPr wrap="square" rtlCol="0" anchor="ctr"/>
          <a:lstStyle/>
          <a:p>
            <a:pPr marL="0" indent="0">
              <a:buNone/>
            </a:pPr>
            <a:r>
              <a:rPr lang="en-US" sz="1400" b="1" dirty="0" err="1">
                <a:solidFill>
                  <a:srgbClr val="021927"/>
                </a:solidFill>
                <a:latin typeface="Cambria" pitchFamily="34" charset="0"/>
                <a:ea typeface="Cambria" pitchFamily="34" charset="-122"/>
              </a:rPr>
              <a:t>Mfg</a:t>
            </a:r>
            <a:r>
              <a:rPr lang="en-US" sz="1400" b="1" dirty="0">
                <a:solidFill>
                  <a:srgbClr val="021927"/>
                </a:solidFill>
                <a:latin typeface="Cambria" pitchFamily="34" charset="0"/>
                <a:ea typeface="Cambria" pitchFamily="34" charset="-122"/>
              </a:rPr>
              <a:t> &amp; Hitech</a:t>
            </a:r>
            <a:endParaRPr lang="en-US" sz="1400" dirty="0"/>
          </a:p>
        </p:txBody>
      </p:sp>
      <p:sp>
        <p:nvSpPr>
          <p:cNvPr id="23" name="Text 21"/>
          <p:cNvSpPr/>
          <p:nvPr/>
        </p:nvSpPr>
        <p:spPr>
          <a:xfrm>
            <a:off x="749808" y="5020056"/>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Children's data, guardian verification, campus systems</a:t>
            </a:r>
            <a:endParaRPr lang="en-US" sz="1030" dirty="0"/>
          </a:p>
        </p:txBody>
      </p:sp>
      <p:sp>
        <p:nvSpPr>
          <p:cNvPr id="24" name="Shape 22"/>
          <p:cNvSpPr/>
          <p:nvPr/>
        </p:nvSpPr>
        <p:spPr>
          <a:xfrm>
            <a:off x="4288536" y="4151376"/>
            <a:ext cx="3520440" cy="1965960"/>
          </a:xfrm>
          <a:prstGeom prst="roundRect">
            <a:avLst>
              <a:gd name="adj" fmla="val 4186"/>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25" name="Shape 23"/>
          <p:cNvSpPr/>
          <p:nvPr/>
        </p:nvSpPr>
        <p:spPr>
          <a:xfrm>
            <a:off x="4489704" y="4334256"/>
            <a:ext cx="502920" cy="502920"/>
          </a:xfrm>
          <a:prstGeom prst="ellipse">
            <a:avLst/>
          </a:prstGeom>
          <a:solidFill>
            <a:srgbClr val="F26722"/>
          </a:solidFill>
          <a:ln/>
        </p:spPr>
      </p:sp>
      <p:sp>
        <p:nvSpPr>
          <p:cNvPr id="26" name="Text 24"/>
          <p:cNvSpPr/>
          <p:nvPr/>
        </p:nvSpPr>
        <p:spPr>
          <a:xfrm>
            <a:off x="4489704" y="4334256"/>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S</a:t>
            </a:r>
            <a:endParaRPr lang="en-US" sz="1800" dirty="0"/>
          </a:p>
        </p:txBody>
      </p:sp>
      <p:sp>
        <p:nvSpPr>
          <p:cNvPr id="27" name="Text 25"/>
          <p:cNvSpPr/>
          <p:nvPr/>
        </p:nvSpPr>
        <p:spPr>
          <a:xfrm>
            <a:off x="5129784" y="4352544"/>
            <a:ext cx="2514600" cy="457200"/>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SaaS &amp; IT Services</a:t>
            </a:r>
            <a:endParaRPr lang="en-US" sz="1400" dirty="0"/>
          </a:p>
        </p:txBody>
      </p:sp>
      <p:sp>
        <p:nvSpPr>
          <p:cNvPr id="28" name="Text 26"/>
          <p:cNvSpPr/>
          <p:nvPr/>
        </p:nvSpPr>
        <p:spPr>
          <a:xfrm>
            <a:off x="4489704" y="5020056"/>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Multi-tenant data, sub-processor chains, DPA management</a:t>
            </a:r>
            <a:endParaRPr lang="en-US" sz="1030" dirty="0"/>
          </a:p>
        </p:txBody>
      </p:sp>
      <p:sp>
        <p:nvSpPr>
          <p:cNvPr id="29" name="Shape 27"/>
          <p:cNvSpPr/>
          <p:nvPr/>
        </p:nvSpPr>
        <p:spPr>
          <a:xfrm>
            <a:off x="8028432" y="4151376"/>
            <a:ext cx="3520440" cy="1965960"/>
          </a:xfrm>
          <a:prstGeom prst="roundRect">
            <a:avLst>
              <a:gd name="adj" fmla="val 4186"/>
            </a:avLst>
          </a:prstGeom>
          <a:solidFill>
            <a:srgbClr val="FBE7D5"/>
          </a:solidFill>
          <a:ln w="12700">
            <a:solidFill>
              <a:srgbClr val="E3D9C4"/>
            </a:solidFill>
            <a:prstDash val="solid"/>
          </a:ln>
          <a:effectLst>
            <a:outerShdw blurRad="101600" dist="25400" dir="5400000" algn="bl" rotWithShape="0">
              <a:srgbClr val="021927">
                <a:alpha val="12000"/>
              </a:srgbClr>
            </a:outerShdw>
          </a:effectLst>
        </p:spPr>
      </p:sp>
      <p:sp>
        <p:nvSpPr>
          <p:cNvPr id="30" name="Shape 28"/>
          <p:cNvSpPr/>
          <p:nvPr/>
        </p:nvSpPr>
        <p:spPr>
          <a:xfrm>
            <a:off x="8229600" y="4334256"/>
            <a:ext cx="502920" cy="502920"/>
          </a:xfrm>
          <a:prstGeom prst="ellipse">
            <a:avLst/>
          </a:prstGeom>
          <a:solidFill>
            <a:srgbClr val="F26722"/>
          </a:solidFill>
          <a:ln/>
        </p:spPr>
      </p:sp>
      <p:sp>
        <p:nvSpPr>
          <p:cNvPr id="31" name="Text 29"/>
          <p:cNvSpPr/>
          <p:nvPr/>
        </p:nvSpPr>
        <p:spPr>
          <a:xfrm>
            <a:off x="8229600" y="4334256"/>
            <a:ext cx="5029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G</a:t>
            </a:r>
            <a:endParaRPr lang="en-US" sz="1800" dirty="0"/>
          </a:p>
        </p:txBody>
      </p:sp>
      <p:sp>
        <p:nvSpPr>
          <p:cNvPr id="32" name="Text 30"/>
          <p:cNvSpPr/>
          <p:nvPr/>
        </p:nvSpPr>
        <p:spPr>
          <a:xfrm>
            <a:off x="8869680" y="4352544"/>
            <a:ext cx="2514600" cy="457200"/>
          </a:xfrm>
          <a:prstGeom prst="rect">
            <a:avLst/>
          </a:prstGeom>
          <a:noFill/>
          <a:ln/>
        </p:spPr>
        <p:txBody>
          <a:bodyPr wrap="square" rtlCol="0" anchor="ctr"/>
          <a:lstStyle/>
          <a:p>
            <a:pPr marL="0" indent="0">
              <a:buNone/>
            </a:pPr>
            <a:r>
              <a:rPr lang="en-US" sz="1400" b="1" dirty="0">
                <a:solidFill>
                  <a:srgbClr val="021927"/>
                </a:solidFill>
                <a:latin typeface="Cambria" pitchFamily="34" charset="0"/>
                <a:ea typeface="Cambria" pitchFamily="34" charset="-122"/>
                <a:cs typeface="Cambria" pitchFamily="34" charset="-120"/>
              </a:rPr>
              <a:t>Government &amp; PSU</a:t>
            </a:r>
            <a:endParaRPr lang="en-US" sz="1400" dirty="0"/>
          </a:p>
        </p:txBody>
      </p:sp>
      <p:sp>
        <p:nvSpPr>
          <p:cNvPr id="33" name="Text 31"/>
          <p:cNvSpPr/>
          <p:nvPr/>
        </p:nvSpPr>
        <p:spPr>
          <a:xfrm>
            <a:off x="8229600" y="5020056"/>
            <a:ext cx="3118104" cy="960120"/>
          </a:xfrm>
          <a:prstGeom prst="rect">
            <a:avLst/>
          </a:prstGeom>
          <a:noFill/>
          <a:ln/>
        </p:spPr>
        <p:txBody>
          <a:bodyPr wrap="square" rtlCol="0" anchor="ctr"/>
          <a:lstStyle/>
          <a:p>
            <a:pPr marL="0" indent="0">
              <a:lnSpc>
                <a:spcPct val="120000"/>
              </a:lnSpc>
              <a:buNone/>
            </a:pPr>
            <a:r>
              <a:rPr lang="en-US" sz="1030" dirty="0">
                <a:solidFill>
                  <a:srgbClr val="4A5A63"/>
                </a:solidFill>
                <a:latin typeface="Calibri" pitchFamily="34" charset="0"/>
                <a:ea typeface="Calibri" pitchFamily="34" charset="-122"/>
                <a:cs typeface="Calibri" pitchFamily="34" charset="-120"/>
              </a:rPr>
              <a:t>Citizen data, legacy systems, public-accountability reporting</a:t>
            </a:r>
            <a:endParaRPr lang="en-US" sz="1030" dirty="0"/>
          </a:p>
        </p:txBody>
      </p:sp>
      <p:sp>
        <p:nvSpPr>
          <p:cNvPr id="34" name="Text 32"/>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35" name="Text 33"/>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4EEDE"/>
        </a:solidFill>
        <a:effectLst/>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WHY CoreGenix</a:t>
            </a:r>
            <a:endParaRPr lang="en-US" sz="1200" dirty="0"/>
          </a:p>
        </p:txBody>
      </p:sp>
      <p:sp>
        <p:nvSpPr>
          <p:cNvPr id="3" name="Text 1"/>
          <p:cNvSpPr/>
          <p:nvPr/>
        </p:nvSpPr>
        <p:spPr>
          <a:xfrm>
            <a:off x="548640" y="749808"/>
            <a:ext cx="10972800" cy="685800"/>
          </a:xfrm>
          <a:prstGeom prst="rect">
            <a:avLst/>
          </a:prstGeom>
          <a:noFill/>
          <a:ln/>
        </p:spPr>
        <p:txBody>
          <a:bodyPr wrap="square" rtlCol="0" anchor="ctr"/>
          <a:lstStyle/>
          <a:p>
            <a:pPr marL="0" indent="0" algn="l">
              <a:buNone/>
            </a:pPr>
            <a:r>
              <a:rPr lang="en-US" sz="3200" b="1" dirty="0">
                <a:solidFill>
                  <a:srgbClr val="021927"/>
                </a:solidFill>
                <a:latin typeface="Cambria" pitchFamily="34" charset="0"/>
                <a:ea typeface="Cambria" pitchFamily="34" charset="-122"/>
                <a:cs typeface="Cambria" pitchFamily="34" charset="-120"/>
              </a:rPr>
              <a:t>A Security-First Team Behind the Platform</a:t>
            </a:r>
            <a:endParaRPr lang="en-US" sz="3200" dirty="0"/>
          </a:p>
        </p:txBody>
      </p:sp>
      <p:sp>
        <p:nvSpPr>
          <p:cNvPr id="4" name="Text 2"/>
          <p:cNvSpPr/>
          <p:nvPr/>
        </p:nvSpPr>
        <p:spPr>
          <a:xfrm>
            <a:off x="548640" y="1508760"/>
            <a:ext cx="10972800" cy="365760"/>
          </a:xfrm>
          <a:prstGeom prst="rect">
            <a:avLst/>
          </a:prstGeom>
          <a:noFill/>
          <a:ln/>
        </p:spPr>
        <p:txBody>
          <a:bodyPr wrap="square" rtlCol="0" anchor="ctr"/>
          <a:lstStyle/>
          <a:p>
            <a:pPr marL="0" indent="0" algn="l">
              <a:buNone/>
            </a:pPr>
            <a:r>
              <a:rPr lang="en-US" sz="1400" i="1" dirty="0">
                <a:solidFill>
                  <a:srgbClr val="4A5A63"/>
                </a:solidFill>
                <a:latin typeface="Calibri" pitchFamily="34" charset="0"/>
                <a:ea typeface="Calibri" pitchFamily="34" charset="-122"/>
                <a:cs typeface="Calibri" pitchFamily="34" charset="-120"/>
              </a:rPr>
              <a:t>Comply360 is powered by a team that lives in privacy and security engineering — not a compliance checklist bolted onto generic software.</a:t>
            </a:r>
            <a:endParaRPr lang="en-US" sz="1400" dirty="0"/>
          </a:p>
        </p:txBody>
      </p:sp>
      <p:sp>
        <p:nvSpPr>
          <p:cNvPr id="5" name="Shape 3"/>
          <p:cNvSpPr/>
          <p:nvPr/>
        </p:nvSpPr>
        <p:spPr>
          <a:xfrm>
            <a:off x="548640" y="2331720"/>
            <a:ext cx="544068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6" name="Shape 4"/>
          <p:cNvSpPr/>
          <p:nvPr/>
        </p:nvSpPr>
        <p:spPr>
          <a:xfrm>
            <a:off x="749808" y="2532888"/>
            <a:ext cx="384048" cy="384048"/>
          </a:xfrm>
          <a:prstGeom prst="roundRect">
            <a:avLst>
              <a:gd name="adj" fmla="val 19048"/>
            </a:avLst>
          </a:prstGeom>
          <a:solidFill>
            <a:srgbClr val="F26722"/>
          </a:solidFill>
          <a:ln/>
        </p:spPr>
      </p:sp>
      <p:sp>
        <p:nvSpPr>
          <p:cNvPr id="7" name="Text 5"/>
          <p:cNvSpPr/>
          <p:nvPr/>
        </p:nvSpPr>
        <p:spPr>
          <a:xfrm>
            <a:off x="749808" y="2532888"/>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49808" y="3044952"/>
            <a:ext cx="5038344" cy="365760"/>
          </a:xfrm>
          <a:prstGeom prst="rect">
            <a:avLst/>
          </a:prstGeom>
          <a:noFill/>
          <a:ln/>
        </p:spPr>
        <p:txBody>
          <a:bodyPr wrap="square" rtlCol="0" anchor="ctr"/>
          <a:lstStyle/>
          <a:p>
            <a:pPr marL="0" indent="0">
              <a:buNone/>
            </a:pPr>
            <a:r>
              <a:rPr lang="en-US" sz="1450" b="1" dirty="0">
                <a:solidFill>
                  <a:srgbClr val="021927"/>
                </a:solidFill>
                <a:latin typeface="Cambria" pitchFamily="34" charset="0"/>
                <a:ea typeface="Cambria" pitchFamily="34" charset="-122"/>
                <a:cs typeface="Cambria" pitchFamily="34" charset="-120"/>
              </a:rPr>
              <a:t>Security Pedigree</a:t>
            </a:r>
            <a:endParaRPr lang="en-US" sz="1450" dirty="0"/>
          </a:p>
        </p:txBody>
      </p:sp>
      <p:sp>
        <p:nvSpPr>
          <p:cNvPr id="9" name="Text 7"/>
          <p:cNvSpPr/>
          <p:nvPr/>
        </p:nvSpPr>
        <p:spPr>
          <a:xfrm>
            <a:off x="749808" y="3429000"/>
            <a:ext cx="5038344" cy="658368"/>
          </a:xfrm>
          <a:prstGeom prst="rect">
            <a:avLst/>
          </a:prstGeom>
          <a:noFill/>
          <a:ln/>
        </p:spPr>
        <p:txBody>
          <a:bodyPr wrap="square" rtlCol="0" anchor="ctr"/>
          <a:lstStyle/>
          <a:p>
            <a:pPr marL="0" indent="0">
              <a:lnSpc>
                <a:spcPct val="120000"/>
              </a:lnSpc>
              <a:buNone/>
            </a:pPr>
            <a:r>
              <a:rPr lang="en-US" sz="1050" dirty="0">
                <a:solidFill>
                  <a:srgbClr val="4A5A63"/>
                </a:solidFill>
                <a:latin typeface="Calibri" pitchFamily="34" charset="0"/>
                <a:ea typeface="Calibri" pitchFamily="34" charset="-122"/>
                <a:cs typeface="Calibri" pitchFamily="34" charset="-120"/>
              </a:rPr>
              <a:t>Built by a cybersecurity-first team, so consent, discovery and evidence pipelines are engineered to hold up under scrutiny — not just look good in a demo.</a:t>
            </a:r>
            <a:endParaRPr lang="en-US" sz="1050" dirty="0"/>
          </a:p>
        </p:txBody>
      </p:sp>
      <p:sp>
        <p:nvSpPr>
          <p:cNvPr id="10" name="Shape 8"/>
          <p:cNvSpPr/>
          <p:nvPr/>
        </p:nvSpPr>
        <p:spPr>
          <a:xfrm>
            <a:off x="6199632" y="2331720"/>
            <a:ext cx="544068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1" name="Shape 9"/>
          <p:cNvSpPr/>
          <p:nvPr/>
        </p:nvSpPr>
        <p:spPr>
          <a:xfrm>
            <a:off x="6400800" y="2532888"/>
            <a:ext cx="384048" cy="384048"/>
          </a:xfrm>
          <a:prstGeom prst="roundRect">
            <a:avLst>
              <a:gd name="adj" fmla="val 19048"/>
            </a:avLst>
          </a:prstGeom>
          <a:solidFill>
            <a:srgbClr val="F26722"/>
          </a:solidFill>
          <a:ln/>
        </p:spPr>
      </p:sp>
      <p:sp>
        <p:nvSpPr>
          <p:cNvPr id="12" name="Text 10"/>
          <p:cNvSpPr/>
          <p:nvPr/>
        </p:nvSpPr>
        <p:spPr>
          <a:xfrm>
            <a:off x="6400800" y="2532888"/>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6400800" y="3044952"/>
            <a:ext cx="5038344" cy="365760"/>
          </a:xfrm>
          <a:prstGeom prst="rect">
            <a:avLst/>
          </a:prstGeom>
          <a:noFill/>
          <a:ln/>
        </p:spPr>
        <p:txBody>
          <a:bodyPr wrap="square" rtlCol="0" anchor="ctr"/>
          <a:lstStyle/>
          <a:p>
            <a:pPr marL="0" indent="0">
              <a:buNone/>
            </a:pPr>
            <a:r>
              <a:rPr lang="en-US" sz="1450" b="1" dirty="0">
                <a:solidFill>
                  <a:srgbClr val="021927"/>
                </a:solidFill>
                <a:latin typeface="Cambria" pitchFamily="34" charset="0"/>
                <a:ea typeface="Cambria" pitchFamily="34" charset="-122"/>
                <a:cs typeface="Cambria" pitchFamily="34" charset="-120"/>
              </a:rPr>
              <a:t>India-First Design</a:t>
            </a:r>
            <a:endParaRPr lang="en-US" sz="1450" dirty="0"/>
          </a:p>
        </p:txBody>
      </p:sp>
      <p:sp>
        <p:nvSpPr>
          <p:cNvPr id="14" name="Text 12"/>
          <p:cNvSpPr/>
          <p:nvPr/>
        </p:nvSpPr>
        <p:spPr>
          <a:xfrm>
            <a:off x="6400800" y="3429000"/>
            <a:ext cx="5038344" cy="658368"/>
          </a:xfrm>
          <a:prstGeom prst="rect">
            <a:avLst/>
          </a:prstGeom>
          <a:noFill/>
          <a:ln/>
        </p:spPr>
        <p:txBody>
          <a:bodyPr wrap="square" rtlCol="0" anchor="ctr"/>
          <a:lstStyle/>
          <a:p>
            <a:pPr marL="0" indent="0">
              <a:lnSpc>
                <a:spcPct val="120000"/>
              </a:lnSpc>
              <a:buNone/>
            </a:pPr>
            <a:r>
              <a:rPr lang="en-US" sz="1050" dirty="0">
                <a:solidFill>
                  <a:srgbClr val="4A5A63"/>
                </a:solidFill>
                <a:latin typeface="Calibri" pitchFamily="34" charset="0"/>
                <a:ea typeface="Calibri" pitchFamily="34" charset="-122"/>
                <a:cs typeface="Calibri" pitchFamily="34" charset="-120"/>
              </a:rPr>
              <a:t>Modules map directly to the DPDP Act, 2023 and DPDP Rules, 2025 — not retrofitted from GDPR templates.</a:t>
            </a:r>
            <a:endParaRPr lang="en-US" sz="1050" dirty="0"/>
          </a:p>
        </p:txBody>
      </p:sp>
      <p:sp>
        <p:nvSpPr>
          <p:cNvPr id="15" name="Shape 13"/>
          <p:cNvSpPr/>
          <p:nvPr/>
        </p:nvSpPr>
        <p:spPr>
          <a:xfrm>
            <a:off x="548640" y="4389120"/>
            <a:ext cx="544068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16" name="Shape 14"/>
          <p:cNvSpPr/>
          <p:nvPr/>
        </p:nvSpPr>
        <p:spPr>
          <a:xfrm>
            <a:off x="749808" y="4590288"/>
            <a:ext cx="384048" cy="384048"/>
          </a:xfrm>
          <a:prstGeom prst="roundRect">
            <a:avLst>
              <a:gd name="adj" fmla="val 19048"/>
            </a:avLst>
          </a:prstGeom>
          <a:solidFill>
            <a:srgbClr val="F26722"/>
          </a:solidFill>
          <a:ln/>
        </p:spPr>
      </p:sp>
      <p:sp>
        <p:nvSpPr>
          <p:cNvPr id="17" name="Text 15"/>
          <p:cNvSpPr/>
          <p:nvPr/>
        </p:nvSpPr>
        <p:spPr>
          <a:xfrm>
            <a:off x="749808" y="4590288"/>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749808" y="5102352"/>
            <a:ext cx="5038344" cy="365760"/>
          </a:xfrm>
          <a:prstGeom prst="rect">
            <a:avLst/>
          </a:prstGeom>
          <a:noFill/>
          <a:ln/>
        </p:spPr>
        <p:txBody>
          <a:bodyPr wrap="square" rtlCol="0" anchor="ctr"/>
          <a:lstStyle/>
          <a:p>
            <a:pPr marL="0" indent="0">
              <a:buNone/>
            </a:pPr>
            <a:r>
              <a:rPr lang="en-US" sz="1450" b="1" dirty="0">
                <a:solidFill>
                  <a:srgbClr val="021927"/>
                </a:solidFill>
                <a:latin typeface="Cambria" pitchFamily="34" charset="0"/>
                <a:ea typeface="Cambria" pitchFamily="34" charset="-122"/>
                <a:cs typeface="Cambria" pitchFamily="34" charset="-120"/>
              </a:rPr>
              <a:t>AI With a Human in the Loop</a:t>
            </a:r>
            <a:endParaRPr lang="en-US" sz="1450" dirty="0"/>
          </a:p>
        </p:txBody>
      </p:sp>
      <p:sp>
        <p:nvSpPr>
          <p:cNvPr id="19" name="Text 17"/>
          <p:cNvSpPr/>
          <p:nvPr/>
        </p:nvSpPr>
        <p:spPr>
          <a:xfrm>
            <a:off x="749808" y="5486400"/>
            <a:ext cx="5038344" cy="658368"/>
          </a:xfrm>
          <a:prstGeom prst="rect">
            <a:avLst/>
          </a:prstGeom>
          <a:noFill/>
          <a:ln/>
        </p:spPr>
        <p:txBody>
          <a:bodyPr wrap="square" rtlCol="0" anchor="ctr"/>
          <a:lstStyle/>
          <a:p>
            <a:pPr marL="0" indent="0">
              <a:lnSpc>
                <a:spcPct val="120000"/>
              </a:lnSpc>
              <a:buNone/>
            </a:pPr>
            <a:r>
              <a:rPr lang="en-US" sz="1050" dirty="0">
                <a:solidFill>
                  <a:srgbClr val="4A5A63"/>
                </a:solidFill>
                <a:latin typeface="Calibri" pitchFamily="34" charset="0"/>
                <a:ea typeface="Calibri" pitchFamily="34" charset="-122"/>
                <a:cs typeface="Calibri" pitchFamily="34" charset="-120"/>
              </a:rPr>
              <a:t>Automation speeds up drafts and detection; your privacy, legal and security leads stay the decision-makers.</a:t>
            </a:r>
            <a:endParaRPr lang="en-US" sz="1050" dirty="0"/>
          </a:p>
        </p:txBody>
      </p:sp>
      <p:sp>
        <p:nvSpPr>
          <p:cNvPr id="20" name="Shape 18"/>
          <p:cNvSpPr/>
          <p:nvPr/>
        </p:nvSpPr>
        <p:spPr>
          <a:xfrm>
            <a:off x="6199632" y="4389120"/>
            <a:ext cx="5440680" cy="1828800"/>
          </a:xfrm>
          <a:prstGeom prst="roundRect">
            <a:avLst>
              <a:gd name="adj" fmla="val 4500"/>
            </a:avLst>
          </a:prstGeom>
          <a:solidFill>
            <a:srgbClr val="FFFFFF"/>
          </a:solidFill>
          <a:ln w="12700">
            <a:solidFill>
              <a:srgbClr val="E3D9C4"/>
            </a:solidFill>
            <a:prstDash val="solid"/>
          </a:ln>
          <a:effectLst>
            <a:outerShdw blurRad="101600" dist="25400" dir="5400000" algn="bl" rotWithShape="0">
              <a:srgbClr val="021927">
                <a:alpha val="12000"/>
              </a:srgbClr>
            </a:outerShdw>
          </a:effectLst>
        </p:spPr>
      </p:sp>
      <p:sp>
        <p:nvSpPr>
          <p:cNvPr id="21" name="Shape 19"/>
          <p:cNvSpPr/>
          <p:nvPr/>
        </p:nvSpPr>
        <p:spPr>
          <a:xfrm>
            <a:off x="6400800" y="4590288"/>
            <a:ext cx="384048" cy="384048"/>
          </a:xfrm>
          <a:prstGeom prst="roundRect">
            <a:avLst>
              <a:gd name="adj" fmla="val 19048"/>
            </a:avLst>
          </a:prstGeom>
          <a:solidFill>
            <a:srgbClr val="F26722"/>
          </a:solidFill>
          <a:ln/>
        </p:spPr>
      </p:sp>
      <p:sp>
        <p:nvSpPr>
          <p:cNvPr id="22" name="Text 20"/>
          <p:cNvSpPr/>
          <p:nvPr/>
        </p:nvSpPr>
        <p:spPr>
          <a:xfrm>
            <a:off x="6400800" y="4590288"/>
            <a:ext cx="384048" cy="38404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6400800" y="5102352"/>
            <a:ext cx="5038344" cy="365760"/>
          </a:xfrm>
          <a:prstGeom prst="rect">
            <a:avLst/>
          </a:prstGeom>
          <a:noFill/>
          <a:ln/>
        </p:spPr>
        <p:txBody>
          <a:bodyPr wrap="square" rtlCol="0" anchor="ctr"/>
          <a:lstStyle/>
          <a:p>
            <a:pPr marL="0" indent="0">
              <a:buNone/>
            </a:pPr>
            <a:r>
              <a:rPr lang="en-US" sz="1450" b="1" dirty="0">
                <a:solidFill>
                  <a:srgbClr val="021927"/>
                </a:solidFill>
                <a:latin typeface="Cambria" pitchFamily="34" charset="0"/>
                <a:ea typeface="Cambria" pitchFamily="34" charset="-122"/>
                <a:cs typeface="Cambria" pitchFamily="34" charset="-120"/>
              </a:rPr>
              <a:t>Partner, Not Just Vendor</a:t>
            </a:r>
            <a:endParaRPr lang="en-US" sz="1450" dirty="0"/>
          </a:p>
        </p:txBody>
      </p:sp>
      <p:sp>
        <p:nvSpPr>
          <p:cNvPr id="24" name="Text 22"/>
          <p:cNvSpPr/>
          <p:nvPr/>
        </p:nvSpPr>
        <p:spPr>
          <a:xfrm>
            <a:off x="6400800" y="5486400"/>
            <a:ext cx="5038344" cy="658368"/>
          </a:xfrm>
          <a:prstGeom prst="rect">
            <a:avLst/>
          </a:prstGeom>
          <a:noFill/>
          <a:ln/>
        </p:spPr>
        <p:txBody>
          <a:bodyPr wrap="square" rtlCol="0" anchor="ctr"/>
          <a:lstStyle/>
          <a:p>
            <a:pPr marL="0" indent="0">
              <a:lnSpc>
                <a:spcPct val="120000"/>
              </a:lnSpc>
              <a:buNone/>
            </a:pPr>
            <a:r>
              <a:rPr lang="en-US" sz="1050" dirty="0">
                <a:solidFill>
                  <a:srgbClr val="4A5A63"/>
                </a:solidFill>
                <a:latin typeface="Calibri" pitchFamily="34" charset="0"/>
                <a:ea typeface="Calibri" pitchFamily="34" charset="-122"/>
                <a:cs typeface="Calibri" pitchFamily="34" charset="-120"/>
              </a:rPr>
              <a:t>Guided rollout, working sessions and a roadmap that absorbs future Act and Rule updates for you.</a:t>
            </a:r>
            <a:endParaRPr lang="en-US" sz="1050" dirty="0"/>
          </a:p>
        </p:txBody>
      </p:sp>
      <p:sp>
        <p:nvSpPr>
          <p:cNvPr id="25" name="Text 23"/>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4A5A63"/>
                </a:solidFill>
                <a:latin typeface="Calibri" pitchFamily="34" charset="0"/>
                <a:ea typeface="Calibri" pitchFamily="34" charset="-122"/>
                <a:cs typeface="Calibri" pitchFamily="34" charset="-120"/>
              </a:rPr>
              <a:t>Comply360---CoreGenix</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4A5A6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021927"/>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206240" cy="4206240"/>
          </a:xfrm>
          <a:prstGeom prst="ellipse">
            <a:avLst/>
          </a:prstGeom>
          <a:solidFill>
            <a:srgbClr val="C6501A"/>
          </a:solidFill>
          <a:ln/>
        </p:spPr>
      </p:sp>
      <p:sp>
        <p:nvSpPr>
          <p:cNvPr id="3" name="Text 1"/>
          <p:cNvSpPr/>
          <p:nvPr/>
        </p:nvSpPr>
        <p:spPr>
          <a:xfrm>
            <a:off x="548640" y="457200"/>
            <a:ext cx="5486400" cy="320040"/>
          </a:xfrm>
          <a:prstGeom prst="rect">
            <a:avLst/>
          </a:prstGeom>
          <a:noFill/>
          <a:ln/>
        </p:spPr>
        <p:txBody>
          <a:bodyPr wrap="square" rtlCol="0" anchor="ctr"/>
          <a:lstStyle/>
          <a:p>
            <a:pPr marL="0" indent="0" algn="l">
              <a:buNone/>
            </a:pPr>
            <a:r>
              <a:rPr lang="en-US" sz="1200" b="1" kern="0" spc="200" dirty="0">
                <a:solidFill>
                  <a:srgbClr val="F26722"/>
                </a:solidFill>
                <a:latin typeface="Calibri" pitchFamily="34" charset="0"/>
                <a:ea typeface="Calibri" pitchFamily="34" charset="-122"/>
                <a:cs typeface="Calibri" pitchFamily="34" charset="-120"/>
              </a:rPr>
              <a:t>RECOMMENDATION</a:t>
            </a:r>
            <a:endParaRPr lang="en-US" sz="1200" dirty="0"/>
          </a:p>
        </p:txBody>
      </p:sp>
      <p:sp>
        <p:nvSpPr>
          <p:cNvPr id="4" name="Text 2"/>
          <p:cNvSpPr/>
          <p:nvPr/>
        </p:nvSpPr>
        <p:spPr>
          <a:xfrm>
            <a:off x="548640" y="777240"/>
            <a:ext cx="10607040" cy="822960"/>
          </a:xfrm>
          <a:prstGeom prst="rect">
            <a:avLst/>
          </a:prstGeom>
          <a:noFill/>
          <a:ln/>
        </p:spPr>
        <p:txBody>
          <a:bodyPr wrap="square" rtlCol="0" anchor="ctr"/>
          <a:lstStyle/>
          <a:p>
            <a:pPr marL="0" indent="0">
              <a:buNone/>
            </a:pPr>
            <a:r>
              <a:rPr lang="en-US" sz="2800" b="1" dirty="0">
                <a:solidFill>
                  <a:srgbClr val="F4EEDE"/>
                </a:solidFill>
                <a:latin typeface="Cambria" pitchFamily="34" charset="0"/>
                <a:ea typeface="Cambria" pitchFamily="34" charset="-122"/>
                <a:cs typeface="Cambria" pitchFamily="34" charset="-120"/>
              </a:rPr>
              <a:t>Adopt Comply360 as the DPDP System of Record</a:t>
            </a:r>
            <a:endParaRPr lang="en-US" sz="2800" dirty="0"/>
          </a:p>
        </p:txBody>
      </p:sp>
      <p:sp>
        <p:nvSpPr>
          <p:cNvPr id="5" name="Text 3"/>
          <p:cNvSpPr/>
          <p:nvPr/>
        </p:nvSpPr>
        <p:spPr>
          <a:xfrm>
            <a:off x="548640" y="1536192"/>
            <a:ext cx="10332720" cy="594360"/>
          </a:xfrm>
          <a:prstGeom prst="rect">
            <a:avLst/>
          </a:prstGeom>
          <a:noFill/>
          <a:ln/>
        </p:spPr>
        <p:txBody>
          <a:bodyPr wrap="square" rtlCol="0" anchor="ctr"/>
          <a:lstStyle/>
          <a:p>
            <a:pPr marL="0" indent="0">
              <a:lnSpc>
                <a:spcPct val="120000"/>
              </a:lnSpc>
              <a:buNone/>
            </a:pPr>
            <a:r>
              <a:rPr lang="en-US" sz="1250" i="1" dirty="0">
                <a:solidFill>
                  <a:srgbClr val="C9D2D6"/>
                </a:solidFill>
                <a:latin typeface="Calibri" pitchFamily="34" charset="0"/>
                <a:ea typeface="Calibri" pitchFamily="34" charset="-122"/>
                <a:cs typeface="Calibri" pitchFamily="34" charset="-120"/>
              </a:rPr>
              <a:t>Unify consent, rights, assessments, ROPA, vendors and breach response. Let AI multiply your team. Buy the platform; invest your people in judgment and governance.</a:t>
            </a:r>
            <a:endParaRPr lang="en-US" sz="1250" dirty="0"/>
          </a:p>
        </p:txBody>
      </p:sp>
      <p:sp>
        <p:nvSpPr>
          <p:cNvPr id="6" name="Shape 4"/>
          <p:cNvSpPr/>
          <p:nvPr/>
        </p:nvSpPr>
        <p:spPr>
          <a:xfrm>
            <a:off x="548640" y="2468880"/>
            <a:ext cx="3520440" cy="1920240"/>
          </a:xfrm>
          <a:prstGeom prst="roundRect">
            <a:avLst>
              <a:gd name="adj" fmla="val 4286"/>
            </a:avLst>
          </a:prstGeom>
          <a:solidFill>
            <a:srgbClr val="0B2C40"/>
          </a:solidFill>
          <a:ln w="12700">
            <a:solidFill>
              <a:srgbClr val="163A50"/>
            </a:solidFill>
            <a:prstDash val="solid"/>
          </a:ln>
        </p:spPr>
      </p:sp>
      <p:sp>
        <p:nvSpPr>
          <p:cNvPr id="7" name="Shape 5"/>
          <p:cNvSpPr/>
          <p:nvPr/>
        </p:nvSpPr>
        <p:spPr>
          <a:xfrm>
            <a:off x="768096" y="2688336"/>
            <a:ext cx="420624" cy="420624"/>
          </a:xfrm>
          <a:prstGeom prst="ellipse">
            <a:avLst/>
          </a:prstGeom>
          <a:solidFill>
            <a:srgbClr val="F26722"/>
          </a:solidFill>
          <a:ln/>
        </p:spPr>
      </p:sp>
      <p:sp>
        <p:nvSpPr>
          <p:cNvPr id="8" name="Text 6"/>
          <p:cNvSpPr/>
          <p:nvPr/>
        </p:nvSpPr>
        <p:spPr>
          <a:xfrm>
            <a:off x="768096" y="2688336"/>
            <a:ext cx="420624" cy="42062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p:nvPr/>
        </p:nvSpPr>
        <p:spPr>
          <a:xfrm>
            <a:off x="768096" y="3246120"/>
            <a:ext cx="3081528" cy="411480"/>
          </a:xfrm>
          <a:prstGeom prst="rect">
            <a:avLst/>
          </a:prstGeom>
          <a:noFill/>
          <a:ln/>
        </p:spPr>
        <p:txBody>
          <a:bodyPr wrap="square" rtlCol="0" anchor="ctr"/>
          <a:lstStyle/>
          <a:p>
            <a:pPr marL="0" indent="0">
              <a:buNone/>
            </a:pPr>
            <a:r>
              <a:rPr lang="en-US" sz="1350" b="1" dirty="0">
                <a:solidFill>
                  <a:srgbClr val="F4EEDE"/>
                </a:solidFill>
                <a:latin typeface="Cambria" pitchFamily="34" charset="0"/>
                <a:ea typeface="Cambria" pitchFamily="34" charset="-122"/>
                <a:cs typeface="Cambria" pitchFamily="34" charset="-120"/>
              </a:rPr>
              <a:t>Executive Alignment</a:t>
            </a:r>
            <a:endParaRPr lang="en-US" sz="1350" dirty="0"/>
          </a:p>
        </p:txBody>
      </p:sp>
      <p:sp>
        <p:nvSpPr>
          <p:cNvPr id="10" name="Text 8"/>
          <p:cNvSpPr/>
          <p:nvPr/>
        </p:nvSpPr>
        <p:spPr>
          <a:xfrm>
            <a:off x="768096" y="3657600"/>
            <a:ext cx="3081528" cy="640080"/>
          </a:xfrm>
          <a:prstGeom prst="rect">
            <a:avLst/>
          </a:prstGeom>
          <a:noFill/>
          <a:ln/>
        </p:spPr>
        <p:txBody>
          <a:bodyPr wrap="square" rtlCol="0" anchor="ctr"/>
          <a:lstStyle/>
          <a:p>
            <a:pPr marL="0" indent="0">
              <a:lnSpc>
                <a:spcPct val="120000"/>
              </a:lnSpc>
              <a:buNone/>
            </a:pPr>
            <a:r>
              <a:rPr lang="en-US" sz="1000" dirty="0">
                <a:solidFill>
                  <a:srgbClr val="C9D2D6"/>
                </a:solidFill>
                <a:latin typeface="Calibri" pitchFamily="34" charset="0"/>
                <a:ea typeface="Calibri" pitchFamily="34" charset="-122"/>
                <a:cs typeface="Calibri" pitchFamily="34" charset="-120"/>
              </a:rPr>
              <a:t>Confirm modules, data domains and success KPIs for the first phase.</a:t>
            </a:r>
            <a:endParaRPr lang="en-US" sz="1000" dirty="0"/>
          </a:p>
        </p:txBody>
      </p:sp>
      <p:sp>
        <p:nvSpPr>
          <p:cNvPr id="11" name="Shape 9"/>
          <p:cNvSpPr/>
          <p:nvPr/>
        </p:nvSpPr>
        <p:spPr>
          <a:xfrm>
            <a:off x="4288536" y="2468880"/>
            <a:ext cx="3520440" cy="1920240"/>
          </a:xfrm>
          <a:prstGeom prst="roundRect">
            <a:avLst>
              <a:gd name="adj" fmla="val 4286"/>
            </a:avLst>
          </a:prstGeom>
          <a:solidFill>
            <a:srgbClr val="0B2C40"/>
          </a:solidFill>
          <a:ln w="12700">
            <a:solidFill>
              <a:srgbClr val="163A50"/>
            </a:solidFill>
            <a:prstDash val="solid"/>
          </a:ln>
        </p:spPr>
      </p:sp>
      <p:sp>
        <p:nvSpPr>
          <p:cNvPr id="12" name="Shape 10"/>
          <p:cNvSpPr/>
          <p:nvPr/>
        </p:nvSpPr>
        <p:spPr>
          <a:xfrm>
            <a:off x="4507992" y="2688336"/>
            <a:ext cx="420624" cy="420624"/>
          </a:xfrm>
          <a:prstGeom prst="ellipse">
            <a:avLst/>
          </a:prstGeom>
          <a:solidFill>
            <a:srgbClr val="F26722"/>
          </a:solidFill>
          <a:ln/>
        </p:spPr>
      </p:sp>
      <p:sp>
        <p:nvSpPr>
          <p:cNvPr id="13" name="Text 11"/>
          <p:cNvSpPr/>
          <p:nvPr/>
        </p:nvSpPr>
        <p:spPr>
          <a:xfrm>
            <a:off x="4507992" y="2688336"/>
            <a:ext cx="420624" cy="42062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4507992" y="3246120"/>
            <a:ext cx="3081528" cy="411480"/>
          </a:xfrm>
          <a:prstGeom prst="rect">
            <a:avLst/>
          </a:prstGeom>
          <a:noFill/>
          <a:ln/>
        </p:spPr>
        <p:txBody>
          <a:bodyPr wrap="square" rtlCol="0" anchor="ctr"/>
          <a:lstStyle/>
          <a:p>
            <a:pPr marL="0" indent="0">
              <a:buNone/>
            </a:pPr>
            <a:r>
              <a:rPr lang="en-US" sz="1350" b="1" dirty="0">
                <a:solidFill>
                  <a:srgbClr val="F4EEDE"/>
                </a:solidFill>
                <a:latin typeface="Cambria" pitchFamily="34" charset="0"/>
                <a:ea typeface="Cambria" pitchFamily="34" charset="-122"/>
                <a:cs typeface="Cambria" pitchFamily="34" charset="-120"/>
              </a:rPr>
              <a:t>Working Session</a:t>
            </a:r>
            <a:endParaRPr lang="en-US" sz="1350" dirty="0"/>
          </a:p>
        </p:txBody>
      </p:sp>
      <p:sp>
        <p:nvSpPr>
          <p:cNvPr id="15" name="Text 13"/>
          <p:cNvSpPr/>
          <p:nvPr/>
        </p:nvSpPr>
        <p:spPr>
          <a:xfrm>
            <a:off x="4507992" y="3657600"/>
            <a:ext cx="3081528" cy="640080"/>
          </a:xfrm>
          <a:prstGeom prst="rect">
            <a:avLst/>
          </a:prstGeom>
          <a:noFill/>
          <a:ln/>
        </p:spPr>
        <p:txBody>
          <a:bodyPr wrap="square" rtlCol="0" anchor="ctr"/>
          <a:lstStyle/>
          <a:p>
            <a:pPr marL="0" indent="0">
              <a:lnSpc>
                <a:spcPct val="120000"/>
              </a:lnSpc>
              <a:buNone/>
            </a:pPr>
            <a:r>
              <a:rPr lang="en-US" sz="1000" dirty="0">
                <a:solidFill>
                  <a:srgbClr val="C9D2D6"/>
                </a:solidFill>
                <a:latin typeface="Calibri" pitchFamily="34" charset="0"/>
                <a:ea typeface="Calibri" pitchFamily="34" charset="-122"/>
                <a:cs typeface="Calibri" pitchFamily="34" charset="-120"/>
              </a:rPr>
              <a:t>Validate the man-hour model with privacy, security and finance leads.</a:t>
            </a:r>
            <a:endParaRPr lang="en-US" sz="1000" dirty="0"/>
          </a:p>
        </p:txBody>
      </p:sp>
      <p:sp>
        <p:nvSpPr>
          <p:cNvPr id="16" name="Shape 14"/>
          <p:cNvSpPr/>
          <p:nvPr/>
        </p:nvSpPr>
        <p:spPr>
          <a:xfrm>
            <a:off x="8028432" y="2468880"/>
            <a:ext cx="3520440" cy="1920240"/>
          </a:xfrm>
          <a:prstGeom prst="roundRect">
            <a:avLst>
              <a:gd name="adj" fmla="val 4286"/>
            </a:avLst>
          </a:prstGeom>
          <a:solidFill>
            <a:srgbClr val="0B2C40"/>
          </a:solidFill>
          <a:ln w="12700">
            <a:solidFill>
              <a:srgbClr val="163A50"/>
            </a:solidFill>
            <a:prstDash val="solid"/>
          </a:ln>
        </p:spPr>
      </p:sp>
      <p:sp>
        <p:nvSpPr>
          <p:cNvPr id="17" name="Shape 15"/>
          <p:cNvSpPr/>
          <p:nvPr/>
        </p:nvSpPr>
        <p:spPr>
          <a:xfrm>
            <a:off x="8247888" y="2688336"/>
            <a:ext cx="420624" cy="420624"/>
          </a:xfrm>
          <a:prstGeom prst="ellipse">
            <a:avLst/>
          </a:prstGeom>
          <a:solidFill>
            <a:srgbClr val="F26722"/>
          </a:solidFill>
          <a:ln/>
        </p:spPr>
      </p:sp>
      <p:sp>
        <p:nvSpPr>
          <p:cNvPr id="18" name="Text 16"/>
          <p:cNvSpPr/>
          <p:nvPr/>
        </p:nvSpPr>
        <p:spPr>
          <a:xfrm>
            <a:off x="8247888" y="2688336"/>
            <a:ext cx="420624" cy="420624"/>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8247888" y="3246120"/>
            <a:ext cx="3081528" cy="411480"/>
          </a:xfrm>
          <a:prstGeom prst="rect">
            <a:avLst/>
          </a:prstGeom>
          <a:noFill/>
          <a:ln/>
        </p:spPr>
        <p:txBody>
          <a:bodyPr wrap="square" rtlCol="0" anchor="ctr"/>
          <a:lstStyle/>
          <a:p>
            <a:pPr marL="0" indent="0">
              <a:buNone/>
            </a:pPr>
            <a:r>
              <a:rPr lang="en-US" sz="1350" b="1" dirty="0">
                <a:solidFill>
                  <a:srgbClr val="F4EEDE"/>
                </a:solidFill>
                <a:latin typeface="Cambria" pitchFamily="34" charset="0"/>
                <a:ea typeface="Cambria" pitchFamily="34" charset="-122"/>
                <a:cs typeface="Cambria" pitchFamily="34" charset="-120"/>
              </a:rPr>
              <a:t>Pilot → Rollout</a:t>
            </a:r>
            <a:endParaRPr lang="en-US" sz="1350" dirty="0"/>
          </a:p>
        </p:txBody>
      </p:sp>
      <p:sp>
        <p:nvSpPr>
          <p:cNvPr id="20" name="Text 18"/>
          <p:cNvSpPr/>
          <p:nvPr/>
        </p:nvSpPr>
        <p:spPr>
          <a:xfrm>
            <a:off x="8247888" y="3657600"/>
            <a:ext cx="3081528" cy="640080"/>
          </a:xfrm>
          <a:prstGeom prst="rect">
            <a:avLst/>
          </a:prstGeom>
          <a:noFill/>
          <a:ln/>
        </p:spPr>
        <p:txBody>
          <a:bodyPr wrap="square" rtlCol="0" anchor="ctr"/>
          <a:lstStyle/>
          <a:p>
            <a:pPr marL="0" indent="0">
              <a:lnSpc>
                <a:spcPct val="120000"/>
              </a:lnSpc>
              <a:buNone/>
            </a:pPr>
            <a:r>
              <a:rPr lang="en-US" sz="1000" dirty="0">
                <a:solidFill>
                  <a:srgbClr val="C9D2D6"/>
                </a:solidFill>
                <a:latin typeface="Calibri" pitchFamily="34" charset="0"/>
                <a:ea typeface="Calibri" pitchFamily="34" charset="-122"/>
                <a:cs typeface="Calibri" pitchFamily="34" charset="-120"/>
              </a:rPr>
              <a:t>Run guided discovery + one assessment path, then expand estate coverage.</a:t>
            </a:r>
            <a:endParaRPr lang="en-US" sz="1000" dirty="0"/>
          </a:p>
        </p:txBody>
      </p:sp>
      <p:sp>
        <p:nvSpPr>
          <p:cNvPr id="21" name="Shape 19"/>
          <p:cNvSpPr/>
          <p:nvPr/>
        </p:nvSpPr>
        <p:spPr>
          <a:xfrm>
            <a:off x="548640" y="4800600"/>
            <a:ext cx="11091672" cy="1051560"/>
          </a:xfrm>
          <a:prstGeom prst="roundRect">
            <a:avLst>
              <a:gd name="adj" fmla="val 8696"/>
            </a:avLst>
          </a:prstGeom>
          <a:solidFill>
            <a:srgbClr val="F26722"/>
          </a:solidFill>
          <a:ln/>
        </p:spPr>
      </p:sp>
      <p:sp>
        <p:nvSpPr>
          <p:cNvPr id="22" name="Text 20"/>
          <p:cNvSpPr/>
          <p:nvPr/>
        </p:nvSpPr>
        <p:spPr>
          <a:xfrm>
            <a:off x="822960" y="4937760"/>
            <a:ext cx="3657600" cy="292608"/>
          </a:xfrm>
          <a:prstGeom prst="rect">
            <a:avLst/>
          </a:prstGeom>
          <a:noFill/>
          <a:ln/>
        </p:spPr>
        <p:txBody>
          <a:bodyPr wrap="square"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NEXT STEP</a:t>
            </a:r>
            <a:endParaRPr lang="en-US" sz="1050" dirty="0"/>
          </a:p>
        </p:txBody>
      </p:sp>
      <p:sp>
        <p:nvSpPr>
          <p:cNvPr id="23" name="Text 21"/>
          <p:cNvSpPr/>
          <p:nvPr/>
        </p:nvSpPr>
        <p:spPr>
          <a:xfrm>
            <a:off x="822960" y="5193792"/>
            <a:ext cx="7772400" cy="384048"/>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Request a demo and a tailored ROI worksheet.</a:t>
            </a:r>
            <a:endParaRPr lang="en-US" sz="1600" dirty="0"/>
          </a:p>
        </p:txBody>
      </p:sp>
      <p:sp>
        <p:nvSpPr>
          <p:cNvPr id="24" name="Text 22"/>
          <p:cNvSpPr/>
          <p:nvPr/>
        </p:nvSpPr>
        <p:spPr>
          <a:xfrm>
            <a:off x="822960" y="5559552"/>
            <a:ext cx="7772400" cy="274320"/>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sales@cgcein.com   •   www.coregenix.in</a:t>
            </a:r>
            <a:endParaRPr lang="en-US" sz="1050" dirty="0"/>
          </a:p>
        </p:txBody>
      </p:sp>
      <p:sp>
        <p:nvSpPr>
          <p:cNvPr id="25" name="Text 23"/>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C9D2D6"/>
                </a:solidFill>
                <a:latin typeface="Calibri" pitchFamily="34" charset="0"/>
                <a:ea typeface="Calibri" pitchFamily="34" charset="-122"/>
                <a:cs typeface="Calibri" pitchFamily="34" charset="-120"/>
              </a:rPr>
              <a:t>Comply360---CoreGenix</a:t>
            </a:r>
            <a:endParaRPr lang="en-US" sz="900" dirty="0"/>
          </a:p>
        </p:txBody>
      </p:sp>
      <p:sp>
        <p:nvSpPr>
          <p:cNvPr id="26" name="Text 2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C9D2D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21927"/>
        </a:solidFill>
        <a:effectLst/>
      </p:bgPr>
    </p:bg>
    <p:spTree>
      <p:nvGrpSpPr>
        <p:cNvPr id="1" name=""/>
        <p:cNvGrpSpPr/>
        <p:nvPr/>
      </p:nvGrpSpPr>
      <p:grpSpPr>
        <a:xfrm>
          <a:off x="0" y="0"/>
          <a:ext cx="0" cy="0"/>
          <a:chOff x="0" y="0"/>
          <a:chExt cx="0" cy="0"/>
        </a:xfrm>
      </p:grpSpPr>
      <p:sp>
        <p:nvSpPr>
          <p:cNvPr id="2" name="Shape 0"/>
          <p:cNvSpPr/>
          <p:nvPr/>
        </p:nvSpPr>
        <p:spPr>
          <a:xfrm>
            <a:off x="8344315" y="-983192"/>
            <a:ext cx="4754880" cy="4754880"/>
          </a:xfrm>
          <a:prstGeom prst="ellipse">
            <a:avLst/>
          </a:prstGeom>
          <a:solidFill>
            <a:srgbClr val="C6501A"/>
          </a:solidFill>
          <a:ln/>
        </p:spPr>
      </p:sp>
      <p:sp>
        <p:nvSpPr>
          <p:cNvPr id="3" name="Shape 1"/>
          <p:cNvSpPr/>
          <p:nvPr/>
        </p:nvSpPr>
        <p:spPr>
          <a:xfrm>
            <a:off x="9014570" y="-311108"/>
            <a:ext cx="3291840" cy="3291840"/>
          </a:xfrm>
          <a:prstGeom prst="ellipse">
            <a:avLst/>
          </a:prstGeom>
          <a:solidFill>
            <a:schemeClr val="accent2">
              <a:lumMod val="20000"/>
              <a:lumOff val="80000"/>
            </a:schemeClr>
          </a:solidFill>
          <a:ln/>
        </p:spPr>
      </p:sp>
      <p:sp>
        <p:nvSpPr>
          <p:cNvPr id="5" name="Text 2"/>
          <p:cNvSpPr/>
          <p:nvPr/>
        </p:nvSpPr>
        <p:spPr>
          <a:xfrm>
            <a:off x="548640" y="2834640"/>
            <a:ext cx="11064240" cy="822960"/>
          </a:xfrm>
          <a:prstGeom prst="rect">
            <a:avLst/>
          </a:prstGeom>
          <a:noFill/>
          <a:ln/>
        </p:spPr>
        <p:txBody>
          <a:bodyPr wrap="square" rtlCol="0" anchor="ctr"/>
          <a:lstStyle/>
          <a:p>
            <a:pPr marL="0" indent="0" algn="ctr">
              <a:buNone/>
            </a:pPr>
            <a:r>
              <a:rPr lang="en-US" sz="4200" b="1" dirty="0">
                <a:solidFill>
                  <a:srgbClr val="F4EEDE"/>
                </a:solidFill>
                <a:latin typeface="Cambria" pitchFamily="34" charset="0"/>
                <a:ea typeface="Cambria" pitchFamily="34" charset="-122"/>
                <a:cs typeface="Cambria" pitchFamily="34" charset="-120"/>
              </a:rPr>
              <a:t>THANK YOU</a:t>
            </a:r>
            <a:endParaRPr lang="en-US" sz="4200" dirty="0"/>
          </a:p>
        </p:txBody>
      </p:sp>
      <p:sp>
        <p:nvSpPr>
          <p:cNvPr id="6" name="Text 3"/>
          <p:cNvSpPr/>
          <p:nvPr/>
        </p:nvSpPr>
        <p:spPr>
          <a:xfrm>
            <a:off x="548640" y="3703320"/>
            <a:ext cx="11064240" cy="365760"/>
          </a:xfrm>
          <a:prstGeom prst="rect">
            <a:avLst/>
          </a:prstGeom>
          <a:noFill/>
          <a:ln/>
        </p:spPr>
        <p:txBody>
          <a:bodyPr wrap="square" rtlCol="0" anchor="ctr"/>
          <a:lstStyle/>
          <a:p>
            <a:pPr marL="0" indent="0" algn="ctr">
              <a:buNone/>
            </a:pPr>
            <a:r>
              <a:rPr lang="en-US" sz="1300" dirty="0">
                <a:solidFill>
                  <a:srgbClr val="F9A87B"/>
                </a:solidFill>
                <a:latin typeface="Calibri" pitchFamily="34" charset="0"/>
                <a:ea typeface="Calibri" pitchFamily="34" charset="-122"/>
                <a:cs typeface="Calibri" pitchFamily="34" charset="-120"/>
              </a:rPr>
              <a:t>Email — sales@cgcein.com</a:t>
            </a:r>
            <a:endParaRPr lang="en-US" sz="1300" dirty="0"/>
          </a:p>
        </p:txBody>
      </p:sp>
      <p:sp>
        <p:nvSpPr>
          <p:cNvPr id="7" name="Text 4"/>
          <p:cNvSpPr/>
          <p:nvPr/>
        </p:nvSpPr>
        <p:spPr>
          <a:xfrm>
            <a:off x="548640" y="4023360"/>
            <a:ext cx="11064240" cy="365760"/>
          </a:xfrm>
          <a:prstGeom prst="rect">
            <a:avLst/>
          </a:prstGeom>
          <a:noFill/>
          <a:ln/>
        </p:spPr>
        <p:txBody>
          <a:bodyPr wrap="square" rtlCol="0" anchor="ctr"/>
          <a:lstStyle/>
          <a:p>
            <a:pPr marL="0" indent="0" algn="ctr">
              <a:buNone/>
            </a:pPr>
            <a:r>
              <a:rPr lang="en-US" sz="1300" dirty="0">
                <a:solidFill>
                  <a:srgbClr val="F9A87B"/>
                </a:solidFill>
                <a:latin typeface="Calibri" pitchFamily="34" charset="0"/>
                <a:ea typeface="Calibri" pitchFamily="34" charset="-122"/>
                <a:cs typeface="Calibri" pitchFamily="34" charset="-120"/>
              </a:rPr>
              <a:t>Website — www.coregenix.in</a:t>
            </a:r>
            <a:endParaRPr lang="en-US" sz="1300" dirty="0"/>
          </a:p>
        </p:txBody>
      </p:sp>
      <p:sp>
        <p:nvSpPr>
          <p:cNvPr id="8" name="Text 5"/>
          <p:cNvSpPr/>
          <p:nvPr/>
        </p:nvSpPr>
        <p:spPr>
          <a:xfrm>
            <a:off x="548640" y="4663440"/>
            <a:ext cx="11064240" cy="320040"/>
          </a:xfrm>
          <a:prstGeom prst="rect">
            <a:avLst/>
          </a:prstGeom>
          <a:noFill/>
          <a:ln/>
        </p:spPr>
        <p:txBody>
          <a:bodyPr wrap="square" rtlCol="0" anchor="ctr"/>
          <a:lstStyle/>
          <a:p>
            <a:pPr marL="0" indent="0" algn="ctr">
              <a:buNone/>
            </a:pPr>
            <a:r>
              <a:rPr lang="en-US" sz="1100" i="1" dirty="0">
                <a:solidFill>
                  <a:srgbClr val="C9D2D6"/>
                </a:solidFill>
                <a:latin typeface="Calibri" pitchFamily="34" charset="0"/>
                <a:ea typeface="Calibri" pitchFamily="34" charset="-122"/>
                <a:cs typeface="Calibri" pitchFamily="34" charset="-120"/>
              </a:rPr>
              <a:t>CoreGenix- Comply360</a:t>
            </a:r>
            <a:endParaRPr lang="en-US" sz="1100" dirty="0"/>
          </a:p>
        </p:txBody>
      </p:sp>
      <p:sp>
        <p:nvSpPr>
          <p:cNvPr id="9" name="Text 6"/>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C9D2D6"/>
                </a:solidFill>
                <a:latin typeface="Calibri" pitchFamily="34" charset="0"/>
                <a:ea typeface="Calibri" pitchFamily="34" charset="-122"/>
                <a:cs typeface="Calibri" pitchFamily="34" charset="-120"/>
              </a:rPr>
              <a:t>Comply360---CoreGenix</a:t>
            </a:r>
            <a:endParaRPr lang="en-US" sz="900" dirty="0"/>
          </a:p>
        </p:txBody>
      </p:sp>
      <p:sp>
        <p:nvSpPr>
          <p:cNvPr id="10" name="Text 7"/>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C9D2D6"/>
                </a:solidFill>
                <a:latin typeface="Calibri" pitchFamily="34" charset="0"/>
                <a:ea typeface="Calibri" pitchFamily="34" charset="-122"/>
                <a:cs typeface="Calibri" pitchFamily="34" charset="-120"/>
              </a:rPr>
              <a:t>17</a:t>
            </a:r>
            <a:endParaRPr lang="en-US" sz="900" dirty="0"/>
          </a:p>
        </p:txBody>
      </p:sp>
      <p:pic>
        <p:nvPicPr>
          <p:cNvPr id="12" name="Picture 11" descr="Comply360.&#10;&#10;AI-generated content may be incorrect.">
            <a:extLst>
              <a:ext uri="{FF2B5EF4-FFF2-40B4-BE49-F238E27FC236}">
                <a16:creationId xmlns:a16="http://schemas.microsoft.com/office/drawing/2014/main" id="{11B24C98-4A71-C9B5-3650-43F9B1FD5DDD}"/>
              </a:ext>
            </a:extLst>
          </p:cNvPr>
          <p:cNvPicPr>
            <a:picLocks noChangeAspect="1"/>
          </p:cNvPicPr>
          <p:nvPr/>
        </p:nvPicPr>
        <p:blipFill>
          <a:blip r:embed="rId3"/>
          <a:stretch>
            <a:fillRect/>
          </a:stretch>
        </p:blipFill>
        <p:spPr>
          <a:xfrm>
            <a:off x="763109" y="3051189"/>
            <a:ext cx="3173798" cy="2380347"/>
          </a:xfrm>
          <a:prstGeom prst="rect">
            <a:avLst/>
          </a:prstGeom>
        </p:spPr>
      </p:pic>
      <p:pic>
        <p:nvPicPr>
          <p:cNvPr id="14" name="Picture 13" descr="Comply360.&#10;&#10;AI-generated content may be incorrect.">
            <a:extLst>
              <a:ext uri="{FF2B5EF4-FFF2-40B4-BE49-F238E27FC236}">
                <a16:creationId xmlns:a16="http://schemas.microsoft.com/office/drawing/2014/main" id="{9E421574-C979-532E-04F0-27629EFC908D}"/>
              </a:ext>
            </a:extLst>
          </p:cNvPr>
          <p:cNvPicPr>
            <a:picLocks noChangeAspect="1"/>
          </p:cNvPicPr>
          <p:nvPr/>
        </p:nvPicPr>
        <p:blipFill>
          <a:blip r:embed="rId3"/>
          <a:stretch>
            <a:fillRect/>
          </a:stretch>
        </p:blipFill>
        <p:spPr>
          <a:xfrm>
            <a:off x="9073591" y="361188"/>
            <a:ext cx="3173798" cy="23803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1852</Words>
  <Application>Microsoft Office PowerPoint</Application>
  <PresentationFormat>Widescreen</PresentationFormat>
  <Paragraphs>350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Monika Goyal</cp:lastModifiedBy>
  <cp:revision>3</cp:revision>
  <dcterms:created xsi:type="dcterms:W3CDTF">2026-08-03T07:40:48Z</dcterms:created>
  <dcterms:modified xsi:type="dcterms:W3CDTF">2026-09-21T05:16:24Z</dcterms:modified>
</cp:coreProperties>
</file>